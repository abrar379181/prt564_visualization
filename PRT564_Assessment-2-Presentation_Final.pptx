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1"/>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5" r:id="rId29"/>
    <p:sldId id="284" r:id="rId30"/>
  </p:sldIdLst>
  <p:sldSz cx="9144000" cy="6858000" type="screen4x3"/>
  <p:notesSz cx="6858000" cy="9144000"/>
  <p:embeddedFontLst>
    <p:embeddedFont>
      <p:font typeface="Play" panose="020B0604020202020204"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D2F71C-7846-4C3E-9502-F6074BB4B6FC}">
  <a:tblStyle styleId="{FAD2F71C-7846-4C3E-9502-F6074BB4B6FC}"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CFD7E7"/>
          </a:solidFill>
        </a:fill>
      </a:tcStyle>
    </a:wholeTbl>
    <a:band1H>
      <a:tcTxStyle/>
      <a:tcStyle>
        <a:tcBdr/>
      </a:tcStyle>
    </a:band1H>
    <a:band2H>
      <a:tcTxStyle b="off" i="off"/>
      <a:tcStyle>
        <a:tcBdr/>
        <a:fill>
          <a:solidFill>
            <a:srgbClr val="E8ECF4"/>
          </a:solidFill>
        </a:fill>
      </a:tcStyle>
    </a:band2H>
    <a:band1V>
      <a:tcTxStyle/>
      <a:tcStyle>
        <a:tcBdr/>
      </a:tcStyle>
    </a:band1V>
    <a:band2V>
      <a:tcTxStyle/>
      <a:tcStyle>
        <a:tcBdr/>
      </a:tcStyle>
    </a:band2V>
    <a:lastCol>
      <a:tcTxStyle/>
      <a:tcStyle>
        <a:tcBdr/>
      </a:tcStyle>
    </a:lastCol>
    <a:firstCol>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Col>
    <a:la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 name="Google Shape;6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87E185A-5AB0-69DA-697A-299035125228}"/>
            </a:ext>
          </a:extLst>
        </p:cNvPr>
        <p:cNvGrpSpPr/>
        <p:nvPr/>
      </p:nvGrpSpPr>
      <p:grpSpPr>
        <a:xfrm>
          <a:off x="0" y="0"/>
          <a:ext cx="0" cy="0"/>
          <a:chOff x="0" y="0"/>
          <a:chExt cx="0" cy="0"/>
        </a:xfrm>
      </p:grpSpPr>
      <p:sp>
        <p:nvSpPr>
          <p:cNvPr id="238" name="Google Shape;238;p28:notes">
            <a:extLst>
              <a:ext uri="{FF2B5EF4-FFF2-40B4-BE49-F238E27FC236}">
                <a16:creationId xmlns:a16="http://schemas.microsoft.com/office/drawing/2014/main" id="{3CE890BD-B738-E55C-F443-A2D3ABBE353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28:notes">
            <a:extLst>
              <a:ext uri="{FF2B5EF4-FFF2-40B4-BE49-F238E27FC236}">
                <a16:creationId xmlns:a16="http://schemas.microsoft.com/office/drawing/2014/main" id="{01764025-80C5-6568-823D-2E2748DD3E0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96053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tx">
  <p:cSld name="TITLE_AND_BODY">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2"/>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2" name="Google Shape;12;p2"/>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8" y="1601824"/>
            <a:ext cx="8520601" cy="20526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6800"/>
              <a:buFont typeface="Arial"/>
              <a:buNone/>
              <a:defRPr sz="6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5" name="Google Shape;15;p3"/>
          <p:cNvSpPr txBox="1">
            <a:spLocks noGrp="1"/>
          </p:cNvSpPr>
          <p:nvPr>
            <p:ph type="body" idx="1"/>
          </p:nvPr>
        </p:nvSpPr>
        <p:spPr>
          <a:xfrm>
            <a:off x="311699" y="3691375"/>
            <a:ext cx="8520602" cy="7926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95959"/>
              </a:buClr>
              <a:buSzPts val="3600"/>
              <a:buFont typeface="Arial"/>
              <a:buNone/>
              <a:defRPr sz="3600">
                <a:solidFill>
                  <a:srgbClr val="595959"/>
                </a:solidFill>
                <a:latin typeface="Arial"/>
                <a:ea typeface="Arial"/>
                <a:cs typeface="Arial"/>
                <a:sym typeface="Arial"/>
              </a:defRPr>
            </a:lvl1pPr>
            <a:lvl2pPr marL="914400" lvl="1" indent="-228600" algn="ctr">
              <a:lnSpc>
                <a:spcPct val="100000"/>
              </a:lnSpc>
              <a:spcBef>
                <a:spcPts val="0"/>
              </a:spcBef>
              <a:spcAft>
                <a:spcPts val="0"/>
              </a:spcAft>
              <a:buClr>
                <a:srgbClr val="595959"/>
              </a:buClr>
              <a:buSzPts val="3600"/>
              <a:buFont typeface="Arial"/>
              <a:buNone/>
              <a:defRPr sz="3600">
                <a:solidFill>
                  <a:srgbClr val="595959"/>
                </a:solidFill>
                <a:latin typeface="Arial"/>
                <a:ea typeface="Arial"/>
                <a:cs typeface="Arial"/>
                <a:sym typeface="Arial"/>
              </a:defRPr>
            </a:lvl2pPr>
            <a:lvl3pPr marL="1371600" lvl="2" indent="-228600" algn="ctr">
              <a:lnSpc>
                <a:spcPct val="100000"/>
              </a:lnSpc>
              <a:spcBef>
                <a:spcPts val="0"/>
              </a:spcBef>
              <a:spcAft>
                <a:spcPts val="0"/>
              </a:spcAft>
              <a:buClr>
                <a:srgbClr val="595959"/>
              </a:buClr>
              <a:buSzPts val="3600"/>
              <a:buFont typeface="Arial"/>
              <a:buNone/>
              <a:defRPr sz="3600">
                <a:solidFill>
                  <a:srgbClr val="595959"/>
                </a:solidFill>
                <a:latin typeface="Arial"/>
                <a:ea typeface="Arial"/>
                <a:cs typeface="Arial"/>
                <a:sym typeface="Arial"/>
              </a:defRPr>
            </a:lvl3pPr>
            <a:lvl4pPr marL="1828800" lvl="3" indent="-228600" algn="ctr">
              <a:lnSpc>
                <a:spcPct val="100000"/>
              </a:lnSpc>
              <a:spcBef>
                <a:spcPts val="0"/>
              </a:spcBef>
              <a:spcAft>
                <a:spcPts val="0"/>
              </a:spcAft>
              <a:buClr>
                <a:srgbClr val="595959"/>
              </a:buClr>
              <a:buSzPts val="3600"/>
              <a:buFont typeface="Arial"/>
              <a:buNone/>
              <a:defRPr sz="3600">
                <a:solidFill>
                  <a:srgbClr val="595959"/>
                </a:solidFill>
                <a:latin typeface="Arial"/>
                <a:ea typeface="Arial"/>
                <a:cs typeface="Arial"/>
                <a:sym typeface="Arial"/>
              </a:defRPr>
            </a:lvl4pPr>
            <a:lvl5pPr marL="2286000" lvl="4" indent="-228600" algn="ctr">
              <a:lnSpc>
                <a:spcPct val="100000"/>
              </a:lnSpc>
              <a:spcBef>
                <a:spcPts val="0"/>
              </a:spcBef>
              <a:spcAft>
                <a:spcPts val="0"/>
              </a:spcAft>
              <a:buClr>
                <a:srgbClr val="595959"/>
              </a:buClr>
              <a:buSzPts val="3600"/>
              <a:buFont typeface="Arial"/>
              <a:buNone/>
              <a:defRPr sz="3600">
                <a:solidFill>
                  <a:srgbClr val="595959"/>
                </a:solidFill>
                <a:latin typeface="Arial"/>
                <a:ea typeface="Arial"/>
                <a:cs typeface="Arial"/>
                <a:sym typeface="Aria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6" name="Google Shape;16;p3"/>
          <p:cNvSpPr txBox="1">
            <a:spLocks noGrp="1"/>
          </p:cNvSpPr>
          <p:nvPr>
            <p:ph type="sldNum" idx="12"/>
          </p:nvPr>
        </p:nvSpPr>
        <p:spPr>
          <a:xfrm>
            <a:off x="8656092" y="5539434"/>
            <a:ext cx="365066" cy="35566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_AND_BODY">
  <p:cSld name="TITLE_AND_BODY 2">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699" y="1302274"/>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3600"/>
              <a:buFont typeface="Arial"/>
              <a:buNone/>
              <a:defRPr sz="36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9" name="Google Shape;19;p4"/>
          <p:cNvSpPr txBox="1">
            <a:spLocks noGrp="1"/>
          </p:cNvSpPr>
          <p:nvPr>
            <p:ph type="body" idx="1"/>
          </p:nvPr>
        </p:nvSpPr>
        <p:spPr>
          <a:xfrm>
            <a:off x="311699" y="2009725"/>
            <a:ext cx="8520602" cy="3416400"/>
          </a:xfrm>
          <a:prstGeom prst="rect">
            <a:avLst/>
          </a:prstGeom>
          <a:noFill/>
          <a:ln>
            <a:noFill/>
          </a:ln>
        </p:spPr>
        <p:txBody>
          <a:bodyPr spcFirstLastPara="1" wrap="square" lIns="91400" tIns="91400" rIns="91400" bIns="91400" anchor="t" anchorCtr="0">
            <a:normAutofit/>
          </a:bodyPr>
          <a:lstStyle>
            <a:lvl1pPr marL="457200" lvl="0" indent="-381000" algn="l">
              <a:lnSpc>
                <a:spcPct val="115000"/>
              </a:lnSpc>
              <a:spcBef>
                <a:spcPts val="0"/>
              </a:spcBef>
              <a:spcAft>
                <a:spcPts val="0"/>
              </a:spcAft>
              <a:buClr>
                <a:srgbClr val="595959"/>
              </a:buClr>
              <a:buSzPts val="2400"/>
              <a:buChar char="●"/>
              <a:defRPr sz="2400">
                <a:solidFill>
                  <a:srgbClr val="595959"/>
                </a:solidFill>
                <a:latin typeface="Arial"/>
                <a:ea typeface="Arial"/>
                <a:cs typeface="Arial"/>
                <a:sym typeface="Arial"/>
              </a:defRPr>
            </a:lvl1pPr>
            <a:lvl2pPr marL="914400" lvl="1" indent="-381000" algn="l">
              <a:lnSpc>
                <a:spcPct val="115000"/>
              </a:lnSpc>
              <a:spcBef>
                <a:spcPts val="0"/>
              </a:spcBef>
              <a:spcAft>
                <a:spcPts val="0"/>
              </a:spcAft>
              <a:buClr>
                <a:srgbClr val="595959"/>
              </a:buClr>
              <a:buSzPts val="2400"/>
              <a:buChar char="○"/>
              <a:defRPr sz="2400">
                <a:solidFill>
                  <a:srgbClr val="595959"/>
                </a:solidFill>
                <a:latin typeface="Arial"/>
                <a:ea typeface="Arial"/>
                <a:cs typeface="Arial"/>
                <a:sym typeface="Arial"/>
              </a:defRPr>
            </a:lvl2pPr>
            <a:lvl3pPr marL="1371600" lvl="2" indent="-381000" algn="l">
              <a:lnSpc>
                <a:spcPct val="115000"/>
              </a:lnSpc>
              <a:spcBef>
                <a:spcPts val="0"/>
              </a:spcBef>
              <a:spcAft>
                <a:spcPts val="0"/>
              </a:spcAft>
              <a:buClr>
                <a:srgbClr val="595959"/>
              </a:buClr>
              <a:buSzPts val="2400"/>
              <a:buChar char="■"/>
              <a:defRPr sz="2400">
                <a:solidFill>
                  <a:srgbClr val="595959"/>
                </a:solidFill>
                <a:latin typeface="Arial"/>
                <a:ea typeface="Arial"/>
                <a:cs typeface="Arial"/>
                <a:sym typeface="Arial"/>
              </a:defRPr>
            </a:lvl3pPr>
            <a:lvl4pPr marL="1828800" lvl="3" indent="-381000" algn="l">
              <a:lnSpc>
                <a:spcPct val="115000"/>
              </a:lnSpc>
              <a:spcBef>
                <a:spcPts val="0"/>
              </a:spcBef>
              <a:spcAft>
                <a:spcPts val="0"/>
              </a:spcAft>
              <a:buClr>
                <a:srgbClr val="595959"/>
              </a:buClr>
              <a:buSzPts val="2400"/>
              <a:buChar char="●"/>
              <a:defRPr sz="2400">
                <a:solidFill>
                  <a:srgbClr val="595959"/>
                </a:solidFill>
                <a:latin typeface="Arial"/>
                <a:ea typeface="Arial"/>
                <a:cs typeface="Arial"/>
                <a:sym typeface="Arial"/>
              </a:defRPr>
            </a:lvl4pPr>
            <a:lvl5pPr marL="2286000" lvl="4" indent="-381000" algn="l">
              <a:lnSpc>
                <a:spcPct val="115000"/>
              </a:lnSpc>
              <a:spcBef>
                <a:spcPts val="0"/>
              </a:spcBef>
              <a:spcAft>
                <a:spcPts val="0"/>
              </a:spcAft>
              <a:buClr>
                <a:srgbClr val="595959"/>
              </a:buClr>
              <a:buSzPts val="2400"/>
              <a:buChar char="○"/>
              <a:defRPr sz="2400">
                <a:solidFill>
                  <a:srgbClr val="595959"/>
                </a:solidFill>
                <a:latin typeface="Arial"/>
                <a:ea typeface="Arial"/>
                <a:cs typeface="Arial"/>
                <a:sym typeface="Aria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0" name="Google Shape;20;p4"/>
          <p:cNvSpPr txBox="1">
            <a:spLocks noGrp="1"/>
          </p:cNvSpPr>
          <p:nvPr>
            <p:ph type="sldNum" idx="12"/>
          </p:nvPr>
        </p:nvSpPr>
        <p:spPr>
          <a:xfrm>
            <a:off x="8656092" y="5539434"/>
            <a:ext cx="365066" cy="35566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4400"/>
              <a:buFont typeface="Play"/>
              <a:buNone/>
              <a:defRPr>
                <a:latin typeface="Play"/>
                <a:ea typeface="Play"/>
                <a:cs typeface="Play"/>
                <a:sym typeface="Play"/>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3" name="Google Shape;23;p5"/>
          <p:cNvSpPr txBox="1">
            <a:spLocks noGrp="1"/>
          </p:cNvSpPr>
          <p:nvPr>
            <p:ph type="body" idx="1"/>
          </p:nvPr>
        </p:nvSpPr>
        <p:spPr>
          <a:xfrm>
            <a:off x="628650" y="2226468"/>
            <a:ext cx="7886700" cy="3263505"/>
          </a:xfrm>
          <a:prstGeom prst="rect">
            <a:avLst/>
          </a:prstGeom>
          <a:noFill/>
          <a:ln>
            <a:noFill/>
          </a:ln>
        </p:spPr>
        <p:txBody>
          <a:bodyPr spcFirstLastPara="1" wrap="square" lIns="34275" tIns="34275" rIns="34275" bIns="34275" anchor="t" anchorCtr="0">
            <a:normAutofit/>
          </a:bodyPr>
          <a:lstStyle>
            <a:lvl1pPr marL="457200" lvl="0" indent="-406400" algn="l">
              <a:lnSpc>
                <a:spcPct val="90000"/>
              </a:lnSpc>
              <a:spcBef>
                <a:spcPts val="1000"/>
              </a:spcBef>
              <a:spcAft>
                <a:spcPts val="0"/>
              </a:spcAft>
              <a:buClr>
                <a:srgbClr val="000000"/>
              </a:buClr>
              <a:buSzPts val="2800"/>
              <a:buChar char="•"/>
              <a:defRPr sz="2800">
                <a:latin typeface="Arial"/>
                <a:ea typeface="Arial"/>
                <a:cs typeface="Arial"/>
                <a:sym typeface="Arial"/>
              </a:defRPr>
            </a:lvl1pPr>
            <a:lvl2pPr marL="914400" lvl="1" indent="-406400" algn="l">
              <a:lnSpc>
                <a:spcPct val="90000"/>
              </a:lnSpc>
              <a:spcBef>
                <a:spcPts val="1000"/>
              </a:spcBef>
              <a:spcAft>
                <a:spcPts val="0"/>
              </a:spcAft>
              <a:buClr>
                <a:srgbClr val="000000"/>
              </a:buClr>
              <a:buSzPts val="2800"/>
              <a:buChar char="•"/>
              <a:defRPr sz="2800">
                <a:latin typeface="Arial"/>
                <a:ea typeface="Arial"/>
                <a:cs typeface="Arial"/>
                <a:sym typeface="Arial"/>
              </a:defRPr>
            </a:lvl2pPr>
            <a:lvl3pPr marL="1371600" lvl="2" indent="-406400" algn="l">
              <a:lnSpc>
                <a:spcPct val="90000"/>
              </a:lnSpc>
              <a:spcBef>
                <a:spcPts val="1000"/>
              </a:spcBef>
              <a:spcAft>
                <a:spcPts val="0"/>
              </a:spcAft>
              <a:buClr>
                <a:srgbClr val="000000"/>
              </a:buClr>
              <a:buSzPts val="2800"/>
              <a:buChar char="•"/>
              <a:defRPr sz="2800">
                <a:latin typeface="Arial"/>
                <a:ea typeface="Arial"/>
                <a:cs typeface="Arial"/>
                <a:sym typeface="Arial"/>
              </a:defRPr>
            </a:lvl3pPr>
            <a:lvl4pPr marL="1828800" lvl="3" indent="-406400" algn="l">
              <a:lnSpc>
                <a:spcPct val="90000"/>
              </a:lnSpc>
              <a:spcBef>
                <a:spcPts val="1000"/>
              </a:spcBef>
              <a:spcAft>
                <a:spcPts val="0"/>
              </a:spcAft>
              <a:buClr>
                <a:srgbClr val="000000"/>
              </a:buClr>
              <a:buSzPts val="2800"/>
              <a:buChar char="•"/>
              <a:defRPr sz="2800">
                <a:latin typeface="Arial"/>
                <a:ea typeface="Arial"/>
                <a:cs typeface="Arial"/>
                <a:sym typeface="Arial"/>
              </a:defRPr>
            </a:lvl4pPr>
            <a:lvl5pPr marL="2286000" lvl="4" indent="-406400" algn="l">
              <a:lnSpc>
                <a:spcPct val="90000"/>
              </a:lnSpc>
              <a:spcBef>
                <a:spcPts val="1000"/>
              </a:spcBef>
              <a:spcAft>
                <a:spcPts val="0"/>
              </a:spcAft>
              <a:buClr>
                <a:srgbClr val="000000"/>
              </a:buClr>
              <a:buSzPts val="2800"/>
              <a:buChar char="•"/>
              <a:defRPr sz="2800">
                <a:latin typeface="Arial"/>
                <a:ea typeface="Arial"/>
                <a:cs typeface="Arial"/>
                <a:sym typeface="Aria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4" name="Google Shape;24;p5"/>
          <p:cNvSpPr txBox="1">
            <a:spLocks noGrp="1"/>
          </p:cNvSpPr>
          <p:nvPr>
            <p:ph type="sldNum" idx="12"/>
          </p:nvPr>
        </p:nvSpPr>
        <p:spPr>
          <a:xfrm>
            <a:off x="8264554" y="5638244"/>
            <a:ext cx="250796" cy="24638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685800" y="2130425"/>
            <a:ext cx="7772400" cy="1470025"/>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7" name="Google Shape;27;p6"/>
          <p:cNvSpPr txBox="1">
            <a:spLocks noGrp="1"/>
          </p:cNvSpPr>
          <p:nvPr>
            <p:ph type="body" idx="1"/>
          </p:nvPr>
        </p:nvSpPr>
        <p:spPr>
          <a:xfrm>
            <a:off x="1371600" y="3886200"/>
            <a:ext cx="6400800" cy="175260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700"/>
              </a:spcBef>
              <a:spcAft>
                <a:spcPts val="0"/>
              </a:spcAft>
              <a:buClr>
                <a:srgbClr val="888888"/>
              </a:buClr>
              <a:buSzPts val="3200"/>
              <a:buFont typeface="Calibri"/>
              <a:buNone/>
              <a:defRPr>
                <a:solidFill>
                  <a:srgbClr val="888888"/>
                </a:solidFill>
              </a:defRPr>
            </a:lvl1pPr>
            <a:lvl2pPr marL="914400" lvl="1" indent="-228600" algn="ctr">
              <a:lnSpc>
                <a:spcPct val="100000"/>
              </a:lnSpc>
              <a:spcBef>
                <a:spcPts val="700"/>
              </a:spcBef>
              <a:spcAft>
                <a:spcPts val="0"/>
              </a:spcAft>
              <a:buClr>
                <a:srgbClr val="888888"/>
              </a:buClr>
              <a:buSzPts val="3200"/>
              <a:buFont typeface="Calibri"/>
              <a:buNone/>
              <a:defRPr>
                <a:solidFill>
                  <a:srgbClr val="888888"/>
                </a:solidFill>
              </a:defRPr>
            </a:lvl2pPr>
            <a:lvl3pPr marL="1371600" lvl="2" indent="-228600" algn="ctr">
              <a:lnSpc>
                <a:spcPct val="100000"/>
              </a:lnSpc>
              <a:spcBef>
                <a:spcPts val="700"/>
              </a:spcBef>
              <a:spcAft>
                <a:spcPts val="0"/>
              </a:spcAft>
              <a:buClr>
                <a:srgbClr val="888888"/>
              </a:buClr>
              <a:buSzPts val="3200"/>
              <a:buFont typeface="Calibri"/>
              <a:buNone/>
              <a:defRPr>
                <a:solidFill>
                  <a:srgbClr val="888888"/>
                </a:solidFill>
              </a:defRPr>
            </a:lvl3pPr>
            <a:lvl4pPr marL="1828800" lvl="3" indent="-228600" algn="ctr">
              <a:lnSpc>
                <a:spcPct val="100000"/>
              </a:lnSpc>
              <a:spcBef>
                <a:spcPts val="700"/>
              </a:spcBef>
              <a:spcAft>
                <a:spcPts val="0"/>
              </a:spcAft>
              <a:buClr>
                <a:srgbClr val="888888"/>
              </a:buClr>
              <a:buSzPts val="3200"/>
              <a:buFont typeface="Calibri"/>
              <a:buNone/>
              <a:defRPr>
                <a:solidFill>
                  <a:srgbClr val="888888"/>
                </a:solidFill>
              </a:defRPr>
            </a:lvl4pPr>
            <a:lvl5pPr marL="2286000" lvl="4" indent="-228600" algn="ctr">
              <a:lnSpc>
                <a:spcPct val="100000"/>
              </a:lnSpc>
              <a:spcBef>
                <a:spcPts val="700"/>
              </a:spcBef>
              <a:spcAft>
                <a:spcPts val="0"/>
              </a:spcAft>
              <a:buClr>
                <a:srgbClr val="888888"/>
              </a:buClr>
              <a:buSzPts val="3200"/>
              <a:buFont typeface="Calibri"/>
              <a:buNone/>
              <a:defRPr>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8" name="Google Shape;28;p6"/>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722312" y="4406900"/>
            <a:ext cx="7772401" cy="1362075"/>
          </a:xfrm>
          <a:prstGeom prst="rect">
            <a:avLst/>
          </a:prstGeom>
          <a:noFill/>
          <a:ln>
            <a:noFill/>
          </a:ln>
        </p:spPr>
        <p:txBody>
          <a:bodyPr spcFirstLastPara="1" wrap="square" lIns="45700" tIns="45700" rIns="45700" bIns="45700" anchor="t" anchorCtr="0">
            <a:normAutofit/>
          </a:bodyPr>
          <a:lstStyle>
            <a:lvl1pPr lvl="0" algn="l">
              <a:lnSpc>
                <a:spcPct val="100000"/>
              </a:lnSpc>
              <a:spcBef>
                <a:spcPts val="0"/>
              </a:spcBef>
              <a:spcAft>
                <a:spcPts val="0"/>
              </a:spcAft>
              <a:buClr>
                <a:srgbClr val="000000"/>
              </a:buClr>
              <a:buSzPts val="4000"/>
              <a:buFont typeface="Calibri"/>
              <a:buNone/>
              <a:defRPr sz="4000" b="1" cap="none"/>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1" name="Google Shape;31;p7"/>
          <p:cNvSpPr txBox="1">
            <a:spLocks noGrp="1"/>
          </p:cNvSpPr>
          <p:nvPr>
            <p:ph type="body" idx="1"/>
          </p:nvPr>
        </p:nvSpPr>
        <p:spPr>
          <a:xfrm>
            <a:off x="722312" y="2906713"/>
            <a:ext cx="7772401" cy="1500188"/>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400"/>
              </a:spcBef>
              <a:spcAft>
                <a:spcPts val="0"/>
              </a:spcAft>
              <a:buClr>
                <a:srgbClr val="888888"/>
              </a:buClr>
              <a:buSzPts val="2000"/>
              <a:buFont typeface="Calibri"/>
              <a:buNone/>
              <a:defRPr sz="2000">
                <a:solidFill>
                  <a:srgbClr val="888888"/>
                </a:solidFill>
              </a:defRPr>
            </a:lvl1pPr>
            <a:lvl2pPr marL="914400" lvl="1" indent="-228600" algn="l">
              <a:lnSpc>
                <a:spcPct val="100000"/>
              </a:lnSpc>
              <a:spcBef>
                <a:spcPts val="400"/>
              </a:spcBef>
              <a:spcAft>
                <a:spcPts val="0"/>
              </a:spcAft>
              <a:buClr>
                <a:srgbClr val="888888"/>
              </a:buClr>
              <a:buSzPts val="2000"/>
              <a:buFont typeface="Calibri"/>
              <a:buNone/>
              <a:defRPr sz="2000">
                <a:solidFill>
                  <a:srgbClr val="888888"/>
                </a:solidFill>
              </a:defRPr>
            </a:lvl2pPr>
            <a:lvl3pPr marL="1371600" lvl="2" indent="-228600" algn="l">
              <a:lnSpc>
                <a:spcPct val="100000"/>
              </a:lnSpc>
              <a:spcBef>
                <a:spcPts val="400"/>
              </a:spcBef>
              <a:spcAft>
                <a:spcPts val="0"/>
              </a:spcAft>
              <a:buClr>
                <a:srgbClr val="888888"/>
              </a:buClr>
              <a:buSzPts val="2000"/>
              <a:buFont typeface="Calibri"/>
              <a:buNone/>
              <a:defRPr sz="2000">
                <a:solidFill>
                  <a:srgbClr val="888888"/>
                </a:solidFill>
              </a:defRPr>
            </a:lvl3pPr>
            <a:lvl4pPr marL="1828800" lvl="3" indent="-228600" algn="l">
              <a:lnSpc>
                <a:spcPct val="100000"/>
              </a:lnSpc>
              <a:spcBef>
                <a:spcPts val="400"/>
              </a:spcBef>
              <a:spcAft>
                <a:spcPts val="0"/>
              </a:spcAft>
              <a:buClr>
                <a:srgbClr val="888888"/>
              </a:buClr>
              <a:buSzPts val="2000"/>
              <a:buFont typeface="Calibri"/>
              <a:buNone/>
              <a:defRPr sz="2000">
                <a:solidFill>
                  <a:srgbClr val="888888"/>
                </a:solidFill>
              </a:defRPr>
            </a:lvl4pPr>
            <a:lvl5pPr marL="2286000" lvl="4" indent="-228600" algn="l">
              <a:lnSpc>
                <a:spcPct val="100000"/>
              </a:lnSpc>
              <a:spcBef>
                <a:spcPts val="400"/>
              </a:spcBef>
              <a:spcAft>
                <a:spcPts val="0"/>
              </a:spcAft>
              <a:buClr>
                <a:srgbClr val="888888"/>
              </a:buClr>
              <a:buSzPts val="2000"/>
              <a:buFont typeface="Calibri"/>
              <a:buNone/>
              <a:defRPr sz="2000">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2" name="Google Shape;32;p7"/>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5" name="Google Shape;35;p8"/>
          <p:cNvSpPr txBox="1">
            <a:spLocks noGrp="1"/>
          </p:cNvSpPr>
          <p:nvPr>
            <p:ph type="body" idx="1"/>
          </p:nvPr>
        </p:nvSpPr>
        <p:spPr>
          <a:xfrm>
            <a:off x="457200" y="1600200"/>
            <a:ext cx="4038600" cy="4525963"/>
          </a:xfrm>
          <a:prstGeom prst="rect">
            <a:avLst/>
          </a:prstGeom>
          <a:noFill/>
          <a:ln>
            <a:noFill/>
          </a:ln>
        </p:spPr>
        <p:txBody>
          <a:bodyPr spcFirstLastPara="1" wrap="square" lIns="45700" tIns="45700" rIns="45700" bIns="45700" anchor="t" anchorCtr="0">
            <a:normAutofit/>
          </a:bodyPr>
          <a:lstStyle>
            <a:lvl1pPr marL="457200" lvl="0" indent="-406400" algn="l">
              <a:lnSpc>
                <a:spcPct val="100000"/>
              </a:lnSpc>
              <a:spcBef>
                <a:spcPts val="600"/>
              </a:spcBef>
              <a:spcAft>
                <a:spcPts val="0"/>
              </a:spcAft>
              <a:buClr>
                <a:srgbClr val="000000"/>
              </a:buClr>
              <a:buSzPts val="2800"/>
              <a:buChar char="•"/>
              <a:defRPr sz="2800"/>
            </a:lvl1pPr>
            <a:lvl2pPr marL="914400" lvl="1" indent="-406400" algn="l">
              <a:lnSpc>
                <a:spcPct val="100000"/>
              </a:lnSpc>
              <a:spcBef>
                <a:spcPts val="600"/>
              </a:spcBef>
              <a:spcAft>
                <a:spcPts val="0"/>
              </a:spcAft>
              <a:buClr>
                <a:srgbClr val="000000"/>
              </a:buClr>
              <a:buSzPts val="2800"/>
              <a:buChar char="–"/>
              <a:defRPr sz="2800"/>
            </a:lvl2pPr>
            <a:lvl3pPr marL="1371600" lvl="2" indent="-406400" algn="l">
              <a:lnSpc>
                <a:spcPct val="100000"/>
              </a:lnSpc>
              <a:spcBef>
                <a:spcPts val="600"/>
              </a:spcBef>
              <a:spcAft>
                <a:spcPts val="0"/>
              </a:spcAft>
              <a:buClr>
                <a:srgbClr val="000000"/>
              </a:buClr>
              <a:buSzPts val="2800"/>
              <a:buChar char="•"/>
              <a:defRPr sz="2800"/>
            </a:lvl3pPr>
            <a:lvl4pPr marL="1828800" lvl="3" indent="-406400" algn="l">
              <a:lnSpc>
                <a:spcPct val="100000"/>
              </a:lnSpc>
              <a:spcBef>
                <a:spcPts val="600"/>
              </a:spcBef>
              <a:spcAft>
                <a:spcPts val="0"/>
              </a:spcAft>
              <a:buClr>
                <a:srgbClr val="000000"/>
              </a:buClr>
              <a:buSzPts val="2800"/>
              <a:buChar char="–"/>
              <a:defRPr sz="2800"/>
            </a:lvl4pPr>
            <a:lvl5pPr marL="2286000" lvl="4" indent="-406400" algn="l">
              <a:lnSpc>
                <a:spcPct val="100000"/>
              </a:lnSpc>
              <a:spcBef>
                <a:spcPts val="600"/>
              </a:spcBef>
              <a:spcAft>
                <a:spcPts val="0"/>
              </a:spcAft>
              <a:buClr>
                <a:srgbClr val="000000"/>
              </a:buClr>
              <a:buSzPts val="2800"/>
              <a:buChar char="»"/>
              <a:defRPr sz="28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6" name="Google Shape;36;p8"/>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9" name="Google Shape;39;p9"/>
          <p:cNvSpPr txBox="1">
            <a:spLocks noGrp="1"/>
          </p:cNvSpPr>
          <p:nvPr>
            <p:ph type="body" idx="1"/>
          </p:nvPr>
        </p:nvSpPr>
        <p:spPr>
          <a:xfrm>
            <a:off x="457200" y="1535112"/>
            <a:ext cx="4040188" cy="639763"/>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500"/>
              </a:spcBef>
              <a:spcAft>
                <a:spcPts val="0"/>
              </a:spcAft>
              <a:buClr>
                <a:srgbClr val="000000"/>
              </a:buClr>
              <a:buSzPts val="2400"/>
              <a:buFont typeface="Calibri"/>
              <a:buNone/>
              <a:defRPr sz="2400" b="1"/>
            </a:lvl1pPr>
            <a:lvl2pPr marL="914400" lvl="1" indent="-228600" algn="l">
              <a:lnSpc>
                <a:spcPct val="100000"/>
              </a:lnSpc>
              <a:spcBef>
                <a:spcPts val="500"/>
              </a:spcBef>
              <a:spcAft>
                <a:spcPts val="0"/>
              </a:spcAft>
              <a:buClr>
                <a:srgbClr val="000000"/>
              </a:buClr>
              <a:buSzPts val="2400"/>
              <a:buFont typeface="Calibri"/>
              <a:buNone/>
              <a:defRPr sz="2400" b="1"/>
            </a:lvl2pPr>
            <a:lvl3pPr marL="1371600" lvl="2" indent="-228600" algn="l">
              <a:lnSpc>
                <a:spcPct val="100000"/>
              </a:lnSpc>
              <a:spcBef>
                <a:spcPts val="500"/>
              </a:spcBef>
              <a:spcAft>
                <a:spcPts val="0"/>
              </a:spcAft>
              <a:buClr>
                <a:srgbClr val="000000"/>
              </a:buClr>
              <a:buSzPts val="2400"/>
              <a:buFont typeface="Calibri"/>
              <a:buNone/>
              <a:defRPr sz="2400" b="1"/>
            </a:lvl3pPr>
            <a:lvl4pPr marL="1828800" lvl="3" indent="-228600" algn="l">
              <a:lnSpc>
                <a:spcPct val="100000"/>
              </a:lnSpc>
              <a:spcBef>
                <a:spcPts val="500"/>
              </a:spcBef>
              <a:spcAft>
                <a:spcPts val="0"/>
              </a:spcAft>
              <a:buClr>
                <a:srgbClr val="000000"/>
              </a:buClr>
              <a:buSzPts val="2400"/>
              <a:buFont typeface="Calibri"/>
              <a:buNone/>
              <a:defRPr sz="2400" b="1"/>
            </a:lvl4pPr>
            <a:lvl5pPr marL="2286000" lvl="4" indent="-228600" algn="l">
              <a:lnSpc>
                <a:spcPct val="100000"/>
              </a:lnSpc>
              <a:spcBef>
                <a:spcPts val="500"/>
              </a:spcBef>
              <a:spcAft>
                <a:spcPts val="0"/>
              </a:spcAft>
              <a:buClr>
                <a:srgbClr val="000000"/>
              </a:buClr>
              <a:buSzPts val="2400"/>
              <a:buFont typeface="Calibri"/>
              <a:buNone/>
              <a:defRPr sz="24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40" name="Google Shape;40;p9"/>
          <p:cNvSpPr txBox="1">
            <a:spLocks noGrp="1"/>
          </p:cNvSpPr>
          <p:nvPr>
            <p:ph type="body" idx="2"/>
          </p:nvPr>
        </p:nvSpPr>
        <p:spPr>
          <a:xfrm>
            <a:off x="4645025" y="1535112"/>
            <a:ext cx="4041775" cy="639763"/>
          </a:xfrm>
          <a:prstGeom prst="rect">
            <a:avLst/>
          </a:prstGeom>
          <a:noFill/>
          <a:ln>
            <a:noFill/>
          </a:ln>
        </p:spPr>
        <p:txBody>
          <a:bodyPr spcFirstLastPara="1" wrap="square" lIns="45700" tIns="45700" rIns="45700" bIns="45700" anchor="b"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41" name="Google Shape;41;p9"/>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2"/>
        <p:cNvGrpSpPr/>
        <p:nvPr/>
      </p:nvGrpSpPr>
      <p:grpSpPr>
        <a:xfrm>
          <a:off x="0" y="0"/>
          <a:ext cx="0" cy="0"/>
          <a:chOff x="0" y="0"/>
          <a:chExt cx="0" cy="0"/>
        </a:xfrm>
      </p:grpSpPr>
      <p:sp>
        <p:nvSpPr>
          <p:cNvPr id="43" name="Google Shape;43;p10"/>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44" name="Google Shape;44;p10"/>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5"/>
        <p:cNvGrpSpPr/>
        <p:nvPr/>
      </p:nvGrpSpPr>
      <p:grpSpPr>
        <a:xfrm>
          <a:off x="0" y="0"/>
          <a:ext cx="0" cy="0"/>
          <a:chOff x="0" y="0"/>
          <a:chExt cx="0" cy="0"/>
        </a:xfrm>
      </p:grpSpPr>
      <p:sp>
        <p:nvSpPr>
          <p:cNvPr id="46" name="Google Shape;46;p11"/>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457200" y="273050"/>
            <a:ext cx="3008314" cy="1162050"/>
          </a:xfrm>
          <a:prstGeom prst="rect">
            <a:avLst/>
          </a:prstGeom>
          <a:noFill/>
          <a:ln>
            <a:noFill/>
          </a:ln>
        </p:spPr>
        <p:txBody>
          <a:bodyPr spcFirstLastPara="1" wrap="square" lIns="45700" tIns="45700" rIns="45700" bIns="45700" anchor="b" anchorCtr="0">
            <a:normAutofit/>
          </a:bodyPr>
          <a:lstStyle>
            <a:lvl1pPr lvl="0" algn="l">
              <a:lnSpc>
                <a:spcPct val="100000"/>
              </a:lnSpc>
              <a:spcBef>
                <a:spcPts val="0"/>
              </a:spcBef>
              <a:spcAft>
                <a:spcPts val="0"/>
              </a:spcAft>
              <a:buClr>
                <a:srgbClr val="000000"/>
              </a:buClr>
              <a:buSzPts val="2000"/>
              <a:buFont typeface="Calibri"/>
              <a:buNone/>
              <a:defRPr sz="2000" b="1"/>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49" name="Google Shape;49;p12"/>
          <p:cNvSpPr txBox="1">
            <a:spLocks noGrp="1"/>
          </p:cNvSpPr>
          <p:nvPr>
            <p:ph type="body" idx="1"/>
          </p:nvPr>
        </p:nvSpPr>
        <p:spPr>
          <a:xfrm>
            <a:off x="3575050" y="273050"/>
            <a:ext cx="5111750" cy="585311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50" name="Google Shape;50;p12"/>
          <p:cNvSpPr txBox="1">
            <a:spLocks noGrp="1"/>
          </p:cNvSpPr>
          <p:nvPr>
            <p:ph type="body" idx="2"/>
          </p:nvPr>
        </p:nvSpPr>
        <p:spPr>
          <a:xfrm>
            <a:off x="457199" y="1435100"/>
            <a:ext cx="3008315" cy="46910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51" name="Google Shape;51;p12"/>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52"/>
        <p:cNvGrpSpPr/>
        <p:nvPr/>
      </p:nvGrpSpPr>
      <p:grpSpPr>
        <a:xfrm>
          <a:off x="0" y="0"/>
          <a:ext cx="0" cy="0"/>
          <a:chOff x="0" y="0"/>
          <a:chExt cx="0" cy="0"/>
        </a:xfrm>
      </p:grpSpPr>
      <p:sp>
        <p:nvSpPr>
          <p:cNvPr id="53" name="Google Shape;53;p13"/>
          <p:cNvSpPr txBox="1">
            <a:spLocks noGrp="1"/>
          </p:cNvSpPr>
          <p:nvPr>
            <p:ph type="title"/>
          </p:nvPr>
        </p:nvSpPr>
        <p:spPr>
          <a:xfrm>
            <a:off x="1792288" y="4800600"/>
            <a:ext cx="5486401" cy="566738"/>
          </a:xfrm>
          <a:prstGeom prst="rect">
            <a:avLst/>
          </a:prstGeom>
          <a:noFill/>
          <a:ln>
            <a:noFill/>
          </a:ln>
        </p:spPr>
        <p:txBody>
          <a:bodyPr spcFirstLastPara="1" wrap="square" lIns="45700" tIns="45700" rIns="45700" bIns="45700" anchor="b" anchorCtr="0">
            <a:normAutofit/>
          </a:bodyPr>
          <a:lstStyle>
            <a:lvl1pPr lvl="0" algn="l">
              <a:lnSpc>
                <a:spcPct val="100000"/>
              </a:lnSpc>
              <a:spcBef>
                <a:spcPts val="0"/>
              </a:spcBef>
              <a:spcAft>
                <a:spcPts val="0"/>
              </a:spcAft>
              <a:buClr>
                <a:srgbClr val="000000"/>
              </a:buClr>
              <a:buSzPts val="2000"/>
              <a:buFont typeface="Calibri"/>
              <a:buNone/>
              <a:defRPr sz="2000" b="1"/>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54" name="Google Shape;54;p13"/>
          <p:cNvSpPr>
            <a:spLocks noGrp="1"/>
          </p:cNvSpPr>
          <p:nvPr>
            <p:ph type="pic" idx="2"/>
          </p:nvPr>
        </p:nvSpPr>
        <p:spPr>
          <a:xfrm>
            <a:off x="1792288" y="612775"/>
            <a:ext cx="5486401" cy="4114800"/>
          </a:xfrm>
          <a:prstGeom prst="rect">
            <a:avLst/>
          </a:prstGeom>
          <a:noFill/>
          <a:ln>
            <a:noFill/>
          </a:ln>
        </p:spPr>
      </p:sp>
      <p:sp>
        <p:nvSpPr>
          <p:cNvPr id="55" name="Google Shape;55;p13"/>
          <p:cNvSpPr txBox="1">
            <a:spLocks noGrp="1"/>
          </p:cNvSpPr>
          <p:nvPr>
            <p:ph type="body" idx="1"/>
          </p:nvPr>
        </p:nvSpPr>
        <p:spPr>
          <a:xfrm>
            <a:off x="1792288" y="5367337"/>
            <a:ext cx="5486401" cy="804863"/>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300"/>
              </a:spcBef>
              <a:spcAft>
                <a:spcPts val="0"/>
              </a:spcAft>
              <a:buClr>
                <a:srgbClr val="000000"/>
              </a:buClr>
              <a:buSzPts val="1400"/>
              <a:buFont typeface="Calibri"/>
              <a:buNone/>
              <a:defRPr sz="1400"/>
            </a:lvl1pPr>
            <a:lvl2pPr marL="914400" lvl="1" indent="-228600" algn="l">
              <a:lnSpc>
                <a:spcPct val="100000"/>
              </a:lnSpc>
              <a:spcBef>
                <a:spcPts val="300"/>
              </a:spcBef>
              <a:spcAft>
                <a:spcPts val="0"/>
              </a:spcAft>
              <a:buClr>
                <a:srgbClr val="000000"/>
              </a:buClr>
              <a:buSzPts val="1400"/>
              <a:buFont typeface="Calibri"/>
              <a:buNone/>
              <a:defRPr sz="1400"/>
            </a:lvl2pPr>
            <a:lvl3pPr marL="1371600" lvl="2" indent="-228600" algn="l">
              <a:lnSpc>
                <a:spcPct val="100000"/>
              </a:lnSpc>
              <a:spcBef>
                <a:spcPts val="300"/>
              </a:spcBef>
              <a:spcAft>
                <a:spcPts val="0"/>
              </a:spcAft>
              <a:buClr>
                <a:srgbClr val="000000"/>
              </a:buClr>
              <a:buSzPts val="1400"/>
              <a:buFont typeface="Calibri"/>
              <a:buNone/>
              <a:defRPr sz="1400"/>
            </a:lvl3pPr>
            <a:lvl4pPr marL="1828800" lvl="3" indent="-228600" algn="l">
              <a:lnSpc>
                <a:spcPct val="100000"/>
              </a:lnSpc>
              <a:spcBef>
                <a:spcPts val="300"/>
              </a:spcBef>
              <a:spcAft>
                <a:spcPts val="0"/>
              </a:spcAft>
              <a:buClr>
                <a:srgbClr val="000000"/>
              </a:buClr>
              <a:buSzPts val="1400"/>
              <a:buFont typeface="Calibri"/>
              <a:buNone/>
              <a:defRPr sz="1400"/>
            </a:lvl4pPr>
            <a:lvl5pPr marL="2286000" lvl="4" indent="-228600" algn="l">
              <a:lnSpc>
                <a:spcPct val="100000"/>
              </a:lnSpc>
              <a:spcBef>
                <a:spcPts val="300"/>
              </a:spcBef>
              <a:spcAft>
                <a:spcPts val="0"/>
              </a:spcAft>
              <a:buClr>
                <a:srgbClr val="000000"/>
              </a:buClr>
              <a:buSzPts val="1400"/>
              <a:buFont typeface="Calibri"/>
              <a:buNone/>
              <a:defRPr sz="14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56" name="Google Shape;56;p13"/>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marR="0" lvl="0"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rmAutofit/>
          </a:bodyPr>
          <a:lstStyle>
            <a:lvl1pPr marL="457200" marR="0" lvl="0"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1pPr>
            <a:lvl2pPr marL="914400" marR="0" lvl="1"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2pPr>
            <a:lvl3pPr marL="1371600" marR="0" lvl="2"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3pPr>
            <a:lvl4pPr marL="1828800" marR="0" lvl="3"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4pPr>
            <a:lvl5pPr marL="2286000" marR="0" lvl="4"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5pPr>
            <a:lvl6pPr marL="2743200" marR="0" lvl="5"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6pPr>
            <a:lvl7pPr marL="3200400" marR="0" lvl="6"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7pPr>
            <a:lvl8pPr marL="3657600" marR="0" lvl="7"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8pPr>
            <a:lvl9pPr marL="4114800" marR="0" lvl="8"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533813" y="723009"/>
            <a:ext cx="8229601" cy="1143001"/>
          </a:xfrm>
          <a:prstGeom prst="rect">
            <a:avLst/>
          </a:prstGeom>
          <a:noFill/>
          <a:ln>
            <a:noFill/>
          </a:ln>
        </p:spPr>
        <p:txBody>
          <a:bodyPr spcFirstLastPara="1" wrap="square" lIns="45700" tIns="45700" rIns="45700" bIns="45700" anchor="ctr" anchorCtr="0">
            <a:normAutofit/>
          </a:bodyPr>
          <a:lstStyle/>
          <a:p>
            <a:pPr marL="0" lvl="0" indent="0" algn="l" rtl="0">
              <a:lnSpc>
                <a:spcPct val="100000"/>
              </a:lnSpc>
              <a:spcBef>
                <a:spcPts val="0"/>
              </a:spcBef>
              <a:spcAft>
                <a:spcPts val="0"/>
              </a:spcAft>
              <a:buClr>
                <a:srgbClr val="000000"/>
              </a:buClr>
              <a:buSzPts val="3784"/>
              <a:buFont typeface="Calibri"/>
              <a:buNone/>
            </a:pPr>
            <a:r>
              <a:rPr lang="en-US" sz="2800" b="1" u="sng" dirty="0">
                <a:latin typeface="Times New Roman" panose="02020603050405020304" pitchFamily="18" charset="0"/>
                <a:cs typeface="Times New Roman" panose="02020603050405020304" pitchFamily="18" charset="0"/>
              </a:rPr>
              <a:t>Topic: </a:t>
            </a:r>
            <a:r>
              <a:rPr lang="en-US" sz="2800" u="sng" dirty="0">
                <a:latin typeface="Times New Roman" panose="02020603050405020304" pitchFamily="18" charset="0"/>
                <a:cs typeface="Times New Roman" panose="02020603050405020304" pitchFamily="18" charset="0"/>
              </a:rPr>
              <a:t>Data Analytics and Visualization On Avian Disease </a:t>
            </a:r>
          </a:p>
        </p:txBody>
      </p:sp>
      <p:graphicFrame>
        <p:nvGraphicFramePr>
          <p:cNvPr id="2" name="Table 1">
            <a:extLst>
              <a:ext uri="{FF2B5EF4-FFF2-40B4-BE49-F238E27FC236}">
                <a16:creationId xmlns:a16="http://schemas.microsoft.com/office/drawing/2014/main" id="{CA88ACAA-83C5-7831-87A1-7A6AC2877F0D}"/>
              </a:ext>
            </a:extLst>
          </p:cNvPr>
          <p:cNvGraphicFramePr>
            <a:graphicFrameLocks noGrp="1"/>
          </p:cNvGraphicFramePr>
          <p:nvPr>
            <p:extLst>
              <p:ext uri="{D42A27DB-BD31-4B8C-83A1-F6EECF244321}">
                <p14:modId xmlns:p14="http://schemas.microsoft.com/office/powerpoint/2010/main" val="1184314237"/>
              </p:ext>
            </p:extLst>
          </p:nvPr>
        </p:nvGraphicFramePr>
        <p:xfrm>
          <a:off x="658761" y="4206781"/>
          <a:ext cx="6774426" cy="2025035"/>
        </p:xfrm>
        <a:graphic>
          <a:graphicData uri="http://schemas.openxmlformats.org/drawingml/2006/table">
            <a:tbl>
              <a:tblPr firstRow="1" bandRow="1">
                <a:tableStyleId>{FAD2F71C-7846-4C3E-9502-F6074BB4B6FC}</a:tableStyleId>
              </a:tblPr>
              <a:tblGrid>
                <a:gridCol w="3387213">
                  <a:extLst>
                    <a:ext uri="{9D8B030D-6E8A-4147-A177-3AD203B41FA5}">
                      <a16:colId xmlns:a16="http://schemas.microsoft.com/office/drawing/2014/main" val="242902484"/>
                    </a:ext>
                  </a:extLst>
                </a:gridCol>
                <a:gridCol w="3387213">
                  <a:extLst>
                    <a:ext uri="{9D8B030D-6E8A-4147-A177-3AD203B41FA5}">
                      <a16:colId xmlns:a16="http://schemas.microsoft.com/office/drawing/2014/main" val="259317494"/>
                    </a:ext>
                  </a:extLst>
                </a:gridCol>
              </a:tblGrid>
              <a:tr h="405007">
                <a:tc>
                  <a:txBody>
                    <a:bodyPr/>
                    <a:lstStyle/>
                    <a:p>
                      <a:r>
                        <a:rPr lang="en-US" sz="1400" b="0" i="0" u="none" strike="noStrike" cap="none" dirty="0">
                          <a:solidFill>
                            <a:schemeClr val="bg1"/>
                          </a:solidFill>
                          <a:latin typeface="Calibri"/>
                          <a:ea typeface="Calibri"/>
                          <a:cs typeface="Calibri"/>
                          <a:sym typeface="Calibri"/>
                        </a:rPr>
                        <a:t> </a:t>
                      </a:r>
                      <a:r>
                        <a:rPr lang="en-US" sz="1400" b="1" i="0" u="none" strike="noStrike" cap="none" dirty="0">
                          <a:solidFill>
                            <a:schemeClr val="bg1"/>
                          </a:solidFill>
                          <a:latin typeface="Calibri"/>
                          <a:ea typeface="Calibri"/>
                          <a:cs typeface="Calibri"/>
                          <a:sym typeface="Calibri"/>
                        </a:rPr>
                        <a:t>Members</a:t>
                      </a:r>
                      <a:endParaRPr lang="en-US" dirty="0">
                        <a:solidFill>
                          <a:schemeClr val="bg1"/>
                        </a:solidFill>
                      </a:endParaRPr>
                    </a:p>
                  </a:txBody>
                  <a:tcPr/>
                </a:tc>
                <a:tc>
                  <a:txBody>
                    <a:bodyPr/>
                    <a:lstStyle/>
                    <a:p>
                      <a:r>
                        <a:rPr lang="en-US" dirty="0"/>
                        <a:t>Student ID</a:t>
                      </a:r>
                    </a:p>
                  </a:txBody>
                  <a:tcPr/>
                </a:tc>
                <a:extLst>
                  <a:ext uri="{0D108BD9-81ED-4DB2-BD59-A6C34878D82A}">
                    <a16:rowId xmlns:a16="http://schemas.microsoft.com/office/drawing/2014/main" val="508977691"/>
                  </a:ext>
                </a:extLst>
              </a:tr>
              <a:tr h="405007">
                <a:tc>
                  <a:txBody>
                    <a:bodyPr/>
                    <a:lstStyle/>
                    <a:p>
                      <a:r>
                        <a:rPr lang="en-US" sz="1400" b="0" i="0" u="none" strike="noStrike" cap="none" dirty="0">
                          <a:solidFill>
                            <a:srgbClr val="000000"/>
                          </a:solidFill>
                          <a:latin typeface="Calibri"/>
                          <a:ea typeface="Calibri"/>
                          <a:cs typeface="Calibri"/>
                          <a:sym typeface="Calibri"/>
                        </a:rPr>
                        <a:t> ABRAR YASIR </a:t>
                      </a:r>
                      <a:endParaRPr lang="en-US" dirty="0"/>
                    </a:p>
                  </a:txBody>
                  <a:tcPr/>
                </a:tc>
                <a:tc>
                  <a:txBody>
                    <a:bodyPr/>
                    <a:lstStyle/>
                    <a:p>
                      <a:r>
                        <a:rPr lang="en-US" sz="1400" b="0" i="0" u="none" strike="noStrike" cap="none" dirty="0">
                          <a:solidFill>
                            <a:srgbClr val="000000"/>
                          </a:solidFill>
                          <a:latin typeface="Calibri"/>
                          <a:ea typeface="Calibri"/>
                          <a:cs typeface="Calibri"/>
                          <a:sym typeface="Calibri"/>
                        </a:rPr>
                        <a:t>S379181</a:t>
                      </a:r>
                      <a:endParaRPr lang="en-US" dirty="0"/>
                    </a:p>
                  </a:txBody>
                  <a:tcPr/>
                </a:tc>
                <a:extLst>
                  <a:ext uri="{0D108BD9-81ED-4DB2-BD59-A6C34878D82A}">
                    <a16:rowId xmlns:a16="http://schemas.microsoft.com/office/drawing/2014/main" val="514152079"/>
                  </a:ext>
                </a:extLst>
              </a:tr>
              <a:tr h="405007">
                <a:tc>
                  <a:txBody>
                    <a:bodyPr/>
                    <a:lstStyle/>
                    <a:p>
                      <a:r>
                        <a:rPr lang="en-US" sz="1400" b="0" i="0" u="none" strike="noStrike" cap="none" dirty="0">
                          <a:solidFill>
                            <a:srgbClr val="000000"/>
                          </a:solidFill>
                          <a:latin typeface="Calibri"/>
                          <a:ea typeface="Calibri"/>
                          <a:cs typeface="Calibri"/>
                          <a:sym typeface="Calibri"/>
                        </a:rPr>
                        <a:t>MEHRUZ SAIF</a:t>
                      </a:r>
                      <a:endParaRPr lang="en-US" dirty="0"/>
                    </a:p>
                  </a:txBody>
                  <a:tcPr/>
                </a:tc>
                <a:tc>
                  <a:txBody>
                    <a:bodyPr/>
                    <a:lstStyle/>
                    <a:p>
                      <a:r>
                        <a:rPr lang="en-US" sz="1400" b="0" i="0" u="none" strike="noStrike" cap="none" dirty="0">
                          <a:solidFill>
                            <a:srgbClr val="000000"/>
                          </a:solidFill>
                          <a:latin typeface="Calibri"/>
                          <a:ea typeface="Calibri"/>
                          <a:cs typeface="Calibri"/>
                          <a:sym typeface="Calibri"/>
                        </a:rPr>
                        <a:t> S383768</a:t>
                      </a:r>
                      <a:endParaRPr lang="en-US" dirty="0"/>
                    </a:p>
                  </a:txBody>
                  <a:tcPr/>
                </a:tc>
                <a:extLst>
                  <a:ext uri="{0D108BD9-81ED-4DB2-BD59-A6C34878D82A}">
                    <a16:rowId xmlns:a16="http://schemas.microsoft.com/office/drawing/2014/main" val="3154324155"/>
                  </a:ext>
                </a:extLst>
              </a:tr>
              <a:tr h="405007">
                <a:tc>
                  <a:txBody>
                    <a:bodyPr/>
                    <a:lstStyle/>
                    <a:p>
                      <a:r>
                        <a:rPr lang="en-US" sz="1400" b="0" i="0" u="none" strike="noStrike" cap="none" dirty="0">
                          <a:solidFill>
                            <a:srgbClr val="000000"/>
                          </a:solidFill>
                          <a:latin typeface="Calibri"/>
                          <a:ea typeface="Calibri"/>
                          <a:cs typeface="Calibri"/>
                          <a:sym typeface="Calibri"/>
                        </a:rPr>
                        <a:t> DEBRAJ RAKSHIT</a:t>
                      </a:r>
                      <a:endParaRPr lang="en-US" dirty="0"/>
                    </a:p>
                  </a:txBody>
                  <a:tcPr/>
                </a:tc>
                <a:tc>
                  <a:txBody>
                    <a:bodyPr/>
                    <a:lstStyle/>
                    <a:p>
                      <a:r>
                        <a:rPr lang="en-US" sz="1400" dirty="0">
                          <a:latin typeface="Calibri"/>
                          <a:ea typeface="Calibri"/>
                          <a:cs typeface="Calibri"/>
                          <a:sym typeface="Calibri"/>
                        </a:rPr>
                        <a:t>S382665</a:t>
                      </a:r>
                      <a:endParaRPr lang="en-US" dirty="0"/>
                    </a:p>
                  </a:txBody>
                  <a:tcPr/>
                </a:tc>
                <a:extLst>
                  <a:ext uri="{0D108BD9-81ED-4DB2-BD59-A6C34878D82A}">
                    <a16:rowId xmlns:a16="http://schemas.microsoft.com/office/drawing/2014/main" val="703548603"/>
                  </a:ext>
                </a:extLst>
              </a:tr>
              <a:tr h="405007">
                <a:tc>
                  <a:txBody>
                    <a:bodyPr/>
                    <a:lstStyle/>
                    <a:p>
                      <a:r>
                        <a:rPr lang="en-US" sz="1400" b="0" i="0" u="none" strike="noStrike" cap="none" dirty="0">
                          <a:solidFill>
                            <a:srgbClr val="000000"/>
                          </a:solidFill>
                          <a:latin typeface="Calibri"/>
                          <a:ea typeface="Calibri"/>
                          <a:cs typeface="Calibri"/>
                          <a:sym typeface="Calibri"/>
                        </a:rPr>
                        <a:t>SYED RUBAYAT HOSSAIN</a:t>
                      </a:r>
                      <a:endParaRPr lang="en-US" dirty="0"/>
                    </a:p>
                  </a:txBody>
                  <a:tcPr/>
                </a:tc>
                <a:tc>
                  <a:txBody>
                    <a:bodyPr/>
                    <a:lstStyle/>
                    <a:p>
                      <a:r>
                        <a:rPr lang="en-US" sz="1400" b="0" i="0" u="none" strike="noStrike" cap="none" dirty="0">
                          <a:solidFill>
                            <a:srgbClr val="000000"/>
                          </a:solidFill>
                          <a:latin typeface="Calibri"/>
                          <a:ea typeface="Calibri"/>
                          <a:cs typeface="Calibri"/>
                          <a:sym typeface="Calibri"/>
                        </a:rPr>
                        <a:t>S383306</a:t>
                      </a:r>
                      <a:endParaRPr lang="en-US" dirty="0"/>
                    </a:p>
                  </a:txBody>
                  <a:tcPr/>
                </a:tc>
                <a:extLst>
                  <a:ext uri="{0D108BD9-81ED-4DB2-BD59-A6C34878D82A}">
                    <a16:rowId xmlns:a16="http://schemas.microsoft.com/office/drawing/2014/main" val="2230088829"/>
                  </a:ext>
                </a:extLst>
              </a:tr>
            </a:tbl>
          </a:graphicData>
        </a:graphic>
      </p:graphicFrame>
      <p:sp>
        <p:nvSpPr>
          <p:cNvPr id="3" name="TextBox 2">
            <a:extLst>
              <a:ext uri="{FF2B5EF4-FFF2-40B4-BE49-F238E27FC236}">
                <a16:creationId xmlns:a16="http://schemas.microsoft.com/office/drawing/2014/main" id="{F3AA4C22-6516-22A2-6455-FB6FBF485798}"/>
              </a:ext>
            </a:extLst>
          </p:cNvPr>
          <p:cNvSpPr txBox="1"/>
          <p:nvPr/>
        </p:nvSpPr>
        <p:spPr>
          <a:xfrm>
            <a:off x="658761" y="1406013"/>
            <a:ext cx="184731" cy="307777"/>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16243669-CA37-37EC-4804-3DDBE1D0B35D}"/>
              </a:ext>
            </a:extLst>
          </p:cNvPr>
          <p:cNvSpPr txBox="1"/>
          <p:nvPr/>
        </p:nvSpPr>
        <p:spPr>
          <a:xfrm>
            <a:off x="533813" y="1713790"/>
            <a:ext cx="7282831" cy="2185214"/>
          </a:xfrm>
          <a:prstGeom prst="rect">
            <a:avLst/>
          </a:prstGeom>
          <a:noFill/>
        </p:spPr>
        <p:txBody>
          <a:bodyPr wrap="square" rtlCol="0">
            <a:spAutoFit/>
          </a:bodyPr>
          <a:lstStyle/>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Course : </a:t>
            </a:r>
            <a:r>
              <a:rPr lang="en-US" sz="2400" dirty="0">
                <a:latin typeface="Times New Roman" panose="02020603050405020304" pitchFamily="18" charset="0"/>
                <a:cs typeface="Times New Roman" panose="02020603050405020304" pitchFamily="18" charset="0"/>
              </a:rPr>
              <a:t>S125 PRT564 DATA ANALYTICS AND VISUALISATION</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Presented By-  </a:t>
            </a:r>
            <a:r>
              <a:rPr lang="en-US" sz="2800" dirty="0">
                <a:latin typeface="Times New Roman" panose="02020603050405020304" pitchFamily="18" charset="0"/>
                <a:cs typeface="Times New Roman" panose="02020603050405020304" pitchFamily="18" charset="0"/>
              </a:rPr>
              <a:t>Group G6(Sydney)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fontScale="90000"/>
          </a:bodyPr>
          <a:lstStyle/>
          <a:p>
            <a:pPr marL="0" marR="0" lvl="0" indent="0" algn="l" rtl="0">
              <a:lnSpc>
                <a:spcPct val="100000"/>
              </a:lnSpc>
              <a:spcBef>
                <a:spcPts val="0"/>
              </a:spcBef>
              <a:spcAft>
                <a:spcPts val="0"/>
              </a:spcAft>
              <a:buClr>
                <a:srgbClr val="000000"/>
              </a:buClr>
              <a:buSzPts val="3783"/>
              <a:buFont typeface="Calibri"/>
              <a:buNone/>
            </a:pPr>
            <a:r>
              <a:rPr lang="en-US" sz="3783" dirty="0"/>
              <a:t>Avian Dashboard Interface &amp; Manual Data Collection</a:t>
            </a:r>
            <a:endParaRPr dirty="0"/>
          </a:p>
        </p:txBody>
      </p:sp>
      <p:sp>
        <p:nvSpPr>
          <p:cNvPr id="69" name="Google Shape;69;p15"/>
          <p:cNvSpPr txBox="1">
            <a:spLocks noGrp="1"/>
          </p:cNvSpPr>
          <p:nvPr>
            <p:ph type="body" idx="1"/>
          </p:nvPr>
        </p:nvSpPr>
        <p:spPr>
          <a:xfrm>
            <a:off x="457200" y="1659193"/>
            <a:ext cx="8356862" cy="709368"/>
          </a:xfrm>
          <a:prstGeom prst="rect">
            <a:avLst/>
          </a:prstGeom>
          <a:noFill/>
          <a:ln>
            <a:noFill/>
          </a:ln>
        </p:spPr>
        <p:txBody>
          <a:bodyPr spcFirstLastPara="1" wrap="square" lIns="45700" tIns="45700" rIns="45700" bIns="45700" anchor="t" anchorCtr="0">
            <a:normAutofit/>
          </a:bodyPr>
          <a:lstStyle/>
          <a:p>
            <a:pPr marL="342900" marR="0" lvl="0" indent="-342900" algn="l" rtl="0">
              <a:lnSpc>
                <a:spcPct val="90000"/>
              </a:lnSpc>
              <a:spcBef>
                <a:spcPts val="0"/>
              </a:spcBef>
              <a:spcAft>
                <a:spcPts val="0"/>
              </a:spcAft>
              <a:buClr>
                <a:srgbClr val="000000"/>
              </a:buClr>
              <a:buSzPts val="2200"/>
              <a:buFont typeface="Arial"/>
              <a:buChar char="•"/>
            </a:pPr>
            <a:r>
              <a:rPr lang="en-US" sz="2200" dirty="0"/>
              <a:t>Data collected manually from UK Animal &amp; Plant Health Agency's Tableau dashboard.</a:t>
            </a:r>
            <a:endParaRPr dirty="0"/>
          </a:p>
        </p:txBody>
      </p:sp>
      <p:pic>
        <p:nvPicPr>
          <p:cNvPr id="70" name="Google Shape;70;p15" descr="Picture 3"/>
          <p:cNvPicPr preferRelativeResize="0"/>
          <p:nvPr/>
        </p:nvPicPr>
        <p:blipFill rotWithShape="1">
          <a:blip r:embed="rId3">
            <a:alphaModFix/>
          </a:blip>
          <a:srcRect/>
          <a:stretch/>
        </p:blipFill>
        <p:spPr>
          <a:xfrm>
            <a:off x="457200" y="2476582"/>
            <a:ext cx="8067368" cy="402254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p>
            <a:pPr marL="0" marR="0" lvl="0" indent="0" algn="l" rtl="0">
              <a:lnSpc>
                <a:spcPct val="100000"/>
              </a:lnSpc>
              <a:spcBef>
                <a:spcPts val="0"/>
              </a:spcBef>
              <a:spcAft>
                <a:spcPts val="0"/>
              </a:spcAft>
              <a:buClr>
                <a:srgbClr val="000000"/>
              </a:buClr>
              <a:buSzPts val="3900"/>
              <a:buFont typeface="Calibri"/>
              <a:buNone/>
            </a:pPr>
            <a:r>
              <a:rPr lang="en-US" sz="2800" dirty="0">
                <a:latin typeface="Times New Roman" panose="02020603050405020304" pitchFamily="18" charset="0"/>
                <a:cs typeface="Times New Roman" panose="02020603050405020304" pitchFamily="18" charset="0"/>
              </a:rPr>
              <a:t>Dataset Creation and Preprocessing</a:t>
            </a:r>
            <a:endParaRPr sz="3200" dirty="0">
              <a:latin typeface="Times New Roman" panose="02020603050405020304" pitchFamily="18" charset="0"/>
              <a:cs typeface="Times New Roman" panose="02020603050405020304" pitchFamily="18" charset="0"/>
            </a:endParaRPr>
          </a:p>
        </p:txBody>
      </p:sp>
      <p:sp>
        <p:nvSpPr>
          <p:cNvPr id="76" name="Google Shape;76;p16"/>
          <p:cNvSpPr txBox="1">
            <a:spLocks noGrp="1"/>
          </p:cNvSpPr>
          <p:nvPr>
            <p:ph type="body" idx="1"/>
          </p:nvPr>
        </p:nvSpPr>
        <p:spPr>
          <a:xfrm>
            <a:off x="537328" y="3252245"/>
            <a:ext cx="8229600" cy="3007151"/>
          </a:xfrm>
          <a:prstGeom prst="rect">
            <a:avLst/>
          </a:prstGeom>
          <a:noFill/>
          <a:ln>
            <a:noFill/>
          </a:ln>
        </p:spPr>
        <p:txBody>
          <a:bodyPr spcFirstLastPara="1" wrap="square" lIns="45700" tIns="45700" rIns="45700" bIns="45700" anchor="t" anchorCtr="0">
            <a:normAutofit/>
          </a:bodyPr>
          <a:lstStyle/>
          <a:p>
            <a:pPr marL="226313" lvl="0" indent="-226313" algn="l" rtl="0">
              <a:spcBef>
                <a:spcPts val="0"/>
              </a:spcBef>
              <a:spcAft>
                <a:spcPts val="0"/>
              </a:spcAft>
              <a:buClr>
                <a:srgbClr val="000000"/>
              </a:buClr>
              <a:buSzPts val="2772"/>
              <a:buNone/>
            </a:pPr>
            <a:r>
              <a:rPr lang="en-US" sz="2000" b="1" dirty="0">
                <a:latin typeface="Times New Roman" panose="02020603050405020304" pitchFamily="18" charset="0"/>
                <a:ea typeface="Arial"/>
                <a:cs typeface="Times New Roman" panose="02020603050405020304" pitchFamily="18" charset="0"/>
                <a:sym typeface="Arial"/>
              </a:rPr>
              <a:t>Dataset Description</a:t>
            </a:r>
            <a:r>
              <a:rPr lang="en-US" sz="2000" b="0" dirty="0">
                <a:latin typeface="Times New Roman" panose="02020603050405020304" pitchFamily="18" charset="0"/>
                <a:cs typeface="Times New Roman" panose="02020603050405020304" pitchFamily="18" charset="0"/>
              </a:rPr>
              <a:t>: Dataset includes the following information:</a:t>
            </a:r>
            <a:endParaRPr sz="2000" b="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Year and Month of the outbreak.</a:t>
            </a:r>
            <a:endParaRPr sz="200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Region and County where the outbreak occurred.</a:t>
            </a:r>
            <a:endParaRPr sz="200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Age Category of the affected birds.</a:t>
            </a:r>
            <a:endParaRPr sz="200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Clinical Signs observed.</a:t>
            </a:r>
            <a:endParaRPr sz="200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Diagnosis of the disease.</a:t>
            </a:r>
            <a:endParaRPr sz="200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Number of Cases reported.</a:t>
            </a:r>
            <a:endParaRPr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79124DC-B809-2BC5-0E98-03EBFE352130}"/>
              </a:ext>
            </a:extLst>
          </p:cNvPr>
          <p:cNvPicPr>
            <a:picLocks noChangeAspect="1"/>
          </p:cNvPicPr>
          <p:nvPr/>
        </p:nvPicPr>
        <p:blipFill>
          <a:blip r:embed="rId3"/>
          <a:stretch>
            <a:fillRect/>
          </a:stretch>
        </p:blipFill>
        <p:spPr>
          <a:xfrm>
            <a:off x="457200" y="1282046"/>
            <a:ext cx="8229600" cy="16968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p>
            <a:pPr marL="0" marR="0" lvl="0" indent="0" algn="l" rtl="0">
              <a:lnSpc>
                <a:spcPct val="100000"/>
              </a:lnSpc>
              <a:spcBef>
                <a:spcPts val="0"/>
              </a:spcBef>
              <a:spcAft>
                <a:spcPts val="0"/>
              </a:spcAft>
              <a:buClr>
                <a:srgbClr val="000000"/>
              </a:buClr>
              <a:buSzPts val="3783"/>
              <a:buFont typeface="Calibri"/>
              <a:buNone/>
            </a:pPr>
            <a:r>
              <a:rPr lang="en-US" sz="2800" dirty="0">
                <a:latin typeface="Times New Roman" panose="02020603050405020304" pitchFamily="18" charset="0"/>
                <a:cs typeface="Times New Roman" panose="02020603050405020304" pitchFamily="18" charset="0"/>
              </a:rPr>
              <a:t>Supplementary Data Integration (Temperature &amp; Poultry Density)</a:t>
            </a:r>
            <a:endParaRPr sz="2800" dirty="0">
              <a:latin typeface="Times New Roman" panose="02020603050405020304" pitchFamily="18" charset="0"/>
              <a:cs typeface="Times New Roman" panose="02020603050405020304" pitchFamily="18" charset="0"/>
            </a:endParaRPr>
          </a:p>
        </p:txBody>
      </p:sp>
      <p:sp>
        <p:nvSpPr>
          <p:cNvPr id="88" name="Google Shape;88;p18"/>
          <p:cNvSpPr txBox="1">
            <a:spLocks noGrp="1"/>
          </p:cNvSpPr>
          <p:nvPr>
            <p:ph type="body" idx="1"/>
          </p:nvPr>
        </p:nvSpPr>
        <p:spPr>
          <a:xfrm>
            <a:off x="730577" y="4650949"/>
            <a:ext cx="7371761" cy="4791174"/>
          </a:xfrm>
          <a:prstGeom prst="rect">
            <a:avLst/>
          </a:prstGeom>
          <a:noFill/>
          <a:ln>
            <a:noFill/>
          </a:ln>
        </p:spPr>
        <p:txBody>
          <a:bodyPr spcFirstLastPara="1" wrap="square" lIns="45700" tIns="45700" rIns="45700" bIns="45700" anchor="t" anchorCtr="0">
            <a:normAutofit/>
          </a:bodyPr>
          <a:lstStyle/>
          <a:p>
            <a:pPr marL="342900" lvl="0" indent="-342900" algn="l" rtl="0">
              <a:lnSpc>
                <a:spcPct val="100000"/>
              </a:lnSpc>
              <a:spcBef>
                <a:spcPts val="0"/>
              </a:spcBef>
              <a:spcAft>
                <a:spcPts val="0"/>
              </a:spcAft>
              <a:buClr>
                <a:srgbClr val="000000"/>
              </a:buClr>
              <a:buSzPts val="2000"/>
              <a:buChar char="•"/>
            </a:pPr>
            <a:r>
              <a:rPr lang="en-US" sz="2000"/>
              <a:t>UK Monthly Temperatures obtained from Met Office and Statista summaries.</a:t>
            </a:r>
            <a:endParaRPr/>
          </a:p>
          <a:p>
            <a:pPr marL="342900" lvl="0" indent="-342900" algn="l" rtl="0">
              <a:lnSpc>
                <a:spcPct val="100000"/>
              </a:lnSpc>
              <a:spcBef>
                <a:spcPts val="400"/>
              </a:spcBef>
              <a:spcAft>
                <a:spcPts val="0"/>
              </a:spcAft>
              <a:buClr>
                <a:srgbClr val="000000"/>
              </a:buClr>
              <a:buSzPts val="2000"/>
              <a:buChar char="•"/>
            </a:pPr>
            <a:r>
              <a:rPr lang="en-US" sz="2000"/>
              <a:t>Poultry Density information retrieved from DEFRA livestock report.</a:t>
            </a:r>
            <a:endParaRPr/>
          </a:p>
          <a:p>
            <a:pPr marL="342900" lvl="0" indent="-342900" algn="l" rtl="0">
              <a:lnSpc>
                <a:spcPct val="100000"/>
              </a:lnSpc>
              <a:spcBef>
                <a:spcPts val="700"/>
              </a:spcBef>
              <a:spcAft>
                <a:spcPts val="0"/>
              </a:spcAft>
              <a:buClr>
                <a:srgbClr val="000000"/>
              </a:buClr>
              <a:buSzPts val="2000"/>
              <a:buChar char="•"/>
            </a:pPr>
            <a:r>
              <a:rPr lang="en-US" sz="2000"/>
              <a:t>These additions enhanced heterogeneity and realism of dataset</a:t>
            </a:r>
            <a:r>
              <a:rPr lang="en-US" sz="3200"/>
              <a:t>.</a:t>
            </a:r>
            <a:endParaRPr/>
          </a:p>
        </p:txBody>
      </p:sp>
      <p:pic>
        <p:nvPicPr>
          <p:cNvPr id="89" name="Google Shape;89;p18" descr="Picture 5"/>
          <p:cNvPicPr preferRelativeResize="0"/>
          <p:nvPr/>
        </p:nvPicPr>
        <p:blipFill rotWithShape="1">
          <a:blip r:embed="rId3">
            <a:alphaModFix/>
          </a:blip>
          <a:srcRect/>
          <a:stretch/>
        </p:blipFill>
        <p:spPr>
          <a:xfrm>
            <a:off x="730575" y="1655808"/>
            <a:ext cx="3605755" cy="2756971"/>
          </a:xfrm>
          <a:prstGeom prst="rect">
            <a:avLst/>
          </a:prstGeom>
          <a:noFill/>
          <a:ln>
            <a:noFill/>
          </a:ln>
        </p:spPr>
      </p:pic>
      <p:pic>
        <p:nvPicPr>
          <p:cNvPr id="90" name="Google Shape;90;p18" descr="Picture 8"/>
          <p:cNvPicPr preferRelativeResize="0"/>
          <p:nvPr/>
        </p:nvPicPr>
        <p:blipFill rotWithShape="1">
          <a:blip r:embed="rId4">
            <a:alphaModFix/>
          </a:blip>
          <a:srcRect/>
          <a:stretch/>
        </p:blipFill>
        <p:spPr>
          <a:xfrm>
            <a:off x="4807672" y="1617431"/>
            <a:ext cx="3093879" cy="25774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p>
            <a:pPr marL="0" lvl="0" indent="0" algn="ctr" rtl="0">
              <a:lnSpc>
                <a:spcPct val="100000"/>
              </a:lnSpc>
              <a:spcBef>
                <a:spcPts val="0"/>
              </a:spcBef>
              <a:spcAft>
                <a:spcPts val="0"/>
              </a:spcAft>
              <a:buClr>
                <a:srgbClr val="000000"/>
              </a:buClr>
              <a:buSzPts val="4400"/>
              <a:buFont typeface="Calibri"/>
              <a:buNone/>
            </a:pPr>
            <a:r>
              <a:rPr lang="en-US" sz="4400" b="0" i="0" u="none" strike="noStrike" cap="none">
                <a:solidFill>
                  <a:srgbClr val="000000"/>
                </a:solidFill>
                <a:latin typeface="Calibri"/>
                <a:ea typeface="Calibri"/>
                <a:cs typeface="Calibri"/>
                <a:sym typeface="Calibri"/>
              </a:rPr>
              <a:t>Raw Dataset and Sampling Strategy</a:t>
            </a:r>
            <a:endParaRPr/>
          </a:p>
        </p:txBody>
      </p:sp>
      <p:sp>
        <p:nvSpPr>
          <p:cNvPr id="96" name="Google Shape;96;p19"/>
          <p:cNvSpPr txBox="1">
            <a:spLocks noGrp="1"/>
          </p:cNvSpPr>
          <p:nvPr>
            <p:ph type="body" idx="1"/>
          </p:nvPr>
        </p:nvSpPr>
        <p:spPr>
          <a:xfrm>
            <a:off x="565607" y="4862969"/>
            <a:ext cx="8248455" cy="2356701"/>
          </a:xfrm>
          <a:prstGeom prst="rect">
            <a:avLst/>
          </a:prstGeom>
          <a:noFill/>
          <a:ln>
            <a:noFill/>
          </a:ln>
        </p:spPr>
        <p:txBody>
          <a:bodyPr spcFirstLastPara="1" wrap="square" lIns="45700" tIns="45700" rIns="45700" bIns="45700" anchor="t" anchorCtr="0">
            <a:normAutofit/>
          </a:bodyPr>
          <a:lstStyle/>
          <a:p>
            <a:pPr marL="342900" lvl="0" indent="-342900" algn="l" rtl="0">
              <a:lnSpc>
                <a:spcPct val="100000"/>
              </a:lnSpc>
              <a:spcBef>
                <a:spcPts val="0"/>
              </a:spcBef>
              <a:spcAft>
                <a:spcPts val="0"/>
              </a:spcAft>
              <a:buClr>
                <a:srgbClr val="000000"/>
              </a:buClr>
              <a:buSzPts val="1800"/>
              <a:buChar char="•"/>
            </a:pPr>
            <a:r>
              <a:rPr lang="en-US" sz="1800"/>
              <a:t>Initially we manually added 400+ rows.</a:t>
            </a:r>
            <a:endParaRPr/>
          </a:p>
          <a:p>
            <a:pPr marL="342900" lvl="0" indent="-342900" algn="l" rtl="0">
              <a:lnSpc>
                <a:spcPct val="100000"/>
              </a:lnSpc>
              <a:spcBef>
                <a:spcPts val="400"/>
              </a:spcBef>
              <a:spcAft>
                <a:spcPts val="0"/>
              </a:spcAft>
              <a:buClr>
                <a:srgbClr val="000000"/>
              </a:buClr>
              <a:buSzPts val="1800"/>
              <a:buChar char="•"/>
            </a:pPr>
            <a:r>
              <a:rPr lang="en-US" sz="1800"/>
              <a:t>Final dataset: 142 rows with wide variation across years and case counts.</a:t>
            </a:r>
            <a:endParaRPr/>
          </a:p>
          <a:p>
            <a:pPr marL="342900" lvl="0" indent="-342900" algn="l" rtl="0">
              <a:lnSpc>
                <a:spcPct val="100000"/>
              </a:lnSpc>
              <a:spcBef>
                <a:spcPts val="400"/>
              </a:spcBef>
              <a:spcAft>
                <a:spcPts val="0"/>
              </a:spcAft>
              <a:buClr>
                <a:srgbClr val="000000"/>
              </a:buClr>
              <a:buSzPts val="1800"/>
              <a:buChar char="•"/>
            </a:pPr>
            <a:r>
              <a:rPr lang="en-US" sz="1800"/>
              <a:t>Around 11 rows per year were selected for avoiding year-dominance and supporting equal visual representation.</a:t>
            </a:r>
            <a:endParaRPr/>
          </a:p>
          <a:p>
            <a:pPr marL="342900" lvl="0" indent="-342900" algn="l" rtl="0">
              <a:lnSpc>
                <a:spcPct val="100000"/>
              </a:lnSpc>
              <a:spcBef>
                <a:spcPts val="400"/>
              </a:spcBef>
              <a:spcAft>
                <a:spcPts val="0"/>
              </a:spcAft>
              <a:buClr>
                <a:srgbClr val="000000"/>
              </a:buClr>
              <a:buSzPts val="1800"/>
              <a:buChar char="•"/>
            </a:pPr>
            <a:r>
              <a:rPr lang="en-US" sz="1800"/>
              <a:t>Rows with more than one case prioritized for diversity.</a:t>
            </a:r>
            <a:endParaRPr/>
          </a:p>
          <a:p>
            <a:pPr marL="342900" lvl="0" indent="-342900" algn="l" rtl="0">
              <a:lnSpc>
                <a:spcPct val="100000"/>
              </a:lnSpc>
              <a:spcBef>
                <a:spcPts val="400"/>
              </a:spcBef>
              <a:spcAft>
                <a:spcPts val="0"/>
              </a:spcAft>
              <a:buClr>
                <a:srgbClr val="000000"/>
              </a:buClr>
              <a:buSzPts val="1800"/>
              <a:buChar char="•"/>
            </a:pPr>
            <a:r>
              <a:rPr lang="en-US" sz="1800"/>
              <a:t>Smaller dataset supports clear visual storytelling.</a:t>
            </a:r>
            <a:endParaRPr/>
          </a:p>
        </p:txBody>
      </p:sp>
      <p:pic>
        <p:nvPicPr>
          <p:cNvPr id="97" name="Google Shape;97;p19" descr="Picture 7"/>
          <p:cNvPicPr preferRelativeResize="0"/>
          <p:nvPr/>
        </p:nvPicPr>
        <p:blipFill rotWithShape="1">
          <a:blip r:embed="rId3">
            <a:alphaModFix/>
          </a:blip>
          <a:srcRect/>
          <a:stretch/>
        </p:blipFill>
        <p:spPr>
          <a:xfrm>
            <a:off x="575033" y="1417637"/>
            <a:ext cx="8239029" cy="324762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311707" y="1601825"/>
            <a:ext cx="8520602" cy="2052600"/>
          </a:xfrm>
          <a:prstGeom prst="rect">
            <a:avLst/>
          </a:prstGeom>
          <a:noFill/>
          <a:ln>
            <a:noFill/>
          </a:ln>
        </p:spPr>
        <p:txBody>
          <a:bodyPr spcFirstLastPara="1" wrap="square" lIns="91400" tIns="91400" rIns="91400" bIns="91400" anchor="b" anchorCtr="0">
            <a:normAutofit fontScale="90000"/>
          </a:bodyPr>
          <a:lstStyle/>
          <a:p>
            <a:pPr marL="0" marR="0" lvl="0" indent="0" algn="ctr" rtl="0">
              <a:lnSpc>
                <a:spcPct val="100000"/>
              </a:lnSpc>
              <a:spcBef>
                <a:spcPts val="0"/>
              </a:spcBef>
              <a:spcAft>
                <a:spcPts val="0"/>
              </a:spcAft>
              <a:buClr>
                <a:srgbClr val="000000"/>
              </a:buClr>
              <a:buSzPts val="6460"/>
              <a:buFont typeface="Arial"/>
              <a:buNone/>
            </a:pPr>
            <a:r>
              <a:rPr lang="en-US" sz="6460"/>
              <a:t>Exploratory Data Analysis</a:t>
            </a:r>
            <a:endParaRPr/>
          </a:p>
        </p:txBody>
      </p:sp>
      <p:sp>
        <p:nvSpPr>
          <p:cNvPr id="103" name="Google Shape;103;p20"/>
          <p:cNvSpPr txBox="1">
            <a:spLocks noGrp="1"/>
          </p:cNvSpPr>
          <p:nvPr>
            <p:ph type="body" idx="1"/>
          </p:nvPr>
        </p:nvSpPr>
        <p:spPr>
          <a:xfrm>
            <a:off x="311699" y="3691375"/>
            <a:ext cx="8520602" cy="792601"/>
          </a:xfrm>
          <a:prstGeom prst="rect">
            <a:avLst/>
          </a:prstGeom>
          <a:noFill/>
          <a:ln>
            <a:noFill/>
          </a:ln>
        </p:spPr>
        <p:txBody>
          <a:bodyPr spcFirstLastPara="1" wrap="square" lIns="91400" tIns="91400" rIns="91400" bIns="91400" anchor="t" anchorCtr="0">
            <a:normAutofit/>
          </a:bodyPr>
          <a:lstStyle/>
          <a:p>
            <a:pPr marL="0" marR="0" lvl="0" indent="0" algn="ctr" rtl="0">
              <a:lnSpc>
                <a:spcPct val="100000"/>
              </a:lnSpc>
              <a:spcBef>
                <a:spcPts val="0"/>
              </a:spcBef>
              <a:spcAft>
                <a:spcPts val="0"/>
              </a:spcAft>
              <a:buClr>
                <a:srgbClr val="595959"/>
              </a:buClr>
              <a:buSzPts val="3600"/>
              <a:buFont typeface="Arial"/>
              <a:buNone/>
            </a:pPr>
            <a:r>
              <a:rPr lang="en-US" sz="3600">
                <a:solidFill>
                  <a:srgbClr val="595959"/>
                </a:solidFill>
                <a:latin typeface="Arial"/>
                <a:ea typeface="Arial"/>
                <a:cs typeface="Arial"/>
                <a:sym typeface="Arial"/>
              </a:rPr>
              <a:t>On Avian Disease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311699" y="1302274"/>
            <a:ext cx="8520602" cy="5727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Dataset Overview</a:t>
            </a:r>
            <a:endParaRPr/>
          </a:p>
        </p:txBody>
      </p:sp>
      <p:sp>
        <p:nvSpPr>
          <p:cNvPr id="109" name="Google Shape;109;p21"/>
          <p:cNvSpPr txBox="1">
            <a:spLocks noGrp="1"/>
          </p:cNvSpPr>
          <p:nvPr>
            <p:ph type="body" idx="1"/>
          </p:nvPr>
        </p:nvSpPr>
        <p:spPr>
          <a:xfrm>
            <a:off x="311699" y="2009725"/>
            <a:ext cx="8520602" cy="3416400"/>
          </a:xfrm>
          <a:prstGeom prst="rect">
            <a:avLst/>
          </a:prstGeom>
          <a:noFill/>
          <a:ln>
            <a:noFill/>
          </a:ln>
        </p:spPr>
        <p:txBody>
          <a:bodyPr spcFirstLastPara="1" wrap="square" lIns="91400" tIns="91400" rIns="91400" bIns="91400" anchor="t" anchorCtr="0">
            <a:normAutofit/>
          </a:bodyPr>
          <a:lstStyle/>
          <a:p>
            <a:pPr marL="0" lvl="0" indent="0" algn="l" rtl="0">
              <a:lnSpc>
                <a:spcPct val="115000"/>
              </a:lnSpc>
              <a:spcBef>
                <a:spcPts val="0"/>
              </a:spcBef>
              <a:spcAft>
                <a:spcPts val="0"/>
              </a:spcAft>
              <a:buSzPts val="2400"/>
              <a:buNone/>
            </a:pPr>
            <a:r>
              <a:rPr lang="en-US" sz="2400">
                <a:solidFill>
                  <a:srgbClr val="595959"/>
                </a:solidFill>
                <a:latin typeface="Arial"/>
                <a:ea typeface="Arial"/>
                <a:cs typeface="Arial"/>
                <a:sym typeface="Arial"/>
              </a:rPr>
              <a:t>Total Data: 142</a:t>
            </a:r>
            <a:endParaRPr/>
          </a:p>
          <a:p>
            <a:pPr marL="0" lvl="0" indent="0" algn="l" rtl="0">
              <a:lnSpc>
                <a:spcPct val="115000"/>
              </a:lnSpc>
              <a:spcBef>
                <a:spcPts val="1600"/>
              </a:spcBef>
              <a:spcAft>
                <a:spcPts val="0"/>
              </a:spcAft>
              <a:buSzPts val="2400"/>
              <a:buNone/>
            </a:pPr>
            <a:r>
              <a:rPr lang="en-US" sz="2400">
                <a:solidFill>
                  <a:srgbClr val="595959"/>
                </a:solidFill>
                <a:latin typeface="Arial"/>
                <a:ea typeface="Arial"/>
                <a:cs typeface="Arial"/>
                <a:sym typeface="Arial"/>
              </a:rPr>
              <a:t>Goals: Identify factors associated with poultry disease outbreaks.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381521" y="417872"/>
            <a:ext cx="8520601" cy="5727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Histogram of Cases</a:t>
            </a:r>
            <a:endParaRPr/>
          </a:p>
        </p:txBody>
      </p:sp>
      <p:sp>
        <p:nvSpPr>
          <p:cNvPr id="115" name="Google Shape;115;p22"/>
          <p:cNvSpPr txBox="1">
            <a:spLocks noGrp="1"/>
          </p:cNvSpPr>
          <p:nvPr>
            <p:ph type="body" idx="1"/>
          </p:nvPr>
        </p:nvSpPr>
        <p:spPr>
          <a:xfrm>
            <a:off x="311699" y="931374"/>
            <a:ext cx="8520602" cy="3416401"/>
          </a:xfrm>
          <a:prstGeom prst="rect">
            <a:avLst/>
          </a:prstGeom>
          <a:noFill/>
          <a:ln>
            <a:noFill/>
          </a:ln>
        </p:spPr>
        <p:txBody>
          <a:bodyPr spcFirstLastPara="1" wrap="square" lIns="91400" tIns="91400" rIns="91400" bIns="91400" anchor="t" anchorCtr="0">
            <a:normAutofit/>
          </a:bodyPr>
          <a:lstStyle/>
          <a:p>
            <a:pPr marL="0" lvl="0" indent="0" algn="l" rtl="0">
              <a:lnSpc>
                <a:spcPct val="115000"/>
              </a:lnSpc>
              <a:spcBef>
                <a:spcPts val="0"/>
              </a:spcBef>
              <a:spcAft>
                <a:spcPts val="0"/>
              </a:spcAft>
              <a:buSzPts val="2400"/>
              <a:buNone/>
            </a:pPr>
            <a:r>
              <a:rPr lang="en-US" sz="2400">
                <a:solidFill>
                  <a:srgbClr val="595959"/>
                </a:solidFill>
                <a:latin typeface="Arial"/>
                <a:ea typeface="Arial"/>
                <a:cs typeface="Arial"/>
                <a:sym typeface="Arial"/>
              </a:rPr>
              <a:t>Case Frequency Distribution</a:t>
            </a:r>
            <a:endParaRPr/>
          </a:p>
          <a:p>
            <a:pPr marL="0" lvl="0" indent="0" algn="l" rtl="0">
              <a:lnSpc>
                <a:spcPct val="115000"/>
              </a:lnSpc>
              <a:spcBef>
                <a:spcPts val="1600"/>
              </a:spcBef>
              <a:spcAft>
                <a:spcPts val="0"/>
              </a:spcAft>
              <a:buSzPts val="2400"/>
              <a:buNone/>
            </a:pPr>
            <a:r>
              <a:rPr lang="en-US" sz="2400">
                <a:solidFill>
                  <a:srgbClr val="595959"/>
                </a:solidFill>
                <a:latin typeface="Arial"/>
                <a:ea typeface="Arial"/>
                <a:cs typeface="Arial"/>
                <a:sym typeface="Arial"/>
              </a:rPr>
              <a:t>i. Most Records have</a:t>
            </a:r>
            <a:br>
              <a:rPr lang="en-US" sz="2400">
                <a:solidFill>
                  <a:srgbClr val="595959"/>
                </a:solidFill>
                <a:latin typeface="Arial"/>
                <a:ea typeface="Arial"/>
                <a:cs typeface="Arial"/>
                <a:sym typeface="Arial"/>
              </a:rPr>
            </a:br>
            <a:r>
              <a:rPr lang="en-US" sz="2400">
                <a:solidFill>
                  <a:srgbClr val="595959"/>
                </a:solidFill>
                <a:latin typeface="Arial"/>
                <a:ea typeface="Arial"/>
                <a:cs typeface="Arial"/>
                <a:sym typeface="Arial"/>
              </a:rPr>
              <a:t>   1-2 cases.</a:t>
            </a:r>
            <a:endParaRPr/>
          </a:p>
          <a:p>
            <a:pPr marL="0" lvl="0" indent="0" algn="l" rtl="0">
              <a:lnSpc>
                <a:spcPct val="115000"/>
              </a:lnSpc>
              <a:spcBef>
                <a:spcPts val="1600"/>
              </a:spcBef>
              <a:spcAft>
                <a:spcPts val="0"/>
              </a:spcAft>
              <a:buSzPts val="2400"/>
              <a:buNone/>
            </a:pPr>
            <a:r>
              <a:rPr lang="en-US" sz="2400">
                <a:solidFill>
                  <a:srgbClr val="595959"/>
                </a:solidFill>
                <a:latin typeface="Arial"/>
                <a:ea typeface="Arial"/>
                <a:cs typeface="Arial"/>
                <a:sym typeface="Arial"/>
              </a:rPr>
              <a:t>ii. Few high cases.</a:t>
            </a:r>
            <a:endParaRPr/>
          </a:p>
        </p:txBody>
      </p:sp>
      <p:pic>
        <p:nvPicPr>
          <p:cNvPr id="116" name="Google Shape;116;p22" descr="Screenshot 2025-04-22 at 11.31.51 PM.pngGoogle Shape;68;p15"/>
          <p:cNvPicPr preferRelativeResize="0"/>
          <p:nvPr/>
        </p:nvPicPr>
        <p:blipFill rotWithShape="1">
          <a:blip r:embed="rId3">
            <a:alphaModFix/>
          </a:blip>
          <a:srcRect/>
          <a:stretch/>
        </p:blipFill>
        <p:spPr>
          <a:xfrm>
            <a:off x="3237690" y="2143517"/>
            <a:ext cx="5696176" cy="36915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311699" y="981349"/>
            <a:ext cx="8520602" cy="572702"/>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en-US" sz="2400"/>
              <a:t>Countplot of Clinical Signs</a:t>
            </a:r>
            <a:endParaRPr/>
          </a:p>
        </p:txBody>
      </p:sp>
      <p:sp>
        <p:nvSpPr>
          <p:cNvPr id="122" name="Google Shape;122;p23"/>
          <p:cNvSpPr txBox="1">
            <a:spLocks noGrp="1"/>
          </p:cNvSpPr>
          <p:nvPr>
            <p:ph type="body" idx="1"/>
          </p:nvPr>
        </p:nvSpPr>
        <p:spPr>
          <a:xfrm>
            <a:off x="311699" y="1376356"/>
            <a:ext cx="8520602" cy="3416401"/>
          </a:xfrm>
          <a:prstGeom prst="rect">
            <a:avLst/>
          </a:prstGeom>
          <a:noFill/>
          <a:ln>
            <a:noFill/>
          </a:ln>
        </p:spPr>
        <p:txBody>
          <a:bodyPr spcFirstLastPara="1" wrap="square" lIns="91400" tIns="91400" rIns="91400" bIns="91400" anchor="t" anchorCtr="0">
            <a:normAutofit/>
          </a:bodyPr>
          <a:lstStyle/>
          <a:p>
            <a:pPr marL="0" marR="0" lvl="0" indent="0" algn="l" rtl="0">
              <a:lnSpc>
                <a:spcPct val="115000"/>
              </a:lnSpc>
              <a:spcBef>
                <a:spcPts val="0"/>
              </a:spcBef>
              <a:spcAft>
                <a:spcPts val="0"/>
              </a:spcAft>
              <a:buClr>
                <a:srgbClr val="595959"/>
              </a:buClr>
              <a:buSzPts val="2400"/>
              <a:buFont typeface="Arial"/>
              <a:buNone/>
            </a:pPr>
            <a:r>
              <a:rPr lang="en-US" sz="2400">
                <a:solidFill>
                  <a:srgbClr val="595959"/>
                </a:solidFill>
                <a:latin typeface="Arial"/>
                <a:ea typeface="Arial"/>
                <a:cs typeface="Arial"/>
                <a:sym typeface="Arial"/>
              </a:rPr>
              <a:t>Clinical signs Distribution</a:t>
            </a:r>
            <a:endParaRPr/>
          </a:p>
        </p:txBody>
      </p:sp>
      <p:pic>
        <p:nvPicPr>
          <p:cNvPr id="123" name="Google Shape;123;p23" descr="Screenshot 2025-04-22 at 11.40.33 PM.pngGoogle Shape;75;p16"/>
          <p:cNvPicPr preferRelativeResize="0"/>
          <p:nvPr/>
        </p:nvPicPr>
        <p:blipFill rotWithShape="1">
          <a:blip r:embed="rId3">
            <a:alphaModFix/>
          </a:blip>
          <a:srcRect/>
          <a:stretch/>
        </p:blipFill>
        <p:spPr>
          <a:xfrm>
            <a:off x="630254" y="1845085"/>
            <a:ext cx="7559252" cy="38720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311699" y="1302274"/>
            <a:ext cx="8520602" cy="5727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Clinical Signs Distribution</a:t>
            </a:r>
            <a:endParaRPr/>
          </a:p>
        </p:txBody>
      </p:sp>
      <p:sp>
        <p:nvSpPr>
          <p:cNvPr id="129" name="Google Shape;129;p24"/>
          <p:cNvSpPr txBox="1">
            <a:spLocks noGrp="1"/>
          </p:cNvSpPr>
          <p:nvPr>
            <p:ph type="body" idx="1"/>
          </p:nvPr>
        </p:nvSpPr>
        <p:spPr>
          <a:xfrm>
            <a:off x="311699" y="2009725"/>
            <a:ext cx="8520602" cy="3416400"/>
          </a:xfrm>
          <a:prstGeom prst="rect">
            <a:avLst/>
          </a:prstGeom>
          <a:noFill/>
          <a:ln>
            <a:noFill/>
          </a:ln>
        </p:spPr>
        <p:txBody>
          <a:bodyPr spcFirstLastPara="1" wrap="square" lIns="91400" tIns="91400" rIns="91400" bIns="91400" anchor="t" anchorCtr="0">
            <a:normAutofit/>
          </a:bodyPr>
          <a:lstStyle/>
          <a:p>
            <a:pPr marL="0" lvl="0" indent="0" algn="l" rtl="0">
              <a:lnSpc>
                <a:spcPct val="115000"/>
              </a:lnSpc>
              <a:spcBef>
                <a:spcPts val="0"/>
              </a:spcBef>
              <a:spcAft>
                <a:spcPts val="0"/>
              </a:spcAft>
              <a:buSzPts val="2400"/>
              <a:buNone/>
            </a:pPr>
            <a:r>
              <a:rPr lang="en-US" sz="2400">
                <a:solidFill>
                  <a:srgbClr val="595959"/>
                </a:solidFill>
                <a:latin typeface="Arial"/>
                <a:ea typeface="Arial"/>
                <a:cs typeface="Arial"/>
                <a:sym typeface="Arial"/>
              </a:rPr>
              <a:t>i. Most frequent signs: Respiratory, Found Dead</a:t>
            </a:r>
            <a:endParaRPr/>
          </a:p>
          <a:p>
            <a:pPr marL="0" lvl="0" indent="0" algn="l" rtl="0">
              <a:lnSpc>
                <a:spcPct val="115000"/>
              </a:lnSpc>
              <a:spcBef>
                <a:spcPts val="1600"/>
              </a:spcBef>
              <a:spcAft>
                <a:spcPts val="0"/>
              </a:spcAft>
              <a:buSzPts val="2400"/>
              <a:buNone/>
            </a:pPr>
            <a:r>
              <a:rPr lang="en-US" sz="2400">
                <a:solidFill>
                  <a:srgbClr val="595959"/>
                </a:solidFill>
                <a:latin typeface="Arial"/>
                <a:ea typeface="Arial"/>
                <a:cs typeface="Arial"/>
                <a:sym typeface="Arial"/>
              </a:rPr>
              <a:t>ii. Commonly observed Symptoms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5"/>
          <p:cNvSpPr txBox="1">
            <a:spLocks noGrp="1"/>
          </p:cNvSpPr>
          <p:nvPr>
            <p:ph type="title"/>
          </p:nvPr>
        </p:nvSpPr>
        <p:spPr>
          <a:xfrm>
            <a:off x="311699" y="999199"/>
            <a:ext cx="8520602" cy="5727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Scatterplot: Temperature vs Cases</a:t>
            </a:r>
            <a:endParaRPr/>
          </a:p>
        </p:txBody>
      </p:sp>
      <p:pic>
        <p:nvPicPr>
          <p:cNvPr id="135" name="Google Shape;135;p25" descr="Screenshot 2025-04-22 at 11.45.08 PM.pngGoogle Shape;88;p18"/>
          <p:cNvPicPr preferRelativeResize="0"/>
          <p:nvPr/>
        </p:nvPicPr>
        <p:blipFill rotWithShape="1">
          <a:blip r:embed="rId3">
            <a:alphaModFix/>
          </a:blip>
          <a:srcRect/>
          <a:stretch/>
        </p:blipFill>
        <p:spPr>
          <a:xfrm>
            <a:off x="535238" y="1683112"/>
            <a:ext cx="7324726" cy="42195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218604" y="208408"/>
            <a:ext cx="8520602" cy="5727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Boxplot (Clinical Sign vs Cases)</a:t>
            </a:r>
            <a:endParaRPr/>
          </a:p>
        </p:txBody>
      </p:sp>
      <p:sp>
        <p:nvSpPr>
          <p:cNvPr id="141" name="Google Shape;141;p26"/>
          <p:cNvSpPr txBox="1">
            <a:spLocks noGrp="1"/>
          </p:cNvSpPr>
          <p:nvPr>
            <p:ph type="body" idx="1"/>
          </p:nvPr>
        </p:nvSpPr>
        <p:spPr>
          <a:xfrm>
            <a:off x="218604" y="861553"/>
            <a:ext cx="8520602" cy="3416401"/>
          </a:xfrm>
          <a:prstGeom prst="rect">
            <a:avLst/>
          </a:prstGeom>
          <a:noFill/>
          <a:ln>
            <a:noFill/>
          </a:ln>
        </p:spPr>
        <p:txBody>
          <a:bodyPr spcFirstLastPara="1" wrap="square" lIns="91400" tIns="91400" rIns="91400" bIns="91400" anchor="t" anchorCtr="0">
            <a:normAutofit/>
          </a:bodyPr>
          <a:lstStyle/>
          <a:p>
            <a:pPr marL="0" lvl="0" indent="0" algn="l" rtl="0">
              <a:lnSpc>
                <a:spcPct val="115000"/>
              </a:lnSpc>
              <a:spcBef>
                <a:spcPts val="0"/>
              </a:spcBef>
              <a:spcAft>
                <a:spcPts val="0"/>
              </a:spcAft>
              <a:buSzPts val="2400"/>
              <a:buNone/>
            </a:pPr>
            <a:r>
              <a:rPr lang="en-US" sz="2400">
                <a:solidFill>
                  <a:srgbClr val="595959"/>
                </a:solidFill>
                <a:latin typeface="Arial"/>
                <a:ea typeface="Arial"/>
                <a:cs typeface="Arial"/>
                <a:sym typeface="Arial"/>
              </a:rPr>
              <a:t>i. Outliers for “Found Dead” category.</a:t>
            </a:r>
            <a:endParaRPr/>
          </a:p>
          <a:p>
            <a:pPr marL="0" lvl="0" indent="0" algn="l" rtl="0">
              <a:lnSpc>
                <a:spcPct val="115000"/>
              </a:lnSpc>
              <a:spcBef>
                <a:spcPts val="1600"/>
              </a:spcBef>
              <a:spcAft>
                <a:spcPts val="0"/>
              </a:spcAft>
              <a:buSzPts val="2400"/>
              <a:buNone/>
            </a:pPr>
            <a:r>
              <a:rPr lang="en-US" sz="2400">
                <a:solidFill>
                  <a:srgbClr val="595959"/>
                </a:solidFill>
                <a:latin typeface="Arial"/>
                <a:ea typeface="Arial"/>
                <a:cs typeface="Arial"/>
                <a:sym typeface="Arial"/>
              </a:rPr>
              <a:t>ii. Helps identify which signs are linked</a:t>
            </a:r>
            <a:br>
              <a:rPr lang="en-US" sz="2400">
                <a:solidFill>
                  <a:srgbClr val="595959"/>
                </a:solidFill>
                <a:latin typeface="Arial"/>
                <a:ea typeface="Arial"/>
                <a:cs typeface="Arial"/>
                <a:sym typeface="Arial"/>
              </a:rPr>
            </a:br>
            <a:r>
              <a:rPr lang="en-US" sz="2400">
                <a:solidFill>
                  <a:srgbClr val="595959"/>
                </a:solidFill>
                <a:latin typeface="Arial"/>
                <a:ea typeface="Arial"/>
                <a:cs typeface="Arial"/>
                <a:sym typeface="Arial"/>
              </a:rPr>
              <a:t>To high case counts.</a:t>
            </a:r>
            <a:endParaRPr/>
          </a:p>
        </p:txBody>
      </p:sp>
      <p:pic>
        <p:nvPicPr>
          <p:cNvPr id="142" name="Google Shape;142;p26" descr="Screenshot 2025-04-22 at 11.46.45 PM.pngGoogle Shape;95;p19"/>
          <p:cNvPicPr preferRelativeResize="0"/>
          <p:nvPr/>
        </p:nvPicPr>
        <p:blipFill rotWithShape="1">
          <a:blip r:embed="rId3">
            <a:alphaModFix/>
          </a:blip>
          <a:srcRect/>
          <a:stretch/>
        </p:blipFill>
        <p:spPr>
          <a:xfrm>
            <a:off x="3233634" y="2021454"/>
            <a:ext cx="5404805" cy="42753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title"/>
          </p:nvPr>
        </p:nvSpPr>
        <p:spPr>
          <a:xfrm>
            <a:off x="311699" y="963525"/>
            <a:ext cx="8520602" cy="572701"/>
          </a:xfrm>
          <a:prstGeom prst="rect">
            <a:avLst/>
          </a:prstGeom>
          <a:noFill/>
          <a:ln>
            <a:noFill/>
          </a:ln>
        </p:spPr>
        <p:txBody>
          <a:bodyPr spcFirstLastPara="1" wrap="square" lIns="91400" tIns="91400" rIns="91400" bIns="91400" anchor="t" anchorCtr="0">
            <a:normAutofit/>
          </a:bodyPr>
          <a:lstStyle/>
          <a:p>
            <a:pPr marL="0" lvl="0" indent="0" algn="l" rtl="0">
              <a:lnSpc>
                <a:spcPct val="100000"/>
              </a:lnSpc>
              <a:spcBef>
                <a:spcPts val="0"/>
              </a:spcBef>
              <a:spcAft>
                <a:spcPts val="0"/>
              </a:spcAft>
              <a:buClr>
                <a:srgbClr val="000000"/>
              </a:buClr>
              <a:buSzPts val="960"/>
              <a:buFont typeface="Arial"/>
              <a:buNone/>
            </a:pPr>
            <a:r>
              <a:rPr lang="en-US" sz="960"/>
              <a:t>Heatmap: Correlation Matrix 	</a:t>
            </a:r>
            <a:endParaRPr sz="1040"/>
          </a:p>
          <a:p>
            <a:pPr marL="0" lvl="0" indent="0" algn="l" rtl="0">
              <a:lnSpc>
                <a:spcPct val="100000"/>
              </a:lnSpc>
              <a:spcBef>
                <a:spcPts val="0"/>
              </a:spcBef>
              <a:spcAft>
                <a:spcPts val="0"/>
              </a:spcAft>
              <a:buClr>
                <a:srgbClr val="000000"/>
              </a:buClr>
              <a:buSzPts val="1280"/>
              <a:buFont typeface="Arial"/>
              <a:buNone/>
            </a:pPr>
            <a:r>
              <a:rPr lang="en-US" sz="1280"/>
              <a:t>		</a:t>
            </a:r>
            <a:endParaRPr/>
          </a:p>
          <a:p>
            <a:pPr marL="0" lvl="0" indent="0" algn="l" rtl="0">
              <a:lnSpc>
                <a:spcPct val="100000"/>
              </a:lnSpc>
              <a:spcBef>
                <a:spcPts val="0"/>
              </a:spcBef>
              <a:spcAft>
                <a:spcPts val="0"/>
              </a:spcAft>
              <a:buClr>
                <a:srgbClr val="000000"/>
              </a:buClr>
              <a:buSzPts val="1280"/>
              <a:buFont typeface="Arial"/>
              <a:buNone/>
            </a:pPr>
            <a:endParaRPr sz="1280"/>
          </a:p>
        </p:txBody>
      </p:sp>
      <p:sp>
        <p:nvSpPr>
          <p:cNvPr id="148" name="Google Shape;148;p27"/>
          <p:cNvSpPr txBox="1">
            <a:spLocks noGrp="1"/>
          </p:cNvSpPr>
          <p:nvPr>
            <p:ph type="body" idx="1"/>
          </p:nvPr>
        </p:nvSpPr>
        <p:spPr>
          <a:xfrm>
            <a:off x="311699" y="1536225"/>
            <a:ext cx="8520602" cy="3416401"/>
          </a:xfrm>
          <a:prstGeom prst="rect">
            <a:avLst/>
          </a:prstGeom>
          <a:noFill/>
          <a:ln>
            <a:noFill/>
          </a:ln>
        </p:spPr>
        <p:txBody>
          <a:bodyPr spcFirstLastPara="1" wrap="square" lIns="91400" tIns="91400" rIns="91400" bIns="91400" anchor="t" anchorCtr="0">
            <a:normAutofit/>
          </a:bodyPr>
          <a:lstStyle/>
          <a:p>
            <a:pPr marL="0" marR="0" lvl="0" indent="0" algn="l" rtl="0">
              <a:lnSpc>
                <a:spcPct val="115000"/>
              </a:lnSpc>
              <a:spcBef>
                <a:spcPts val="0"/>
              </a:spcBef>
              <a:spcAft>
                <a:spcPts val="0"/>
              </a:spcAft>
              <a:buClr>
                <a:srgbClr val="595959"/>
              </a:buClr>
              <a:buSzPts val="2400"/>
              <a:buFont typeface="Arial"/>
              <a:buNone/>
            </a:pPr>
            <a:r>
              <a:rPr lang="en-US" sz="2400">
                <a:solidFill>
                  <a:srgbClr val="595959"/>
                </a:solidFill>
                <a:latin typeface="Arial"/>
                <a:ea typeface="Arial"/>
                <a:cs typeface="Arial"/>
                <a:sym typeface="Arial"/>
              </a:rPr>
              <a:t> </a:t>
            </a:r>
            <a:endParaRPr/>
          </a:p>
        </p:txBody>
      </p:sp>
      <p:pic>
        <p:nvPicPr>
          <p:cNvPr id="149" name="Google Shape;149;p27" descr="Screenshot 2025-04-22 at 11.49.31 PM.pngGoogle Shape;102;p20"/>
          <p:cNvPicPr preferRelativeResize="0"/>
          <p:nvPr/>
        </p:nvPicPr>
        <p:blipFill rotWithShape="1">
          <a:blip r:embed="rId3">
            <a:alphaModFix/>
          </a:blip>
          <a:srcRect/>
          <a:stretch/>
        </p:blipFill>
        <p:spPr>
          <a:xfrm>
            <a:off x="552674" y="1593949"/>
            <a:ext cx="8343701" cy="4219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8"/>
          <p:cNvSpPr txBox="1">
            <a:spLocks noGrp="1"/>
          </p:cNvSpPr>
          <p:nvPr>
            <p:ph type="title"/>
          </p:nvPr>
        </p:nvSpPr>
        <p:spPr>
          <a:xfrm>
            <a:off x="311699" y="1302274"/>
            <a:ext cx="8520602" cy="5727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Heatmap</a:t>
            </a:r>
            <a:endParaRPr/>
          </a:p>
        </p:txBody>
      </p:sp>
      <p:sp>
        <p:nvSpPr>
          <p:cNvPr id="155" name="Google Shape;155;p28"/>
          <p:cNvSpPr txBox="1">
            <a:spLocks noGrp="1"/>
          </p:cNvSpPr>
          <p:nvPr>
            <p:ph type="body" idx="1"/>
          </p:nvPr>
        </p:nvSpPr>
        <p:spPr>
          <a:xfrm>
            <a:off x="311699" y="2009725"/>
            <a:ext cx="8520602" cy="3416400"/>
          </a:xfrm>
          <a:prstGeom prst="rect">
            <a:avLst/>
          </a:prstGeom>
          <a:noFill/>
          <a:ln>
            <a:noFill/>
          </a:ln>
        </p:spPr>
        <p:txBody>
          <a:bodyPr spcFirstLastPara="1" wrap="square" lIns="91400" tIns="91400" rIns="91400" bIns="91400" anchor="t" anchorCtr="0">
            <a:normAutofit/>
          </a:bodyPr>
          <a:lstStyle/>
          <a:p>
            <a:pPr marL="0" lvl="0" indent="0" algn="l" rtl="0">
              <a:lnSpc>
                <a:spcPct val="115000"/>
              </a:lnSpc>
              <a:spcBef>
                <a:spcPts val="0"/>
              </a:spcBef>
              <a:spcAft>
                <a:spcPts val="0"/>
              </a:spcAft>
              <a:buSzPts val="2400"/>
              <a:buNone/>
            </a:pPr>
            <a:r>
              <a:rPr lang="en-US" sz="2400">
                <a:solidFill>
                  <a:srgbClr val="595959"/>
                </a:solidFill>
                <a:latin typeface="Arial"/>
                <a:ea typeface="Arial"/>
                <a:cs typeface="Arial"/>
                <a:sym typeface="Arial"/>
              </a:rPr>
              <a:t>i. Moderate correlation between temperature, poultry density, and outbreak probability</a:t>
            </a:r>
            <a:br>
              <a:rPr lang="en-US" sz="2400">
                <a:solidFill>
                  <a:srgbClr val="595959"/>
                </a:solidFill>
                <a:latin typeface="Arial"/>
                <a:ea typeface="Arial"/>
                <a:cs typeface="Arial"/>
                <a:sym typeface="Arial"/>
              </a:rPr>
            </a:br>
            <a:r>
              <a:rPr lang="en-US" sz="2400">
                <a:solidFill>
                  <a:srgbClr val="595959"/>
                </a:solidFill>
                <a:latin typeface="Arial"/>
                <a:ea typeface="Arial"/>
                <a:cs typeface="Arial"/>
                <a:sym typeface="Arial"/>
              </a:rPr>
              <a:t>ii. Justifies their use in modelling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xfrm>
            <a:off x="311699" y="1302274"/>
            <a:ext cx="8520602" cy="5727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Insights</a:t>
            </a:r>
            <a:endParaRPr/>
          </a:p>
        </p:txBody>
      </p:sp>
      <p:sp>
        <p:nvSpPr>
          <p:cNvPr id="161" name="Google Shape;161;p29"/>
          <p:cNvSpPr txBox="1">
            <a:spLocks noGrp="1"/>
          </p:cNvSpPr>
          <p:nvPr>
            <p:ph type="body" idx="1"/>
          </p:nvPr>
        </p:nvSpPr>
        <p:spPr>
          <a:xfrm>
            <a:off x="311699" y="2009725"/>
            <a:ext cx="8520602" cy="3416400"/>
          </a:xfrm>
          <a:prstGeom prst="rect">
            <a:avLst/>
          </a:prstGeom>
          <a:noFill/>
          <a:ln>
            <a:noFill/>
          </a:ln>
        </p:spPr>
        <p:txBody>
          <a:bodyPr spcFirstLastPara="1" wrap="square" lIns="91400" tIns="91400" rIns="91400" bIns="91400" anchor="t" anchorCtr="0">
            <a:normAutofit lnSpcReduction="10000"/>
          </a:bodyPr>
          <a:lstStyle/>
          <a:p>
            <a:pPr marL="0" lvl="0" indent="0" algn="l" rtl="0">
              <a:lnSpc>
                <a:spcPct val="92000"/>
              </a:lnSpc>
              <a:spcBef>
                <a:spcPts val="0"/>
              </a:spcBef>
              <a:spcAft>
                <a:spcPts val="0"/>
              </a:spcAft>
              <a:buSzPts val="2256"/>
              <a:buNone/>
            </a:pPr>
            <a:r>
              <a:rPr lang="en-US" sz="2256"/>
              <a:t>i. EDA showed low-to-moderate relationships between outbreak likelihood and environmental factors</a:t>
            </a:r>
            <a:br>
              <a:rPr lang="en-US" sz="2256"/>
            </a:br>
            <a:endParaRPr/>
          </a:p>
          <a:p>
            <a:pPr marL="0" lvl="0" indent="0" algn="l" rtl="0">
              <a:lnSpc>
                <a:spcPct val="92000"/>
              </a:lnSpc>
              <a:spcBef>
                <a:spcPts val="1500"/>
              </a:spcBef>
              <a:spcAft>
                <a:spcPts val="0"/>
              </a:spcAft>
              <a:buSzPts val="2256"/>
              <a:buNone/>
            </a:pPr>
            <a:r>
              <a:rPr lang="en-US" sz="2256"/>
              <a:t>ii. Temperature and poultry density selected for modelling</a:t>
            </a:r>
            <a:endParaRPr/>
          </a:p>
          <a:p>
            <a:pPr marL="0" lvl="0" indent="0" algn="l" rtl="0">
              <a:lnSpc>
                <a:spcPct val="92000"/>
              </a:lnSpc>
              <a:spcBef>
                <a:spcPts val="1500"/>
              </a:spcBef>
              <a:spcAft>
                <a:spcPts val="0"/>
              </a:spcAft>
              <a:buSzPts val="2256"/>
              <a:buNone/>
            </a:pPr>
            <a:endParaRPr sz="2256"/>
          </a:p>
          <a:p>
            <a:pPr marL="0" lvl="0" indent="0" algn="l" rtl="0">
              <a:lnSpc>
                <a:spcPct val="92000"/>
              </a:lnSpc>
              <a:spcBef>
                <a:spcPts val="1500"/>
              </a:spcBef>
              <a:spcAft>
                <a:spcPts val="0"/>
              </a:spcAft>
              <a:buSzPts val="2256"/>
              <a:buNone/>
            </a:pPr>
            <a:r>
              <a:rPr lang="en-US" sz="2256"/>
              <a:t>iii. Barplot, Lineplot</a:t>
            </a:r>
            <a:br>
              <a:rPr lang="en-US" sz="2256"/>
            </a:br>
            <a:endParaRPr/>
          </a:p>
          <a:p>
            <a:pPr marL="0" lvl="0" indent="0" algn="l" rtl="0">
              <a:lnSpc>
                <a:spcPct val="92000"/>
              </a:lnSpc>
              <a:spcBef>
                <a:spcPts val="1500"/>
              </a:spcBef>
              <a:spcAft>
                <a:spcPts val="0"/>
              </a:spcAft>
              <a:buSzPts val="2256"/>
              <a:buNone/>
            </a:pPr>
            <a:r>
              <a:rPr lang="en-US" sz="2256"/>
              <a:t>iii. Next step: Build and evaluate regression model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0"/>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475"/>
              <a:buFont typeface="Play"/>
              <a:buNone/>
            </a:pPr>
            <a:r>
              <a:rPr lang="en-US" sz="3475" b="1"/>
              <a:t>Implementation of Regression Model</a:t>
            </a:r>
            <a:endParaRPr/>
          </a:p>
        </p:txBody>
      </p:sp>
      <p:sp>
        <p:nvSpPr>
          <p:cNvPr id="167" name="Google Shape;167;p30"/>
          <p:cNvSpPr txBox="1"/>
          <p:nvPr/>
        </p:nvSpPr>
        <p:spPr>
          <a:xfrm>
            <a:off x="662939" y="2125266"/>
            <a:ext cx="7818121" cy="620943"/>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888888"/>
              </a:buClr>
              <a:buSzPts val="2368"/>
              <a:buFont typeface="Arial"/>
              <a:buNone/>
            </a:pPr>
            <a:r>
              <a:rPr lang="en-US" sz="2368" b="0" i="0" u="none" strike="noStrike" cap="none">
                <a:solidFill>
                  <a:srgbClr val="888888"/>
                </a:solidFill>
                <a:latin typeface="Arial"/>
                <a:ea typeface="Arial"/>
                <a:cs typeface="Arial"/>
                <a:sym typeface="Arial"/>
              </a:rPr>
              <a:t>Linear and Logistic Regression Analysis on Avian Dataset</a:t>
            </a:r>
            <a:endParaRPr/>
          </a:p>
        </p:txBody>
      </p:sp>
      <p:sp>
        <p:nvSpPr>
          <p:cNvPr id="168" name="Google Shape;168;p30"/>
          <p:cNvSpPr txBox="1"/>
          <p:nvPr/>
        </p:nvSpPr>
        <p:spPr>
          <a:xfrm>
            <a:off x="946205" y="3119438"/>
            <a:ext cx="7685731" cy="2279451"/>
          </a:xfrm>
          <a:prstGeom prst="rect">
            <a:avLst/>
          </a:prstGeom>
          <a:noFill/>
          <a:ln>
            <a:noFill/>
          </a:ln>
        </p:spPr>
        <p:txBody>
          <a:bodyPr spcFirstLastPara="1" wrap="square" lIns="34275" tIns="34275" rIns="34275" bIns="34275" anchor="t" anchorCtr="0">
            <a:normAutofit/>
          </a:bodyPr>
          <a:lstStyle/>
          <a:p>
            <a:pPr marL="342900" marR="0" lvl="0" indent="-342900" algn="l" rtl="0">
              <a:lnSpc>
                <a:spcPct val="100000"/>
              </a:lnSpc>
              <a:spcBef>
                <a:spcPts val="0"/>
              </a:spcBef>
              <a:spcAft>
                <a:spcPts val="0"/>
              </a:spcAft>
              <a:buClr>
                <a:srgbClr val="000000"/>
              </a:buClr>
              <a:buSzPts val="4000"/>
              <a:buFont typeface="Arial"/>
              <a:buChar char="•"/>
            </a:pPr>
            <a:r>
              <a:rPr lang="en-US" sz="4000" b="1" i="0" u="none" strike="noStrike" cap="none" dirty="0">
                <a:solidFill>
                  <a:srgbClr val="000000"/>
                </a:solidFill>
                <a:latin typeface="Calibri"/>
                <a:ea typeface="Calibri"/>
                <a:cs typeface="Calibri"/>
                <a:sym typeface="Calibri"/>
              </a:rPr>
              <a:t>Split the data:</a:t>
            </a:r>
            <a:endParaRPr sz="3200" b="0" i="0" u="none" strike="noStrike" cap="none" dirty="0">
              <a:solidFill>
                <a:srgbClr val="000000"/>
              </a:solidFill>
              <a:latin typeface="Calibri"/>
              <a:ea typeface="Calibri"/>
              <a:cs typeface="Calibri"/>
              <a:sym typeface="Calibri"/>
            </a:endParaRPr>
          </a:p>
          <a:p>
            <a:pPr marL="742950" marR="0" lvl="1" indent="-285750" algn="l" rtl="0">
              <a:lnSpc>
                <a:spcPct val="100000"/>
              </a:lnSpc>
              <a:spcBef>
                <a:spcPts val="600"/>
              </a:spcBef>
              <a:spcAft>
                <a:spcPts val="0"/>
              </a:spcAft>
              <a:buClr>
                <a:srgbClr val="000000"/>
              </a:buClr>
              <a:buSzPts val="2800"/>
              <a:buFont typeface="Calibri"/>
              <a:buChar char="➢"/>
            </a:pPr>
            <a:r>
              <a:rPr lang="en-US" sz="2800" b="0" i="0" u="none" strike="noStrike" cap="none" dirty="0">
                <a:solidFill>
                  <a:srgbClr val="000000"/>
                </a:solidFill>
                <a:latin typeface="Calibri"/>
                <a:ea typeface="Calibri"/>
                <a:cs typeface="Calibri"/>
                <a:sym typeface="Calibri"/>
              </a:rPr>
              <a:t>80% for training               </a:t>
            </a:r>
            <a:endParaRPr dirty="0"/>
          </a:p>
          <a:p>
            <a:pPr marL="742950" marR="0" lvl="1" indent="-285750" algn="l" rtl="0">
              <a:lnSpc>
                <a:spcPct val="100000"/>
              </a:lnSpc>
              <a:spcBef>
                <a:spcPts val="600"/>
              </a:spcBef>
              <a:spcAft>
                <a:spcPts val="0"/>
              </a:spcAft>
              <a:buClr>
                <a:srgbClr val="000000"/>
              </a:buClr>
              <a:buSzPts val="2800"/>
              <a:buFont typeface="Calibri"/>
              <a:buChar char="➢"/>
            </a:pPr>
            <a:r>
              <a:rPr lang="en-US" sz="2800" b="0" i="0" u="none" strike="noStrike" cap="none" dirty="0">
                <a:solidFill>
                  <a:srgbClr val="000000"/>
                </a:solidFill>
                <a:latin typeface="Calibri"/>
                <a:ea typeface="Calibri"/>
                <a:cs typeface="Calibri"/>
                <a:sym typeface="Calibri"/>
              </a:rPr>
              <a:t>20% for testing             correlated data with less variance were selected for better outcomes.</a:t>
            </a:r>
            <a:endParaRPr dirty="0"/>
          </a:p>
        </p:txBody>
      </p:sp>
      <p:cxnSp>
        <p:nvCxnSpPr>
          <p:cNvPr id="3" name="Straight Arrow Connector 2">
            <a:extLst>
              <a:ext uri="{FF2B5EF4-FFF2-40B4-BE49-F238E27FC236}">
                <a16:creationId xmlns:a16="http://schemas.microsoft.com/office/drawing/2014/main" id="{0269A6D7-FDC3-FD3D-7FF1-5C30555DC02D}"/>
              </a:ext>
            </a:extLst>
          </p:cNvPr>
          <p:cNvCxnSpPr/>
          <p:nvPr/>
        </p:nvCxnSpPr>
        <p:spPr>
          <a:xfrm>
            <a:off x="4242816" y="4645152"/>
            <a:ext cx="6858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628650" y="600741"/>
            <a:ext cx="7886700" cy="713710"/>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872"/>
              <a:buFont typeface="Play"/>
              <a:buNone/>
            </a:pPr>
            <a:r>
              <a:rPr lang="en-US" sz="3872" b="1" dirty="0"/>
              <a:t>Justifications for Chosen Models</a:t>
            </a:r>
            <a:endParaRPr dirty="0"/>
          </a:p>
        </p:txBody>
      </p:sp>
      <p:sp>
        <p:nvSpPr>
          <p:cNvPr id="174" name="Google Shape;174;p31"/>
          <p:cNvSpPr txBox="1"/>
          <p:nvPr/>
        </p:nvSpPr>
        <p:spPr>
          <a:xfrm>
            <a:off x="628650" y="1692120"/>
            <a:ext cx="8039862" cy="4736112"/>
          </a:xfrm>
          <a:prstGeom prst="rect">
            <a:avLst/>
          </a:prstGeom>
          <a:noFill/>
          <a:ln>
            <a:noFill/>
          </a:ln>
        </p:spPr>
        <p:txBody>
          <a:bodyPr spcFirstLastPara="1" wrap="square" lIns="34275" tIns="34275" rIns="34275" bIns="34275" anchor="t" anchorCtr="0">
            <a:normAutofit/>
          </a:bodyPr>
          <a:lstStyle/>
          <a:p>
            <a:pPr marL="247650" marR="0" lvl="0" indent="-247650" algn="l" rtl="0">
              <a:lnSpc>
                <a:spcPct val="80000"/>
              </a:lnSpc>
              <a:spcBef>
                <a:spcPts val="0"/>
              </a:spcBef>
              <a:spcAft>
                <a:spcPts val="0"/>
              </a:spcAft>
              <a:buClr>
                <a:srgbClr val="000000"/>
              </a:buClr>
              <a:buSzPts val="1950"/>
              <a:buFont typeface="Arial"/>
              <a:buChar char="•"/>
            </a:pPr>
            <a:r>
              <a:rPr lang="en-US" sz="1950" b="1" i="0" u="none" strike="noStrike" cap="none" dirty="0">
                <a:solidFill>
                  <a:srgbClr val="000000"/>
                </a:solidFill>
                <a:latin typeface="Calibri"/>
                <a:ea typeface="Calibri"/>
                <a:cs typeface="Calibri"/>
                <a:sym typeface="Calibri"/>
              </a:rPr>
              <a:t>Linear Regression:</a:t>
            </a:r>
            <a:endParaRPr dirty="0"/>
          </a:p>
          <a:p>
            <a:pPr marL="247650" marR="0" lvl="0" indent="-247650" algn="l" rtl="0">
              <a:lnSpc>
                <a:spcPct val="80000"/>
              </a:lnSpc>
              <a:spcBef>
                <a:spcPts val="400"/>
              </a:spcBef>
              <a:spcAft>
                <a:spcPts val="0"/>
              </a:spcAft>
              <a:buClr>
                <a:srgbClr val="000000"/>
              </a:buClr>
              <a:buSzPts val="1950"/>
              <a:buFont typeface="Calibri"/>
              <a:buChar char="➢"/>
            </a:pPr>
            <a:r>
              <a:rPr lang="en-US" sz="1950" b="0" i="0" u="none" strike="noStrike" cap="none" dirty="0">
                <a:solidFill>
                  <a:srgbClr val="000000"/>
                </a:solidFill>
                <a:latin typeface="Calibri"/>
                <a:ea typeface="Calibri"/>
                <a:cs typeface="Calibri"/>
                <a:sym typeface="Calibri"/>
              </a:rPr>
              <a:t>Purpose: Predicts a continuous dependent variable using features like Temperature, Poultry Density.</a:t>
            </a:r>
            <a:endParaRPr dirty="0"/>
          </a:p>
          <a:p>
            <a:pPr marL="247650" marR="0" lvl="0" indent="-247650" algn="l" rtl="0">
              <a:lnSpc>
                <a:spcPct val="80000"/>
              </a:lnSpc>
              <a:spcBef>
                <a:spcPts val="400"/>
              </a:spcBef>
              <a:spcAft>
                <a:spcPts val="0"/>
              </a:spcAft>
              <a:buClr>
                <a:srgbClr val="000000"/>
              </a:buClr>
              <a:buSzPts val="1950"/>
              <a:buFont typeface="Calibri"/>
              <a:buChar char="➢"/>
            </a:pPr>
            <a:r>
              <a:rPr lang="en-US" sz="1950" b="0" i="0" u="none" strike="noStrike" cap="none" dirty="0">
                <a:solidFill>
                  <a:srgbClr val="000000"/>
                </a:solidFill>
                <a:latin typeface="Calibri"/>
                <a:ea typeface="Calibri"/>
                <a:cs typeface="Calibri"/>
                <a:sym typeface="Calibri"/>
              </a:rPr>
              <a:t>Justification: Appropriate since 'Outbreak Logistics Regression' is continuous.</a:t>
            </a:r>
            <a:endParaRPr dirty="0"/>
          </a:p>
          <a:p>
            <a:pPr marL="257175" marR="0" lvl="0" indent="-133350" algn="l" rtl="0">
              <a:lnSpc>
                <a:spcPct val="80000"/>
              </a:lnSpc>
              <a:spcBef>
                <a:spcPts val="400"/>
              </a:spcBef>
              <a:spcAft>
                <a:spcPts val="0"/>
              </a:spcAft>
              <a:buClr>
                <a:srgbClr val="000000"/>
              </a:buClr>
              <a:buSzPts val="1950"/>
              <a:buFont typeface="Arial"/>
              <a:buNone/>
            </a:pPr>
            <a:endParaRPr sz="1950" b="0" i="0" u="none" strike="noStrike" cap="none" dirty="0">
              <a:solidFill>
                <a:srgbClr val="000000"/>
              </a:solidFill>
              <a:latin typeface="Calibri"/>
              <a:ea typeface="Calibri"/>
              <a:cs typeface="Calibri"/>
              <a:sym typeface="Calibri"/>
            </a:endParaRPr>
          </a:p>
          <a:p>
            <a:pPr marL="247650" marR="0" lvl="0" indent="-247650" algn="l" rtl="0">
              <a:lnSpc>
                <a:spcPct val="80000"/>
              </a:lnSpc>
              <a:spcBef>
                <a:spcPts val="400"/>
              </a:spcBef>
              <a:spcAft>
                <a:spcPts val="0"/>
              </a:spcAft>
              <a:buClr>
                <a:srgbClr val="000000"/>
              </a:buClr>
              <a:buSzPts val="1950"/>
              <a:buFont typeface="Arial"/>
              <a:buChar char="•"/>
            </a:pPr>
            <a:r>
              <a:rPr lang="en-US" sz="1950" b="1" i="0" u="none" strike="noStrike" cap="none" dirty="0">
                <a:solidFill>
                  <a:srgbClr val="000000"/>
                </a:solidFill>
                <a:latin typeface="Calibri"/>
                <a:ea typeface="Calibri"/>
                <a:cs typeface="Calibri"/>
                <a:sym typeface="Calibri"/>
              </a:rPr>
              <a:t>Logistic Regression:</a:t>
            </a:r>
            <a:endParaRPr dirty="0"/>
          </a:p>
          <a:p>
            <a:pPr marL="247650" marR="0" lvl="0" indent="-247650" algn="l" rtl="0">
              <a:lnSpc>
                <a:spcPct val="80000"/>
              </a:lnSpc>
              <a:spcBef>
                <a:spcPts val="400"/>
              </a:spcBef>
              <a:spcAft>
                <a:spcPts val="0"/>
              </a:spcAft>
              <a:buClr>
                <a:srgbClr val="000000"/>
              </a:buClr>
              <a:buSzPts val="1950"/>
              <a:buFont typeface="Calibri"/>
              <a:buChar char="➢"/>
            </a:pPr>
            <a:r>
              <a:rPr lang="en-US" sz="1950" b="0" i="0" u="none" strike="noStrike" cap="none" dirty="0">
                <a:solidFill>
                  <a:srgbClr val="000000"/>
                </a:solidFill>
                <a:latin typeface="Calibri"/>
                <a:ea typeface="Calibri"/>
                <a:cs typeface="Calibri"/>
                <a:sym typeface="Calibri"/>
              </a:rPr>
              <a:t>Purpose: Predicts binary outcomes (e.g., outbreak vs. no outbreak).</a:t>
            </a:r>
            <a:endParaRPr dirty="0"/>
          </a:p>
          <a:p>
            <a:pPr marL="247650" marR="0" lvl="0" indent="-247650" algn="l" rtl="0">
              <a:lnSpc>
                <a:spcPct val="80000"/>
              </a:lnSpc>
              <a:spcBef>
                <a:spcPts val="400"/>
              </a:spcBef>
              <a:spcAft>
                <a:spcPts val="0"/>
              </a:spcAft>
              <a:buClr>
                <a:srgbClr val="000000"/>
              </a:buClr>
              <a:buSzPts val="1950"/>
              <a:buFont typeface="Calibri"/>
              <a:buChar char="➢"/>
            </a:pPr>
            <a:r>
              <a:rPr lang="en-US" sz="1950" b="0" i="0" u="none" strike="noStrike" cap="none" dirty="0">
                <a:solidFill>
                  <a:srgbClr val="000000"/>
                </a:solidFill>
                <a:latin typeface="Calibri"/>
                <a:ea typeface="Calibri"/>
                <a:cs typeface="Calibri"/>
                <a:sym typeface="Calibri"/>
              </a:rPr>
              <a:t>Justification: Ideal for 'Cases' variable transformed into binary (0 = No Outbreak, 1 = Outbreak).</a:t>
            </a:r>
          </a:p>
          <a:p>
            <a:pPr marR="0" lvl="0" algn="l" rtl="0">
              <a:lnSpc>
                <a:spcPct val="80000"/>
              </a:lnSpc>
              <a:spcBef>
                <a:spcPts val="400"/>
              </a:spcBef>
              <a:spcAft>
                <a:spcPts val="0"/>
              </a:spcAft>
              <a:buClr>
                <a:srgbClr val="000000"/>
              </a:buClr>
              <a:buSzPts val="1950"/>
            </a:pPr>
            <a:r>
              <a:rPr lang="en-US" sz="1950" dirty="0">
                <a:latin typeface="Calibri"/>
                <a:ea typeface="Calibri"/>
                <a:cs typeface="Calibri"/>
                <a:sym typeface="Calibri"/>
              </a:rPr>
              <a:t> 					</a:t>
            </a:r>
            <a:endParaRPr dirty="0"/>
          </a:p>
        </p:txBody>
      </p:sp>
      <p:graphicFrame>
        <p:nvGraphicFramePr>
          <p:cNvPr id="2" name="Table 1">
            <a:extLst>
              <a:ext uri="{FF2B5EF4-FFF2-40B4-BE49-F238E27FC236}">
                <a16:creationId xmlns:a16="http://schemas.microsoft.com/office/drawing/2014/main" id="{A75B3099-FC28-C603-9FB0-B04C4AEBA561}"/>
              </a:ext>
            </a:extLst>
          </p:cNvPr>
          <p:cNvGraphicFramePr>
            <a:graphicFrameLocks noGrp="1"/>
          </p:cNvGraphicFramePr>
          <p:nvPr>
            <p:extLst>
              <p:ext uri="{D42A27DB-BD31-4B8C-83A1-F6EECF244321}">
                <p14:modId xmlns:p14="http://schemas.microsoft.com/office/powerpoint/2010/main" val="1096032690"/>
              </p:ext>
            </p:extLst>
          </p:nvPr>
        </p:nvGraphicFramePr>
        <p:xfrm>
          <a:off x="1322832" y="4670552"/>
          <a:ext cx="3249168" cy="1630680"/>
        </p:xfrm>
        <a:graphic>
          <a:graphicData uri="http://schemas.openxmlformats.org/drawingml/2006/table">
            <a:tbl>
              <a:tblPr firstRow="1" bandRow="1">
                <a:tableStyleId>{FAD2F71C-7846-4C3E-9502-F6074BB4B6FC}</a:tableStyleId>
              </a:tblPr>
              <a:tblGrid>
                <a:gridCol w="1624584">
                  <a:extLst>
                    <a:ext uri="{9D8B030D-6E8A-4147-A177-3AD203B41FA5}">
                      <a16:colId xmlns:a16="http://schemas.microsoft.com/office/drawing/2014/main" val="3313613741"/>
                    </a:ext>
                  </a:extLst>
                </a:gridCol>
                <a:gridCol w="1624584">
                  <a:extLst>
                    <a:ext uri="{9D8B030D-6E8A-4147-A177-3AD203B41FA5}">
                      <a16:colId xmlns:a16="http://schemas.microsoft.com/office/drawing/2014/main" val="4035985062"/>
                    </a:ext>
                  </a:extLst>
                </a:gridCol>
              </a:tblGrid>
              <a:tr h="370840">
                <a:tc>
                  <a:txBody>
                    <a:bodyPr/>
                    <a:lstStyle/>
                    <a:p>
                      <a:r>
                        <a:rPr lang="en-US" dirty="0"/>
                        <a:t>TOTAL OBSERVATIONS</a:t>
                      </a:r>
                      <a:endParaRPr lang="en-AU" dirty="0"/>
                    </a:p>
                  </a:txBody>
                  <a:tcPr/>
                </a:tc>
                <a:tc>
                  <a:txBody>
                    <a:bodyPr/>
                    <a:lstStyle/>
                    <a:p>
                      <a:r>
                        <a:rPr lang="en-US" dirty="0"/>
                        <a:t>150</a:t>
                      </a:r>
                      <a:endParaRPr lang="en-AU" dirty="0"/>
                    </a:p>
                  </a:txBody>
                  <a:tcPr/>
                </a:tc>
                <a:extLst>
                  <a:ext uri="{0D108BD9-81ED-4DB2-BD59-A6C34878D82A}">
                    <a16:rowId xmlns:a16="http://schemas.microsoft.com/office/drawing/2014/main" val="2133031155"/>
                  </a:ext>
                </a:extLst>
              </a:tr>
              <a:tr h="370840">
                <a:tc>
                  <a:txBody>
                    <a:bodyPr/>
                    <a:lstStyle/>
                    <a:p>
                      <a:r>
                        <a:rPr lang="en-US" dirty="0"/>
                        <a:t>CASES =1</a:t>
                      </a:r>
                      <a:endParaRPr lang="en-AU" dirty="0"/>
                    </a:p>
                  </a:txBody>
                  <a:tcPr/>
                </a:tc>
                <a:tc>
                  <a:txBody>
                    <a:bodyPr/>
                    <a:lstStyle/>
                    <a:p>
                      <a:r>
                        <a:rPr lang="en-US" dirty="0"/>
                        <a:t>122</a:t>
                      </a:r>
                      <a:endParaRPr lang="en-AU" dirty="0"/>
                    </a:p>
                  </a:txBody>
                  <a:tcPr/>
                </a:tc>
                <a:extLst>
                  <a:ext uri="{0D108BD9-81ED-4DB2-BD59-A6C34878D82A}">
                    <a16:rowId xmlns:a16="http://schemas.microsoft.com/office/drawing/2014/main" val="3440087994"/>
                  </a:ext>
                </a:extLst>
              </a:tr>
              <a:tr h="370840">
                <a:tc>
                  <a:txBody>
                    <a:bodyPr/>
                    <a:lstStyle/>
                    <a:p>
                      <a:r>
                        <a:rPr lang="en-US" dirty="0"/>
                        <a:t>CASES=2</a:t>
                      </a:r>
                      <a:endParaRPr lang="en-AU" dirty="0"/>
                    </a:p>
                  </a:txBody>
                  <a:tcPr/>
                </a:tc>
                <a:tc>
                  <a:txBody>
                    <a:bodyPr/>
                    <a:lstStyle/>
                    <a:p>
                      <a:r>
                        <a:rPr lang="en-US" dirty="0"/>
                        <a:t>22</a:t>
                      </a:r>
                      <a:endParaRPr lang="en-AU" dirty="0"/>
                    </a:p>
                  </a:txBody>
                  <a:tcPr/>
                </a:tc>
                <a:extLst>
                  <a:ext uri="{0D108BD9-81ED-4DB2-BD59-A6C34878D82A}">
                    <a16:rowId xmlns:a16="http://schemas.microsoft.com/office/drawing/2014/main" val="1675655849"/>
                  </a:ext>
                </a:extLst>
              </a:tr>
              <a:tr h="370840">
                <a:tc>
                  <a:txBody>
                    <a:bodyPr/>
                    <a:lstStyle/>
                    <a:p>
                      <a:r>
                        <a:rPr lang="en-US" dirty="0"/>
                        <a:t>CASES&gt;2</a:t>
                      </a:r>
                      <a:endParaRPr lang="en-AU" dirty="0"/>
                    </a:p>
                  </a:txBody>
                  <a:tcPr/>
                </a:tc>
                <a:tc>
                  <a:txBody>
                    <a:bodyPr/>
                    <a:lstStyle/>
                    <a:p>
                      <a:r>
                        <a:rPr lang="en-US" dirty="0"/>
                        <a:t>6</a:t>
                      </a:r>
                      <a:endParaRPr lang="en-AU" dirty="0"/>
                    </a:p>
                  </a:txBody>
                  <a:tcPr/>
                </a:tc>
                <a:extLst>
                  <a:ext uri="{0D108BD9-81ED-4DB2-BD59-A6C34878D82A}">
                    <a16:rowId xmlns:a16="http://schemas.microsoft.com/office/drawing/2014/main" val="2552016198"/>
                  </a:ext>
                </a:extLst>
              </a:tr>
            </a:tbl>
          </a:graphicData>
        </a:graphic>
      </p:graphicFrame>
      <p:sp>
        <p:nvSpPr>
          <p:cNvPr id="3" name="TextBox 2">
            <a:extLst>
              <a:ext uri="{FF2B5EF4-FFF2-40B4-BE49-F238E27FC236}">
                <a16:creationId xmlns:a16="http://schemas.microsoft.com/office/drawing/2014/main" id="{9D4E33FF-63D0-ED5A-4A5D-51243928E9DA}"/>
              </a:ext>
            </a:extLst>
          </p:cNvPr>
          <p:cNvSpPr txBox="1"/>
          <p:nvPr/>
        </p:nvSpPr>
        <p:spPr>
          <a:xfrm>
            <a:off x="5591556" y="5208000"/>
            <a:ext cx="2606040" cy="738664"/>
          </a:xfrm>
          <a:prstGeom prst="rect">
            <a:avLst/>
          </a:prstGeom>
          <a:noFill/>
        </p:spPr>
        <p:txBody>
          <a:bodyPr wrap="square" rtlCol="0">
            <a:spAutoFit/>
          </a:bodyPr>
          <a:lstStyle/>
          <a:p>
            <a:r>
              <a:rPr lang="en-US" dirty="0"/>
              <a:t>Most observations are 1 case, with rare occurrences of more than 1 case</a:t>
            </a:r>
            <a:endParaRPr lang="en-AU" dirty="0"/>
          </a:p>
        </p:txBody>
      </p:sp>
      <p:cxnSp>
        <p:nvCxnSpPr>
          <p:cNvPr id="6" name="Straight Arrow Connector 5">
            <a:extLst>
              <a:ext uri="{FF2B5EF4-FFF2-40B4-BE49-F238E27FC236}">
                <a16:creationId xmlns:a16="http://schemas.microsoft.com/office/drawing/2014/main" id="{3E909B2F-E6FE-DB7E-839F-599C4C712E1F}"/>
              </a:ext>
            </a:extLst>
          </p:cNvPr>
          <p:cNvCxnSpPr/>
          <p:nvPr/>
        </p:nvCxnSpPr>
        <p:spPr>
          <a:xfrm>
            <a:off x="4864608" y="5577332"/>
            <a:ext cx="58521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2"/>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740"/>
              <a:buFont typeface="Play"/>
              <a:buNone/>
            </a:pPr>
            <a:r>
              <a:rPr lang="en-US" sz="3740" b="1"/>
              <a:t>Linear Regression Implementation</a:t>
            </a:r>
            <a:endParaRPr/>
          </a:p>
        </p:txBody>
      </p:sp>
      <p:sp>
        <p:nvSpPr>
          <p:cNvPr id="180" name="Google Shape;180;p32"/>
          <p:cNvSpPr txBox="1">
            <a:spLocks noGrp="1"/>
          </p:cNvSpPr>
          <p:nvPr>
            <p:ph type="body" idx="1"/>
          </p:nvPr>
        </p:nvSpPr>
        <p:spPr>
          <a:xfrm>
            <a:off x="860257" y="2125266"/>
            <a:ext cx="4168943" cy="3394473"/>
          </a:xfrm>
          <a:prstGeom prst="rect">
            <a:avLst/>
          </a:prstGeom>
          <a:noFill/>
          <a:ln>
            <a:noFill/>
          </a:ln>
        </p:spPr>
        <p:txBody>
          <a:bodyPr spcFirstLastPara="1" wrap="square" lIns="34275" tIns="34275" rIns="34275" bIns="34275" anchor="t" anchorCtr="0">
            <a:normAutofit/>
          </a:bodyPr>
          <a:lstStyle/>
          <a:p>
            <a:pPr marL="185165" lvl="0" indent="-185165" algn="l" rtl="0">
              <a:lnSpc>
                <a:spcPct val="90000"/>
              </a:lnSpc>
              <a:spcBef>
                <a:spcPts val="0"/>
              </a:spcBef>
              <a:spcAft>
                <a:spcPts val="0"/>
              </a:spcAft>
              <a:buClr>
                <a:srgbClr val="000000"/>
              </a:buClr>
              <a:buSzPts val="2268"/>
              <a:buChar char="•"/>
            </a:pPr>
            <a:r>
              <a:rPr lang="en-US" sz="2268"/>
              <a:t>Target Variable: Outbreak Logistics Regression</a:t>
            </a:r>
            <a:endParaRPr/>
          </a:p>
          <a:p>
            <a:pPr marL="185165" lvl="0" indent="-185165" algn="l" rtl="0">
              <a:lnSpc>
                <a:spcPct val="90000"/>
              </a:lnSpc>
              <a:spcBef>
                <a:spcPts val="800"/>
              </a:spcBef>
              <a:spcAft>
                <a:spcPts val="0"/>
              </a:spcAft>
              <a:buClr>
                <a:srgbClr val="000000"/>
              </a:buClr>
              <a:buSzPts val="2268"/>
              <a:buChar char="•"/>
            </a:pPr>
            <a:r>
              <a:rPr lang="en-US" sz="2268"/>
              <a:t>Features: Temperature, Poultry Density</a:t>
            </a:r>
            <a:endParaRPr/>
          </a:p>
          <a:p>
            <a:pPr marL="185165" lvl="0" indent="-41147" algn="l" rtl="0">
              <a:lnSpc>
                <a:spcPct val="90000"/>
              </a:lnSpc>
              <a:spcBef>
                <a:spcPts val="800"/>
              </a:spcBef>
              <a:spcAft>
                <a:spcPts val="0"/>
              </a:spcAft>
              <a:buClr>
                <a:srgbClr val="000000"/>
              </a:buClr>
              <a:buSzPts val="2268"/>
              <a:buNone/>
            </a:pPr>
            <a:endParaRPr sz="2268"/>
          </a:p>
          <a:p>
            <a:pPr marL="0" lvl="0" indent="0" algn="l" rtl="0">
              <a:lnSpc>
                <a:spcPct val="90000"/>
              </a:lnSpc>
              <a:spcBef>
                <a:spcPts val="800"/>
              </a:spcBef>
              <a:spcAft>
                <a:spcPts val="0"/>
              </a:spcAft>
              <a:buClr>
                <a:srgbClr val="000000"/>
              </a:buClr>
              <a:buSzPts val="2268"/>
              <a:buNone/>
            </a:pPr>
            <a:r>
              <a:rPr lang="en-US" sz="2268" b="1"/>
              <a:t>Steps:</a:t>
            </a:r>
            <a:endParaRPr/>
          </a:p>
          <a:p>
            <a:pPr marL="185165" lvl="0" indent="-185165" algn="l" rtl="0">
              <a:lnSpc>
                <a:spcPct val="90000"/>
              </a:lnSpc>
              <a:spcBef>
                <a:spcPts val="800"/>
              </a:spcBef>
              <a:spcAft>
                <a:spcPts val="0"/>
              </a:spcAft>
              <a:buClr>
                <a:srgbClr val="000000"/>
              </a:buClr>
              <a:buSzPts val="2268"/>
              <a:buChar char="•"/>
            </a:pPr>
            <a:r>
              <a:rPr lang="en-US" sz="2268"/>
              <a:t>Fit the linear regression model.</a:t>
            </a:r>
            <a:endParaRPr/>
          </a:p>
          <a:p>
            <a:pPr marL="185165" lvl="0" indent="-185165" algn="l" rtl="0">
              <a:lnSpc>
                <a:spcPct val="90000"/>
              </a:lnSpc>
              <a:spcBef>
                <a:spcPts val="800"/>
              </a:spcBef>
              <a:spcAft>
                <a:spcPts val="0"/>
              </a:spcAft>
              <a:buClr>
                <a:srgbClr val="000000"/>
              </a:buClr>
              <a:buSzPts val="2268"/>
              <a:buChar char="•"/>
            </a:pPr>
            <a:r>
              <a:rPr lang="en-US" sz="2268"/>
              <a:t>Interpret the results.</a:t>
            </a:r>
            <a:endParaRPr/>
          </a:p>
        </p:txBody>
      </p:sp>
      <p:sp>
        <p:nvSpPr>
          <p:cNvPr id="181" name="Google Shape;181;p32"/>
          <p:cNvSpPr txBox="1"/>
          <p:nvPr/>
        </p:nvSpPr>
        <p:spPr>
          <a:xfrm>
            <a:off x="5609122" y="3082751"/>
            <a:ext cx="2674621" cy="932181"/>
          </a:xfrm>
          <a:prstGeom prst="rect">
            <a:avLst/>
          </a:prstGeom>
          <a:solidFill>
            <a:srgbClr val="FFFFFF"/>
          </a:solidFill>
          <a:ln w="25400" cap="flat" cmpd="sng">
            <a:solidFill>
              <a:srgbClr val="E97132"/>
            </a:solidFill>
            <a:prstDash val="solid"/>
            <a:miter lim="8000"/>
            <a:headEnd type="none" w="sm" len="sm"/>
            <a:tailEnd type="none" w="sm" len="sm"/>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Mean Squared Error (Linear Regression): 0.049478748058440665</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3"/>
          <p:cNvSpPr txBox="1">
            <a:spLocks noGrp="1"/>
          </p:cNvSpPr>
          <p:nvPr>
            <p:ph type="body" idx="1"/>
          </p:nvPr>
        </p:nvSpPr>
        <p:spPr>
          <a:xfrm>
            <a:off x="628650" y="1568100"/>
            <a:ext cx="4665726" cy="4969860"/>
          </a:xfrm>
          <a:prstGeom prst="rect">
            <a:avLst/>
          </a:prstGeom>
          <a:noFill/>
          <a:ln>
            <a:noFill/>
          </a:ln>
        </p:spPr>
        <p:txBody>
          <a:bodyPr spcFirstLastPara="1" wrap="square" lIns="34275" tIns="34275" rIns="34275" bIns="34275" anchor="t" anchorCtr="0">
            <a:normAutofit/>
          </a:bodyPr>
          <a:lstStyle/>
          <a:p>
            <a:pPr marL="342900" indent="-342900">
              <a:spcBef>
                <a:spcPts val="0"/>
              </a:spcBef>
              <a:buSzPts val="2212"/>
            </a:pPr>
            <a:r>
              <a:rPr lang="en-US" sz="2212" dirty="0"/>
              <a:t>Target Variable: Binary Cases (0 = No Outbreak, 1 = Outbreak)</a:t>
            </a:r>
            <a:br>
              <a:rPr lang="en-US" sz="2212" dirty="0"/>
            </a:br>
            <a:r>
              <a:rPr lang="en-US" sz="2212" dirty="0"/>
              <a:t>	</a:t>
            </a:r>
          </a:p>
          <a:p>
            <a:pPr marL="0" lvl="0" indent="0" algn="l" rtl="0">
              <a:lnSpc>
                <a:spcPct val="90000"/>
              </a:lnSpc>
              <a:spcBef>
                <a:spcPts val="0"/>
              </a:spcBef>
              <a:spcAft>
                <a:spcPts val="0"/>
              </a:spcAft>
              <a:buClr>
                <a:srgbClr val="000000"/>
              </a:buClr>
              <a:buSzPts val="2212"/>
              <a:buNone/>
            </a:pPr>
            <a:endParaRPr dirty="0"/>
          </a:p>
          <a:p>
            <a:pPr marL="0" lvl="0" indent="0" algn="l" rtl="0">
              <a:lnSpc>
                <a:spcPct val="90000"/>
              </a:lnSpc>
              <a:spcBef>
                <a:spcPts val="700"/>
              </a:spcBef>
              <a:spcAft>
                <a:spcPts val="0"/>
              </a:spcAft>
              <a:buClr>
                <a:srgbClr val="000000"/>
              </a:buClr>
              <a:buSzPts val="2212"/>
              <a:buNone/>
            </a:pPr>
            <a:endParaRPr sz="2212" dirty="0"/>
          </a:p>
          <a:p>
            <a:pPr marL="342900" indent="-342900">
              <a:spcBef>
                <a:spcPts val="700"/>
              </a:spcBef>
              <a:buSzPts val="2212"/>
            </a:pPr>
            <a:endParaRPr lang="en-US" sz="2212" dirty="0"/>
          </a:p>
          <a:p>
            <a:pPr marL="342900" indent="-342900">
              <a:spcBef>
                <a:spcPts val="700"/>
              </a:spcBef>
              <a:buSzPts val="2212"/>
            </a:pPr>
            <a:r>
              <a:rPr lang="en-US" sz="2212" dirty="0"/>
              <a:t>Features: Temperature, Poultry Density, Clinical Sign</a:t>
            </a:r>
            <a:endParaRPr lang="en-US" sz="2400" dirty="0"/>
          </a:p>
          <a:p>
            <a:pPr marL="0" lvl="0" indent="0" algn="l" rtl="0">
              <a:lnSpc>
                <a:spcPct val="90000"/>
              </a:lnSpc>
              <a:spcBef>
                <a:spcPts val="700"/>
              </a:spcBef>
              <a:spcAft>
                <a:spcPts val="0"/>
              </a:spcAft>
              <a:buClr>
                <a:srgbClr val="000000"/>
              </a:buClr>
              <a:buSzPts val="2212"/>
              <a:buNone/>
            </a:pPr>
            <a:endParaRPr lang="en-US" sz="2212" b="1" dirty="0"/>
          </a:p>
          <a:p>
            <a:pPr marL="0" lvl="0" indent="0" algn="l" rtl="0">
              <a:lnSpc>
                <a:spcPct val="90000"/>
              </a:lnSpc>
              <a:spcBef>
                <a:spcPts val="700"/>
              </a:spcBef>
              <a:spcAft>
                <a:spcPts val="0"/>
              </a:spcAft>
              <a:buClr>
                <a:srgbClr val="000000"/>
              </a:buClr>
              <a:buSzPts val="2212"/>
              <a:buNone/>
            </a:pPr>
            <a:endParaRPr lang="en-US" sz="2212" b="1" dirty="0"/>
          </a:p>
          <a:p>
            <a:pPr marL="0" lvl="0" indent="0" algn="l" rtl="0">
              <a:lnSpc>
                <a:spcPct val="90000"/>
              </a:lnSpc>
              <a:spcBef>
                <a:spcPts val="700"/>
              </a:spcBef>
              <a:spcAft>
                <a:spcPts val="0"/>
              </a:spcAft>
              <a:buClr>
                <a:srgbClr val="000000"/>
              </a:buClr>
              <a:buSzPts val="2212"/>
              <a:buNone/>
            </a:pPr>
            <a:r>
              <a:rPr lang="en-US" sz="2212" b="1" dirty="0"/>
              <a:t>Steps:</a:t>
            </a:r>
            <a:endParaRPr dirty="0"/>
          </a:p>
          <a:p>
            <a:pPr marL="180594" lvl="0" indent="-180594" algn="l" rtl="0">
              <a:lnSpc>
                <a:spcPct val="90000"/>
              </a:lnSpc>
              <a:spcBef>
                <a:spcPts val="700"/>
              </a:spcBef>
              <a:spcAft>
                <a:spcPts val="0"/>
              </a:spcAft>
              <a:buClr>
                <a:srgbClr val="000000"/>
              </a:buClr>
              <a:buSzPts val="2212"/>
              <a:buChar char="•"/>
            </a:pPr>
            <a:r>
              <a:rPr lang="en-US" sz="2212" dirty="0"/>
              <a:t>Convert 'Cases' to binary.</a:t>
            </a:r>
            <a:endParaRPr dirty="0"/>
          </a:p>
          <a:p>
            <a:pPr marL="180594" lvl="0" indent="-180594" algn="l" rtl="0">
              <a:lnSpc>
                <a:spcPct val="90000"/>
              </a:lnSpc>
              <a:spcBef>
                <a:spcPts val="700"/>
              </a:spcBef>
              <a:spcAft>
                <a:spcPts val="0"/>
              </a:spcAft>
              <a:buClr>
                <a:srgbClr val="000000"/>
              </a:buClr>
              <a:buSzPts val="2212"/>
              <a:buChar char="•"/>
            </a:pPr>
            <a:r>
              <a:rPr lang="en-US" sz="2212" dirty="0"/>
              <a:t>Fit the logistic regression model.</a:t>
            </a:r>
            <a:endParaRPr dirty="0"/>
          </a:p>
        </p:txBody>
      </p:sp>
      <p:sp>
        <p:nvSpPr>
          <p:cNvPr id="187" name="Google Shape;187;p33"/>
          <p:cNvSpPr txBox="1">
            <a:spLocks noGrp="1"/>
          </p:cNvSpPr>
          <p:nvPr>
            <p:ph type="title"/>
          </p:nvPr>
        </p:nvSpPr>
        <p:spPr>
          <a:xfrm>
            <a:off x="628650" y="481869"/>
            <a:ext cx="7886700" cy="994174"/>
          </a:xfrm>
          <a:prstGeom prst="rect">
            <a:avLst/>
          </a:prstGeom>
          <a:noFill/>
          <a:ln>
            <a:noFill/>
          </a:ln>
        </p:spPr>
        <p:txBody>
          <a:bodyPr spcFirstLastPara="1" wrap="square" lIns="34275" tIns="34275" rIns="34275" bIns="34275" anchor="ctr" anchorCtr="0">
            <a:normAutofit fontScale="90000"/>
          </a:bodyPr>
          <a:lstStyle/>
          <a:p>
            <a:pPr marL="0" marR="0" lvl="0" indent="0" algn="l" rtl="0">
              <a:lnSpc>
                <a:spcPct val="90000"/>
              </a:lnSpc>
              <a:spcBef>
                <a:spcPts val="0"/>
              </a:spcBef>
              <a:spcAft>
                <a:spcPts val="0"/>
              </a:spcAft>
              <a:buClr>
                <a:srgbClr val="000000"/>
              </a:buClr>
              <a:buSzPts val="3740"/>
              <a:buFont typeface="Play"/>
              <a:buNone/>
            </a:pPr>
            <a:r>
              <a:rPr lang="en-US" sz="3740" b="1" dirty="0"/>
              <a:t>Logistic Regression Implementation</a:t>
            </a:r>
            <a:endParaRPr dirty="0"/>
          </a:p>
        </p:txBody>
      </p:sp>
      <p:sp>
        <p:nvSpPr>
          <p:cNvPr id="188" name="Google Shape;188;p33"/>
          <p:cNvSpPr txBox="1"/>
          <p:nvPr/>
        </p:nvSpPr>
        <p:spPr>
          <a:xfrm>
            <a:off x="5519366" y="3186625"/>
            <a:ext cx="2774242" cy="900216"/>
          </a:xfrm>
          <a:prstGeom prst="rect">
            <a:avLst/>
          </a:prstGeom>
          <a:solidFill>
            <a:srgbClr val="FFFFFF"/>
          </a:solidFill>
          <a:ln w="38100" cap="flat" cmpd="sng">
            <a:solidFill>
              <a:srgbClr val="E97132"/>
            </a:solidFill>
            <a:prstDash val="solid"/>
            <a:miter lim="8000"/>
            <a:headEnd type="none" w="sm" len="sm"/>
            <a:tailEnd type="none" w="sm" len="sm"/>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Accuracy of Logistic Regression: </a:t>
            </a:r>
            <a:r>
              <a:rPr lang="en-US" sz="1800" b="0" i="0" u="none" strike="noStrike" cap="none" dirty="0">
                <a:solidFill>
                  <a:srgbClr val="000000"/>
                </a:solidFill>
                <a:latin typeface="Arial"/>
                <a:ea typeface="Arial"/>
                <a:cs typeface="Arial"/>
                <a:sym typeface="Arial"/>
              </a:rPr>
              <a:t>0.6551724137931034</a:t>
            </a:r>
            <a:endParaRPr dirty="0"/>
          </a:p>
        </p:txBody>
      </p:sp>
      <p:graphicFrame>
        <p:nvGraphicFramePr>
          <p:cNvPr id="3" name="Table 2">
            <a:extLst>
              <a:ext uri="{FF2B5EF4-FFF2-40B4-BE49-F238E27FC236}">
                <a16:creationId xmlns:a16="http://schemas.microsoft.com/office/drawing/2014/main" id="{A16862E0-D845-692E-0CE9-23CB91556E44}"/>
              </a:ext>
            </a:extLst>
          </p:cNvPr>
          <p:cNvGraphicFramePr>
            <a:graphicFrameLocks noGrp="1"/>
          </p:cNvGraphicFramePr>
          <p:nvPr>
            <p:extLst>
              <p:ext uri="{D42A27DB-BD31-4B8C-83A1-F6EECF244321}">
                <p14:modId xmlns:p14="http://schemas.microsoft.com/office/powerpoint/2010/main" val="731075182"/>
              </p:ext>
            </p:extLst>
          </p:nvPr>
        </p:nvGraphicFramePr>
        <p:xfrm>
          <a:off x="963830" y="2390081"/>
          <a:ext cx="3995366" cy="1112520"/>
        </p:xfrm>
        <a:graphic>
          <a:graphicData uri="http://schemas.openxmlformats.org/drawingml/2006/table">
            <a:tbl>
              <a:tblPr firstRow="1" bandRow="1">
                <a:tableStyleId>{FAD2F71C-7846-4C3E-9502-F6074BB4B6FC}</a:tableStyleId>
              </a:tblPr>
              <a:tblGrid>
                <a:gridCol w="1997683">
                  <a:extLst>
                    <a:ext uri="{9D8B030D-6E8A-4147-A177-3AD203B41FA5}">
                      <a16:colId xmlns:a16="http://schemas.microsoft.com/office/drawing/2014/main" val="2432362711"/>
                    </a:ext>
                  </a:extLst>
                </a:gridCol>
                <a:gridCol w="1997683">
                  <a:extLst>
                    <a:ext uri="{9D8B030D-6E8A-4147-A177-3AD203B41FA5}">
                      <a16:colId xmlns:a16="http://schemas.microsoft.com/office/drawing/2014/main" val="3695257009"/>
                    </a:ext>
                  </a:extLst>
                </a:gridCol>
              </a:tblGrid>
              <a:tr h="370840">
                <a:tc>
                  <a:txBody>
                    <a:bodyPr/>
                    <a:lstStyle/>
                    <a:p>
                      <a:pPr algn="ctr"/>
                      <a:r>
                        <a:rPr lang="en-US" dirty="0"/>
                        <a:t>Remarks</a:t>
                      </a:r>
                      <a:endParaRPr lang="en-AU" dirty="0"/>
                    </a:p>
                  </a:txBody>
                  <a:tcPr/>
                </a:tc>
                <a:tc>
                  <a:txBody>
                    <a:bodyPr/>
                    <a:lstStyle/>
                    <a:p>
                      <a:pPr algn="ctr"/>
                      <a:r>
                        <a:rPr lang="en-US" dirty="0"/>
                        <a:t>Outcome</a:t>
                      </a:r>
                      <a:endParaRPr lang="en-AU" dirty="0"/>
                    </a:p>
                  </a:txBody>
                  <a:tcPr/>
                </a:tc>
                <a:extLst>
                  <a:ext uri="{0D108BD9-81ED-4DB2-BD59-A6C34878D82A}">
                    <a16:rowId xmlns:a16="http://schemas.microsoft.com/office/drawing/2014/main" val="3488140711"/>
                  </a:ext>
                </a:extLst>
              </a:tr>
              <a:tr h="370840">
                <a:tc>
                  <a:txBody>
                    <a:bodyPr/>
                    <a:lstStyle/>
                    <a:p>
                      <a:pPr algn="ctr"/>
                      <a:r>
                        <a:rPr lang="en-AU" dirty="0"/>
                        <a:t>if Cases &gt; 1</a:t>
                      </a:r>
                    </a:p>
                  </a:txBody>
                  <a:tcPr/>
                </a:tc>
                <a:tc>
                  <a:txBody>
                    <a:bodyPr/>
                    <a:lstStyle/>
                    <a:p>
                      <a:pPr algn="ctr"/>
                      <a:r>
                        <a:rPr lang="en-US" dirty="0"/>
                        <a:t>Outbreak</a:t>
                      </a:r>
                      <a:endParaRPr lang="en-AU" dirty="0"/>
                    </a:p>
                  </a:txBody>
                  <a:tcPr/>
                </a:tc>
                <a:extLst>
                  <a:ext uri="{0D108BD9-81ED-4DB2-BD59-A6C34878D82A}">
                    <a16:rowId xmlns:a16="http://schemas.microsoft.com/office/drawing/2014/main" val="4208311783"/>
                  </a:ext>
                </a:extLst>
              </a:tr>
              <a:tr h="370840">
                <a:tc>
                  <a:txBody>
                    <a:bodyPr/>
                    <a:lstStyle/>
                    <a:p>
                      <a:pPr algn="ctr"/>
                      <a:r>
                        <a:rPr lang="en-US" dirty="0"/>
                        <a:t>else 0 </a:t>
                      </a:r>
                      <a:endParaRPr lang="en-AU" dirty="0"/>
                    </a:p>
                  </a:txBody>
                  <a:tcPr/>
                </a:tc>
                <a:tc>
                  <a:txBody>
                    <a:bodyPr/>
                    <a:lstStyle/>
                    <a:p>
                      <a:pPr algn="ctr"/>
                      <a:r>
                        <a:rPr lang="en-US" dirty="0"/>
                        <a:t>No Outbreak</a:t>
                      </a:r>
                      <a:endParaRPr lang="en-AU" dirty="0"/>
                    </a:p>
                  </a:txBody>
                  <a:tcPr/>
                </a:tc>
                <a:extLst>
                  <a:ext uri="{0D108BD9-81ED-4DB2-BD59-A6C34878D82A}">
                    <a16:rowId xmlns:a16="http://schemas.microsoft.com/office/drawing/2014/main" val="189805394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4"/>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p>
            <a:pPr marL="0" marR="0" lvl="0" indent="0" algn="ctr" rtl="0">
              <a:lnSpc>
                <a:spcPct val="90000"/>
              </a:lnSpc>
              <a:spcBef>
                <a:spcPts val="0"/>
              </a:spcBef>
              <a:spcAft>
                <a:spcPts val="0"/>
              </a:spcAft>
              <a:buClr>
                <a:srgbClr val="000000"/>
              </a:buClr>
              <a:buSzPts val="4400"/>
              <a:buFont typeface="Play"/>
              <a:buNone/>
            </a:pPr>
            <a:r>
              <a:rPr lang="en-US" b="1"/>
              <a:t>Model Evaluation</a:t>
            </a:r>
            <a:endParaRPr/>
          </a:p>
        </p:txBody>
      </p:sp>
      <p:sp>
        <p:nvSpPr>
          <p:cNvPr id="194" name="Google Shape;194;p34"/>
          <p:cNvSpPr txBox="1">
            <a:spLocks noGrp="1"/>
          </p:cNvSpPr>
          <p:nvPr>
            <p:ph type="body" idx="1"/>
          </p:nvPr>
        </p:nvSpPr>
        <p:spPr>
          <a:xfrm>
            <a:off x="628650" y="2226468"/>
            <a:ext cx="7886700" cy="3263505"/>
          </a:xfrm>
          <a:prstGeom prst="rect">
            <a:avLst/>
          </a:prstGeom>
          <a:noFill/>
          <a:ln>
            <a:noFill/>
          </a:ln>
        </p:spPr>
        <p:txBody>
          <a:bodyPr spcFirstLastPara="1" wrap="square" lIns="34275" tIns="34275" rIns="34275" bIns="34275" anchor="t" anchorCtr="0">
            <a:normAutofit/>
          </a:bodyPr>
          <a:lstStyle/>
          <a:p>
            <a:pPr marL="205739" lvl="0" indent="-205739" algn="l" rtl="0">
              <a:lnSpc>
                <a:spcPct val="90000"/>
              </a:lnSpc>
              <a:spcBef>
                <a:spcPts val="0"/>
              </a:spcBef>
              <a:spcAft>
                <a:spcPts val="0"/>
              </a:spcAft>
              <a:buClr>
                <a:srgbClr val="000000"/>
              </a:buClr>
              <a:buSzPts val="2520"/>
              <a:buChar char="•"/>
            </a:pPr>
            <a:r>
              <a:rPr lang="en-US" sz="2520" b="1"/>
              <a:t>Linear Regression:</a:t>
            </a:r>
            <a:endParaRPr/>
          </a:p>
          <a:p>
            <a:pPr marL="205739" lvl="0" indent="-205739" algn="l" rtl="0">
              <a:lnSpc>
                <a:spcPct val="90000"/>
              </a:lnSpc>
              <a:spcBef>
                <a:spcPts val="900"/>
              </a:spcBef>
              <a:spcAft>
                <a:spcPts val="0"/>
              </a:spcAft>
              <a:buClr>
                <a:srgbClr val="000000"/>
              </a:buClr>
              <a:buSzPts val="2520"/>
              <a:buChar char="•"/>
            </a:pPr>
            <a:r>
              <a:rPr lang="en-US" sz="2520"/>
              <a:t>Mean Squared Error (MSE): 0.0471</a:t>
            </a:r>
            <a:endParaRPr/>
          </a:p>
          <a:p>
            <a:pPr marL="205739" lvl="0" indent="-205739" algn="l" rtl="0">
              <a:lnSpc>
                <a:spcPct val="90000"/>
              </a:lnSpc>
              <a:spcBef>
                <a:spcPts val="900"/>
              </a:spcBef>
              <a:spcAft>
                <a:spcPts val="0"/>
              </a:spcAft>
              <a:buClr>
                <a:srgbClr val="000000"/>
              </a:buClr>
              <a:buSzPts val="2520"/>
              <a:buChar char="•"/>
            </a:pPr>
            <a:r>
              <a:rPr lang="en-US" sz="2520"/>
              <a:t>Indicates low prediction error.</a:t>
            </a:r>
            <a:endParaRPr/>
          </a:p>
          <a:p>
            <a:pPr marL="205739" lvl="0" indent="-45718" algn="l" rtl="0">
              <a:lnSpc>
                <a:spcPct val="90000"/>
              </a:lnSpc>
              <a:spcBef>
                <a:spcPts val="900"/>
              </a:spcBef>
              <a:spcAft>
                <a:spcPts val="0"/>
              </a:spcAft>
              <a:buClr>
                <a:srgbClr val="000000"/>
              </a:buClr>
              <a:buSzPts val="2520"/>
              <a:buNone/>
            </a:pPr>
            <a:endParaRPr sz="2520"/>
          </a:p>
          <a:p>
            <a:pPr marL="205739" lvl="0" indent="-205739" algn="l" rtl="0">
              <a:lnSpc>
                <a:spcPct val="90000"/>
              </a:lnSpc>
              <a:spcBef>
                <a:spcPts val="900"/>
              </a:spcBef>
              <a:spcAft>
                <a:spcPts val="0"/>
              </a:spcAft>
              <a:buClr>
                <a:srgbClr val="000000"/>
              </a:buClr>
              <a:buSzPts val="2520"/>
              <a:buChar char="•"/>
            </a:pPr>
            <a:r>
              <a:rPr lang="en-US" sz="2520" b="1"/>
              <a:t>Logistic Regression:</a:t>
            </a:r>
            <a:endParaRPr/>
          </a:p>
          <a:p>
            <a:pPr marL="205739" lvl="0" indent="-205739" algn="l" rtl="0">
              <a:lnSpc>
                <a:spcPct val="90000"/>
              </a:lnSpc>
              <a:spcBef>
                <a:spcPts val="900"/>
              </a:spcBef>
              <a:spcAft>
                <a:spcPts val="0"/>
              </a:spcAft>
              <a:buClr>
                <a:srgbClr val="000000"/>
              </a:buClr>
              <a:buSzPts val="2520"/>
              <a:buChar char="•"/>
            </a:pPr>
            <a:r>
              <a:rPr lang="en-US" sz="2520"/>
              <a:t>Accuracy: 76.71%</a:t>
            </a:r>
            <a:endParaRPr/>
          </a:p>
          <a:p>
            <a:pPr marL="205739" lvl="0" indent="-205739" algn="l" rtl="0">
              <a:lnSpc>
                <a:spcPct val="90000"/>
              </a:lnSpc>
              <a:spcBef>
                <a:spcPts val="900"/>
              </a:spcBef>
              <a:spcAft>
                <a:spcPts val="0"/>
              </a:spcAft>
              <a:buClr>
                <a:srgbClr val="000000"/>
              </a:buClr>
              <a:buSzPts val="2520"/>
              <a:buChar char="•"/>
            </a:pPr>
            <a:r>
              <a:rPr lang="en-US" sz="2520"/>
              <a:t>Effectively classifies outbreak occurrences.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5"/>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256"/>
              <a:buFont typeface="Play"/>
              <a:buNone/>
            </a:pPr>
            <a:r>
              <a:rPr lang="en-US" sz="3256"/>
              <a:t>Why Logistic Regression for Avian Disease Data?</a:t>
            </a:r>
            <a:endParaRPr/>
          </a:p>
        </p:txBody>
      </p:sp>
      <p:sp>
        <p:nvSpPr>
          <p:cNvPr id="200" name="Google Shape;200;p35"/>
          <p:cNvSpPr txBox="1">
            <a:spLocks noGrp="1"/>
          </p:cNvSpPr>
          <p:nvPr>
            <p:ph type="body" idx="1"/>
          </p:nvPr>
        </p:nvSpPr>
        <p:spPr>
          <a:xfrm>
            <a:off x="628650" y="2226468"/>
            <a:ext cx="7886700" cy="3263505"/>
          </a:xfrm>
          <a:prstGeom prst="rect">
            <a:avLst/>
          </a:prstGeom>
          <a:noFill/>
          <a:ln>
            <a:noFill/>
          </a:ln>
        </p:spPr>
        <p:txBody>
          <a:bodyPr spcFirstLastPara="1" wrap="square" lIns="34275" tIns="34275" rIns="34275" bIns="34275" anchor="t" anchorCtr="0">
            <a:normAutofit lnSpcReduction="10000"/>
          </a:bodyPr>
          <a:lstStyle/>
          <a:p>
            <a:pPr marL="180594" lvl="0" indent="-180594" algn="l" rtl="0">
              <a:lnSpc>
                <a:spcPct val="150000"/>
              </a:lnSpc>
              <a:spcBef>
                <a:spcPts val="0"/>
              </a:spcBef>
              <a:spcAft>
                <a:spcPts val="0"/>
              </a:spcAft>
              <a:buClr>
                <a:srgbClr val="000000"/>
              </a:buClr>
              <a:buSzPts val="2212"/>
              <a:buChar char="•"/>
            </a:pPr>
            <a:r>
              <a:rPr lang="en-US" sz="2212"/>
              <a:t>To predict the probability of an avian disease outbreak (Yes/No) by the help of binary outcomes.</a:t>
            </a:r>
            <a:endParaRPr/>
          </a:p>
          <a:p>
            <a:pPr marL="180594" lvl="0" indent="-180594" algn="l" rtl="0">
              <a:lnSpc>
                <a:spcPct val="150000"/>
              </a:lnSpc>
              <a:spcBef>
                <a:spcPts val="700"/>
              </a:spcBef>
              <a:spcAft>
                <a:spcPts val="0"/>
              </a:spcAft>
              <a:buClr>
                <a:srgbClr val="000000"/>
              </a:buClr>
              <a:buSzPts val="2212"/>
              <a:buChar char="•"/>
            </a:pPr>
            <a:r>
              <a:rPr lang="en-US" sz="2212"/>
              <a:t>To identify factors (e.g., temperature, poultry density, region) that increase or decrease the risk of an outbreak.</a:t>
            </a:r>
            <a:endParaRPr/>
          </a:p>
          <a:p>
            <a:pPr marL="180594" lvl="0" indent="-180594" algn="l" rtl="0">
              <a:lnSpc>
                <a:spcPct val="150000"/>
              </a:lnSpc>
              <a:spcBef>
                <a:spcPts val="700"/>
              </a:spcBef>
              <a:spcAft>
                <a:spcPts val="0"/>
              </a:spcAft>
              <a:buClr>
                <a:srgbClr val="000000"/>
              </a:buClr>
              <a:buSzPts val="2212"/>
              <a:buChar char="•"/>
            </a:pPr>
            <a:r>
              <a:rPr lang="en-US" sz="2212"/>
              <a:t>Provides coefficients that indicate the direction and strength of the relationship between each factor and the outbreak risk.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6"/>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latin typeface="Play"/>
                <a:ea typeface="Play"/>
                <a:cs typeface="Play"/>
                <a:sym typeface="Play"/>
              </a:rPr>
              <a:t>Why Not Linear Regression?</a:t>
            </a:r>
            <a:endParaRPr/>
          </a:p>
        </p:txBody>
      </p:sp>
      <p:sp>
        <p:nvSpPr>
          <p:cNvPr id="206" name="Google Shape;206;p36"/>
          <p:cNvSpPr txBox="1">
            <a:spLocks noGrp="1"/>
          </p:cNvSpPr>
          <p:nvPr>
            <p:ph type="body" idx="1"/>
          </p:nvPr>
        </p:nvSpPr>
        <p:spPr>
          <a:xfrm>
            <a:off x="628650" y="2226468"/>
            <a:ext cx="7886700" cy="3263505"/>
          </a:xfrm>
          <a:prstGeom prst="rect">
            <a:avLst/>
          </a:prstGeom>
          <a:noFill/>
          <a:ln>
            <a:noFill/>
          </a:ln>
        </p:spPr>
        <p:txBody>
          <a:bodyPr spcFirstLastPara="1" wrap="square" lIns="34275" tIns="34275" rIns="34275" bIns="34275" anchor="t" anchorCtr="0">
            <a:normAutofit/>
          </a:bodyPr>
          <a:lstStyle/>
          <a:p>
            <a:pPr marL="228600" marR="0" lvl="0" indent="-228600" algn="l" rtl="0">
              <a:lnSpc>
                <a:spcPct val="150000"/>
              </a:lnSpc>
              <a:spcBef>
                <a:spcPts val="0"/>
              </a:spcBef>
              <a:spcAft>
                <a:spcPts val="0"/>
              </a:spcAft>
              <a:buClr>
                <a:srgbClr val="000000"/>
              </a:buClr>
              <a:buSzPts val="2800"/>
              <a:buFont typeface="Arial"/>
              <a:buChar char="•"/>
            </a:pPr>
            <a:r>
              <a:rPr lang="en-US" sz="2800">
                <a:latin typeface="Arial"/>
                <a:ea typeface="Arial"/>
                <a:cs typeface="Arial"/>
                <a:sym typeface="Arial"/>
              </a:rPr>
              <a:t>Linear regression treats all values of the outcome variable equally, but in our case, predicting 'Found Dead' (a rare but important event) might require a different approach.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7"/>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latin typeface="Play"/>
                <a:ea typeface="Play"/>
                <a:cs typeface="Play"/>
                <a:sym typeface="Play"/>
              </a:rPr>
              <a:t>Statistical Test Results</a:t>
            </a:r>
            <a:endParaRPr/>
          </a:p>
        </p:txBody>
      </p:sp>
      <p:sp>
        <p:nvSpPr>
          <p:cNvPr id="213" name="Google Shape;213;p37"/>
          <p:cNvSpPr txBox="1">
            <a:spLocks noGrp="1"/>
          </p:cNvSpPr>
          <p:nvPr>
            <p:ph type="body" idx="1"/>
          </p:nvPr>
        </p:nvSpPr>
        <p:spPr>
          <a:xfrm>
            <a:off x="628650" y="2226468"/>
            <a:ext cx="7886700" cy="3263505"/>
          </a:xfrm>
          <a:prstGeom prst="rect">
            <a:avLst/>
          </a:prstGeom>
          <a:noFill/>
          <a:ln>
            <a:noFill/>
          </a:ln>
        </p:spPr>
        <p:txBody>
          <a:bodyPr spcFirstLastPara="1" wrap="square" lIns="34275" tIns="34275" rIns="34275" bIns="34275" anchor="t" anchorCtr="0">
            <a:normAutofit lnSpcReduction="10000"/>
          </a:bodyPr>
          <a:lstStyle/>
          <a:p>
            <a:pPr marL="0" lvl="0" indent="0" algn="l" rtl="0">
              <a:lnSpc>
                <a:spcPct val="90000"/>
              </a:lnSpc>
              <a:spcBef>
                <a:spcPts val="0"/>
              </a:spcBef>
              <a:spcAft>
                <a:spcPts val="0"/>
              </a:spcAft>
              <a:buClr>
                <a:srgbClr val="000000"/>
              </a:buClr>
              <a:buSzPts val="2256"/>
              <a:buNone/>
            </a:pPr>
            <a:r>
              <a:rPr lang="en-US" sz="2256" dirty="0">
                <a:latin typeface="Times New Roman"/>
                <a:ea typeface="Times New Roman"/>
                <a:cs typeface="Times New Roman"/>
                <a:sym typeface="Times New Roman"/>
              </a:rPr>
              <a:t>Following results from the analysis are obtained ;</a:t>
            </a:r>
            <a:endParaRPr dirty="0"/>
          </a:p>
          <a:p>
            <a:pPr marL="0" lvl="0" indent="0" algn="l" rtl="0">
              <a:lnSpc>
                <a:spcPct val="90000"/>
              </a:lnSpc>
              <a:spcBef>
                <a:spcPts val="900"/>
              </a:spcBef>
              <a:spcAft>
                <a:spcPts val="0"/>
              </a:spcAft>
              <a:buClr>
                <a:srgbClr val="000000"/>
              </a:buClr>
              <a:buSzPts val="2256"/>
              <a:buNone/>
            </a:pPr>
            <a:endParaRPr sz="2256" dirty="0">
              <a:latin typeface="Times New Roman"/>
              <a:ea typeface="Times New Roman"/>
              <a:cs typeface="Times New Roman"/>
              <a:sym typeface="Times New Roman"/>
            </a:endParaRPr>
          </a:p>
          <a:p>
            <a:pPr marL="0" lvl="0" indent="0" algn="l" rtl="0">
              <a:lnSpc>
                <a:spcPct val="90000"/>
              </a:lnSpc>
              <a:spcBef>
                <a:spcPts val="900"/>
              </a:spcBef>
              <a:spcAft>
                <a:spcPts val="0"/>
              </a:spcAft>
              <a:buClr>
                <a:srgbClr val="000000"/>
              </a:buClr>
              <a:buSzPts val="2256"/>
              <a:buNone/>
            </a:pPr>
            <a:r>
              <a:rPr lang="en-US" sz="2256" b="1" dirty="0">
                <a:latin typeface="Times New Roman"/>
                <a:ea typeface="Times New Roman"/>
                <a:cs typeface="Times New Roman"/>
                <a:sym typeface="Times New Roman"/>
              </a:rPr>
              <a:t>t-statistic: -5.025</a:t>
            </a:r>
            <a:br>
              <a:rPr lang="en-US" sz="2256" b="1" dirty="0">
                <a:latin typeface="Times New Roman"/>
                <a:ea typeface="Times New Roman"/>
                <a:cs typeface="Times New Roman"/>
                <a:sym typeface="Times New Roman"/>
              </a:rPr>
            </a:br>
            <a:r>
              <a:rPr lang="en-US" sz="2256" b="1" dirty="0">
                <a:latin typeface="Times New Roman"/>
                <a:ea typeface="Times New Roman"/>
                <a:cs typeface="Times New Roman"/>
                <a:sym typeface="Times New Roman"/>
              </a:rPr>
              <a:t>p-value: 3.54 × 10⁻⁶</a:t>
            </a:r>
          </a:p>
          <a:p>
            <a:pPr marL="0" lvl="0" indent="0" algn="l" rtl="0">
              <a:lnSpc>
                <a:spcPct val="90000"/>
              </a:lnSpc>
              <a:spcBef>
                <a:spcPts val="900"/>
              </a:spcBef>
              <a:spcAft>
                <a:spcPts val="0"/>
              </a:spcAft>
              <a:buClr>
                <a:srgbClr val="000000"/>
              </a:buClr>
              <a:buSzPts val="2256"/>
              <a:buNone/>
            </a:pPr>
            <a:endParaRPr lang="en-US" sz="2256" b="1" dirty="0">
              <a:latin typeface="Times New Roman"/>
              <a:ea typeface="Times New Roman"/>
              <a:cs typeface="Times New Roman"/>
              <a:sym typeface="Times New Roman"/>
            </a:endParaRPr>
          </a:p>
          <a:p>
            <a:pPr marL="0" lvl="0" indent="0" algn="l" rtl="0">
              <a:lnSpc>
                <a:spcPct val="90000"/>
              </a:lnSpc>
              <a:spcBef>
                <a:spcPts val="900"/>
              </a:spcBef>
              <a:spcAft>
                <a:spcPts val="0"/>
              </a:spcAft>
              <a:buClr>
                <a:srgbClr val="000000"/>
              </a:buClr>
              <a:buSzPts val="2256"/>
              <a:buNone/>
            </a:pPr>
            <a:r>
              <a:rPr lang="en-US" sz="2256" dirty="0">
                <a:latin typeface="Times New Roman"/>
                <a:ea typeface="Times New Roman"/>
                <a:cs typeface="Times New Roman"/>
                <a:sym typeface="Times New Roman"/>
              </a:rPr>
              <a:t>Since the p-value is much smaller than the typical significance level of 0.05, we can reject the null hypothesis and conclude that there is a statistically significant difference between the performance of the Linear Regression and Logistic Regression models.</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8"/>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latin typeface="Play"/>
                <a:ea typeface="Play"/>
                <a:cs typeface="Play"/>
                <a:sym typeface="Play"/>
              </a:rPr>
              <a:t>Statistical Test Results</a:t>
            </a:r>
            <a:endParaRPr/>
          </a:p>
        </p:txBody>
      </p:sp>
      <p:sp>
        <p:nvSpPr>
          <p:cNvPr id="219" name="Google Shape;219;p38"/>
          <p:cNvSpPr txBox="1">
            <a:spLocks noGrp="1"/>
          </p:cNvSpPr>
          <p:nvPr>
            <p:ph type="body" idx="1"/>
          </p:nvPr>
        </p:nvSpPr>
        <p:spPr>
          <a:xfrm>
            <a:off x="628650" y="2226468"/>
            <a:ext cx="7886700" cy="3263505"/>
          </a:xfrm>
          <a:prstGeom prst="rect">
            <a:avLst/>
          </a:prstGeom>
          <a:noFill/>
          <a:ln>
            <a:noFill/>
          </a:ln>
        </p:spPr>
        <p:txBody>
          <a:bodyPr spcFirstLastPara="1" wrap="square" lIns="34275" tIns="34275" rIns="34275" bIns="34275" anchor="t" anchorCtr="0">
            <a:normAutofit/>
          </a:bodyPr>
          <a:lstStyle/>
          <a:p>
            <a:pPr marL="0" lvl="0" indent="0" algn="l" rtl="0">
              <a:lnSpc>
                <a:spcPct val="90000"/>
              </a:lnSpc>
              <a:spcBef>
                <a:spcPts val="0"/>
              </a:spcBef>
              <a:spcAft>
                <a:spcPts val="0"/>
              </a:spcAft>
              <a:buClr>
                <a:srgbClr val="000000"/>
              </a:buClr>
              <a:buSzPts val="2400"/>
              <a:buNone/>
            </a:pPr>
            <a:r>
              <a:rPr lang="en-US" sz="2400" b="1">
                <a:latin typeface="Times New Roman"/>
                <a:ea typeface="Times New Roman"/>
                <a:cs typeface="Times New Roman"/>
                <a:sym typeface="Times New Roman"/>
              </a:rPr>
              <a:t>Regression Statistics Data in Excel: </a:t>
            </a:r>
            <a:endParaRPr/>
          </a:p>
          <a:p>
            <a:pPr marL="0" lvl="0" indent="0" algn="l" rtl="0">
              <a:lnSpc>
                <a:spcPct val="90000"/>
              </a:lnSpc>
              <a:spcBef>
                <a:spcPts val="1000"/>
              </a:spcBef>
              <a:spcAft>
                <a:spcPts val="0"/>
              </a:spcAft>
              <a:buClr>
                <a:srgbClr val="000000"/>
              </a:buClr>
              <a:buSzPts val="1800"/>
              <a:buNone/>
            </a:pPr>
            <a:r>
              <a:rPr lang="en-US" sz="1800">
                <a:latin typeface="Times New Roman"/>
                <a:ea typeface="Times New Roman"/>
                <a:cs typeface="Times New Roman"/>
                <a:sym typeface="Times New Roman"/>
              </a:rPr>
              <a:t>To confirm further performed regression analysis with the help of MS Excel descriptive analytical tools and found the following result;</a:t>
            </a:r>
            <a:endParaRPr/>
          </a:p>
        </p:txBody>
      </p:sp>
      <p:pic>
        <p:nvPicPr>
          <p:cNvPr id="220" name="Google Shape;220;p38" descr="Picture 4"/>
          <p:cNvPicPr preferRelativeResize="0"/>
          <p:nvPr/>
        </p:nvPicPr>
        <p:blipFill rotWithShape="1">
          <a:blip r:embed="rId3">
            <a:alphaModFix/>
          </a:blip>
          <a:srcRect/>
          <a:stretch/>
        </p:blipFill>
        <p:spPr>
          <a:xfrm>
            <a:off x="628650" y="3429000"/>
            <a:ext cx="7720782" cy="2797748"/>
          </a:xfrm>
          <a:prstGeom prst="rect">
            <a:avLst/>
          </a:prstGeom>
          <a:noFill/>
          <a:ln>
            <a:noFill/>
          </a:ln>
        </p:spPr>
      </p:pic>
      <p:sp>
        <p:nvSpPr>
          <p:cNvPr id="221" name="Google Shape;221;p38"/>
          <p:cNvSpPr txBox="1"/>
          <p:nvPr/>
        </p:nvSpPr>
        <p:spPr>
          <a:xfrm>
            <a:off x="6710515" y="1595407"/>
            <a:ext cx="1725563" cy="909956"/>
          </a:xfrm>
          <a:prstGeom prst="rect">
            <a:avLst/>
          </a:prstGeom>
          <a:noFill/>
          <a:ln w="9525" cap="flat" cmpd="sng">
            <a:solidFill>
              <a:srgbClr val="000000"/>
            </a:solidFill>
            <a:prstDash val="solid"/>
            <a:round/>
            <a:headEnd type="none" w="sm" len="sm"/>
            <a:tailEnd type="none" w="sm" len="sm"/>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P-Value less than significant value(0.005)</a:t>
            </a:r>
            <a:endParaRPr/>
          </a:p>
        </p:txBody>
      </p:sp>
      <p:cxnSp>
        <p:nvCxnSpPr>
          <p:cNvPr id="222" name="Google Shape;222;p38"/>
          <p:cNvCxnSpPr/>
          <p:nvPr/>
        </p:nvCxnSpPr>
        <p:spPr>
          <a:xfrm flipH="1">
            <a:off x="6555657" y="2420579"/>
            <a:ext cx="988144" cy="1703439"/>
          </a:xfrm>
          <a:prstGeom prst="straightConnector1">
            <a:avLst/>
          </a:prstGeom>
          <a:noFill/>
          <a:ln w="12700" cap="flat" cmpd="sng">
            <a:solidFill>
              <a:srgbClr val="156082"/>
            </a:solidFill>
            <a:prstDash val="solid"/>
            <a:miter lim="8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9"/>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256"/>
              <a:buFont typeface="Play"/>
              <a:buNone/>
            </a:pPr>
            <a:r>
              <a:rPr lang="en-US" sz="3256"/>
              <a:t>Differences in Two models based on Result</a:t>
            </a:r>
            <a:endParaRPr/>
          </a:p>
        </p:txBody>
      </p:sp>
      <p:sp>
        <p:nvSpPr>
          <p:cNvPr id="228" name="Google Shape;228;p39"/>
          <p:cNvSpPr txBox="1">
            <a:spLocks noGrp="1"/>
          </p:cNvSpPr>
          <p:nvPr>
            <p:ph type="body" idx="1"/>
          </p:nvPr>
        </p:nvSpPr>
        <p:spPr>
          <a:xfrm>
            <a:off x="628650" y="2226468"/>
            <a:ext cx="7886700" cy="3263505"/>
          </a:xfrm>
          <a:prstGeom prst="rect">
            <a:avLst/>
          </a:prstGeom>
          <a:noFill/>
          <a:ln>
            <a:noFill/>
          </a:ln>
        </p:spPr>
        <p:txBody>
          <a:bodyPr spcFirstLastPara="1" wrap="square" lIns="34275" tIns="34275" rIns="34275" bIns="34275" anchor="t" anchorCtr="0">
            <a:normAutofit/>
          </a:bodyPr>
          <a:lstStyle/>
          <a:p>
            <a:pPr marL="0" lvl="0" indent="0" algn="l" rtl="0">
              <a:lnSpc>
                <a:spcPct val="90000"/>
              </a:lnSpc>
              <a:spcBef>
                <a:spcPts val="0"/>
              </a:spcBef>
              <a:spcAft>
                <a:spcPts val="0"/>
              </a:spcAft>
              <a:buClr>
                <a:srgbClr val="000000"/>
              </a:buClr>
              <a:buSzPts val="2000"/>
              <a:buNone/>
            </a:pPr>
            <a:r>
              <a:rPr lang="en-US" sz="2000" dirty="0">
                <a:latin typeface="Times New Roman"/>
                <a:ea typeface="Times New Roman"/>
                <a:cs typeface="Times New Roman"/>
                <a:sym typeface="Times New Roman"/>
              </a:rPr>
              <a:t>Based on the test, we can conclude that [Conclusion about which model performed better and if the difference is statistically significant].</a:t>
            </a:r>
            <a:endParaRPr dirty="0"/>
          </a:p>
          <a:p>
            <a:pPr marL="0" lvl="0" indent="0" algn="l" rtl="0">
              <a:lnSpc>
                <a:spcPct val="90000"/>
              </a:lnSpc>
              <a:spcBef>
                <a:spcPts val="1000"/>
              </a:spcBef>
              <a:spcAft>
                <a:spcPts val="0"/>
              </a:spcAft>
              <a:buClr>
                <a:srgbClr val="000000"/>
              </a:buClr>
              <a:buSzPts val="2000"/>
              <a:buNone/>
            </a:pPr>
            <a:endParaRPr sz="2000" dirty="0">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000000"/>
              </a:buClr>
              <a:buSzPts val="2000"/>
              <a:buNone/>
            </a:pPr>
            <a:r>
              <a:rPr lang="en-US" sz="2000" dirty="0">
                <a:latin typeface="Times New Roman"/>
                <a:ea typeface="Times New Roman"/>
                <a:cs typeface="Times New Roman"/>
                <a:sym typeface="Times New Roman"/>
              </a:rPr>
              <a:t>SO, differences in two models can be stated as below;</a:t>
            </a:r>
            <a:endParaRPr dirty="0"/>
          </a:p>
        </p:txBody>
      </p:sp>
      <p:graphicFrame>
        <p:nvGraphicFramePr>
          <p:cNvPr id="3" name="Google Shape;229;p39">
            <a:extLst>
              <a:ext uri="{FF2B5EF4-FFF2-40B4-BE49-F238E27FC236}">
                <a16:creationId xmlns:a16="http://schemas.microsoft.com/office/drawing/2014/main" id="{F222DB5C-8847-50C4-01D3-003173346374}"/>
              </a:ext>
            </a:extLst>
          </p:cNvPr>
          <p:cNvGraphicFramePr/>
          <p:nvPr>
            <p:extLst>
              <p:ext uri="{D42A27DB-BD31-4B8C-83A1-F6EECF244321}">
                <p14:modId xmlns:p14="http://schemas.microsoft.com/office/powerpoint/2010/main" val="2462273877"/>
              </p:ext>
            </p:extLst>
          </p:nvPr>
        </p:nvGraphicFramePr>
        <p:xfrm>
          <a:off x="628650" y="3974076"/>
          <a:ext cx="7533250" cy="2167250"/>
        </p:xfrm>
        <a:graphic>
          <a:graphicData uri="http://schemas.openxmlformats.org/drawingml/2006/table">
            <a:tbl>
              <a:tblPr firstRow="1" bandRow="1">
                <a:noFill/>
                <a:tableStyleId>{FAD2F71C-7846-4C3E-9502-F6074BB4B6FC}</a:tableStyleId>
              </a:tblPr>
              <a:tblGrid>
                <a:gridCol w="3766625">
                  <a:extLst>
                    <a:ext uri="{9D8B030D-6E8A-4147-A177-3AD203B41FA5}">
                      <a16:colId xmlns:a16="http://schemas.microsoft.com/office/drawing/2014/main" val="20000"/>
                    </a:ext>
                  </a:extLst>
                </a:gridCol>
                <a:gridCol w="3766625">
                  <a:extLst>
                    <a:ext uri="{9D8B030D-6E8A-4147-A177-3AD203B41FA5}">
                      <a16:colId xmlns:a16="http://schemas.microsoft.com/office/drawing/2014/main" val="20001"/>
                    </a:ext>
                  </a:extLst>
                </a:gridCol>
              </a:tblGrid>
              <a:tr h="385125">
                <a:tc>
                  <a:txBody>
                    <a:bodyPr/>
                    <a:lstStyle/>
                    <a:p>
                      <a:pPr marL="0" marR="0" lvl="0" indent="0" algn="ctr" rtl="0">
                        <a:lnSpc>
                          <a:spcPct val="100000"/>
                        </a:lnSpc>
                        <a:spcBef>
                          <a:spcPts val="0"/>
                        </a:spcBef>
                        <a:spcAft>
                          <a:spcPts val="0"/>
                        </a:spcAft>
                        <a:buClr>
                          <a:srgbClr val="FFFFFF"/>
                        </a:buClr>
                        <a:buSzPts val="1800"/>
                        <a:buFont typeface="Arial"/>
                        <a:buNone/>
                      </a:pPr>
                      <a:r>
                        <a:rPr lang="en-US" sz="1800" b="1" u="none" strike="noStrike" cap="none" dirty="0">
                          <a:solidFill>
                            <a:srgbClr val="FFFFFF"/>
                          </a:solidFill>
                          <a:latin typeface="Arial"/>
                          <a:ea typeface="Arial"/>
                          <a:cs typeface="Arial"/>
                          <a:sym typeface="Arial"/>
                        </a:rPr>
                        <a:t>Linear Regression</a:t>
                      </a:r>
                      <a:endParaRPr dirty="0"/>
                    </a:p>
                  </a:txBody>
                  <a:tcPr marL="45725" marR="45725"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156082"/>
                    </a:solidFill>
                  </a:tcPr>
                </a:tc>
                <a:tc>
                  <a:txBody>
                    <a:bodyPr/>
                    <a:lstStyle/>
                    <a:p>
                      <a:pPr marL="0" marR="0" lvl="0" indent="0" algn="ctr" rtl="0">
                        <a:lnSpc>
                          <a:spcPct val="100000"/>
                        </a:lnSpc>
                        <a:spcBef>
                          <a:spcPts val="0"/>
                        </a:spcBef>
                        <a:spcAft>
                          <a:spcPts val="0"/>
                        </a:spcAft>
                        <a:buClr>
                          <a:srgbClr val="FFFFFF"/>
                        </a:buClr>
                        <a:buSzPts val="1800"/>
                        <a:buFont typeface="Arial"/>
                        <a:buNone/>
                      </a:pPr>
                      <a:r>
                        <a:rPr lang="en-US" sz="1800" b="1" u="none" strike="noStrike" cap="none">
                          <a:solidFill>
                            <a:srgbClr val="FFFFFF"/>
                          </a:solidFill>
                          <a:latin typeface="Arial"/>
                          <a:ea typeface="Arial"/>
                          <a:cs typeface="Arial"/>
                          <a:sym typeface="Arial"/>
                        </a:rPr>
                        <a:t>Logistic Regression</a:t>
                      </a:r>
                      <a:endParaRPr/>
                    </a:p>
                  </a:txBody>
                  <a:tcPr marL="45725" marR="45725"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156082"/>
                    </a:solidFill>
                  </a:tcPr>
                </a:tc>
                <a:extLst>
                  <a:ext uri="{0D108BD9-81ED-4DB2-BD59-A6C34878D82A}">
                    <a16:rowId xmlns:a16="http://schemas.microsoft.com/office/drawing/2014/main" val="10000"/>
                  </a:ext>
                </a:extLst>
              </a:tr>
              <a:tr h="1782125">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latin typeface="Arial"/>
                          <a:ea typeface="Arial"/>
                          <a:cs typeface="Arial"/>
                          <a:sym typeface="Arial"/>
                        </a:rPr>
                        <a:t>The model suggests that temperature and density alone might not fully explain the outbreaks, meaning there are likely other factors to consider.</a:t>
                      </a:r>
                      <a:endParaRPr/>
                    </a:p>
                  </a:txBody>
                  <a:tcPr marL="45725" marR="45725"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AD1D8"/>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dirty="0">
                          <a:latin typeface="Arial"/>
                          <a:ea typeface="Arial"/>
                          <a:cs typeface="Arial"/>
                          <a:sym typeface="Arial"/>
                        </a:rPr>
                        <a:t>This model achieved good accuracy and can be used to help decision-makers identify regions at risk for outbreaks, enabling proactive measures like vaccination or quarantine.</a:t>
                      </a:r>
                      <a:endParaRPr dirty="0"/>
                    </a:p>
                  </a:txBody>
                  <a:tcPr marL="45725" marR="45725"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AD1D8"/>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0"/>
          <p:cNvSpPr txBox="1">
            <a:spLocks noGrp="1"/>
          </p:cNvSpPr>
          <p:nvPr>
            <p:ph type="title"/>
          </p:nvPr>
        </p:nvSpPr>
        <p:spPr>
          <a:xfrm>
            <a:off x="549377" y="843212"/>
            <a:ext cx="7886700" cy="994174"/>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200"/>
              <a:buFont typeface="Play"/>
              <a:buNone/>
            </a:pPr>
            <a:r>
              <a:rPr lang="en-US" sz="2800" dirty="0">
                <a:latin typeface="Times New Roman" panose="02020603050405020304" pitchFamily="18" charset="0"/>
                <a:cs typeface="Times New Roman" panose="02020603050405020304" pitchFamily="18" charset="0"/>
              </a:rPr>
              <a:t>Measuring the ROC Curve and Regression Justification</a:t>
            </a:r>
            <a:endParaRPr sz="4000" dirty="0">
              <a:latin typeface="Times New Roman" panose="02020603050405020304" pitchFamily="18" charset="0"/>
              <a:cs typeface="Times New Roman" panose="02020603050405020304" pitchFamily="18" charset="0"/>
            </a:endParaRPr>
          </a:p>
        </p:txBody>
      </p:sp>
      <p:sp>
        <p:nvSpPr>
          <p:cNvPr id="235" name="Google Shape;235;p40"/>
          <p:cNvSpPr txBox="1">
            <a:spLocks noGrp="1"/>
          </p:cNvSpPr>
          <p:nvPr>
            <p:ph type="body" idx="1"/>
          </p:nvPr>
        </p:nvSpPr>
        <p:spPr>
          <a:xfrm>
            <a:off x="628650" y="2000250"/>
            <a:ext cx="7886700" cy="3489723"/>
          </a:xfrm>
          <a:prstGeom prst="rect">
            <a:avLst/>
          </a:prstGeom>
          <a:noFill/>
          <a:ln>
            <a:noFill/>
          </a:ln>
        </p:spPr>
        <p:txBody>
          <a:bodyPr spcFirstLastPara="1" wrap="square" lIns="34275" tIns="34275" rIns="34275" bIns="34275" anchor="t" anchorCtr="0">
            <a:normAutofit/>
          </a:bodyPr>
          <a:lstStyle/>
          <a:p>
            <a:pPr marL="0" lvl="0" indent="0" algn="l" rtl="0">
              <a:lnSpc>
                <a:spcPct val="90000"/>
              </a:lnSpc>
              <a:spcBef>
                <a:spcPts val="0"/>
              </a:spcBef>
              <a:spcAft>
                <a:spcPts val="0"/>
              </a:spcAft>
              <a:buClr>
                <a:srgbClr val="000000"/>
              </a:buClr>
              <a:buSzPts val="2000"/>
              <a:buNone/>
            </a:pPr>
            <a:r>
              <a:rPr lang="en-US" sz="2000" dirty="0">
                <a:latin typeface="Times New Roman" panose="02020603050405020304" pitchFamily="18" charset="0"/>
                <a:cs typeface="Times New Roman" panose="02020603050405020304" pitchFamily="18" charset="0"/>
              </a:rPr>
              <a:t>ROC (Receiver Operating Characteristic) curve visually summarizes the performance of our logistic regression model across various classification thresholds.</a:t>
            </a:r>
            <a:endParaRPr sz="2000" dirty="0">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rgbClr val="000000"/>
              </a:buClr>
              <a:buSzPts val="2000"/>
              <a:buNone/>
            </a:pPr>
            <a:r>
              <a:rPr lang="en-US" sz="2000" b="1" dirty="0"/>
              <a:t>Visualization of ROC Curve: </a:t>
            </a:r>
            <a:endParaRPr dirty="0"/>
          </a:p>
        </p:txBody>
      </p:sp>
      <p:pic>
        <p:nvPicPr>
          <p:cNvPr id="236" name="Google Shape;236;p40" descr="Picture 5"/>
          <p:cNvPicPr preferRelativeResize="0"/>
          <p:nvPr/>
        </p:nvPicPr>
        <p:blipFill rotWithShape="1">
          <a:blip r:embed="rId3">
            <a:alphaModFix/>
          </a:blip>
          <a:srcRect/>
          <a:stretch/>
        </p:blipFill>
        <p:spPr>
          <a:xfrm>
            <a:off x="540159" y="3315543"/>
            <a:ext cx="7886700" cy="283438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1"/>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200"/>
              <a:buFont typeface="Play"/>
              <a:buNone/>
            </a:pPr>
            <a:r>
              <a:rPr lang="en-US" sz="2800" dirty="0">
                <a:latin typeface="Times New Roman" panose="02020603050405020304" pitchFamily="18" charset="0"/>
                <a:cs typeface="Times New Roman" panose="02020603050405020304" pitchFamily="18" charset="0"/>
              </a:rPr>
              <a:t>Measuring the ROC Curve and Regression Justification</a:t>
            </a:r>
            <a:endParaRPr sz="2800" dirty="0">
              <a:latin typeface="Times New Roman" panose="02020603050405020304" pitchFamily="18" charset="0"/>
              <a:cs typeface="Times New Roman" panose="02020603050405020304" pitchFamily="18" charset="0"/>
            </a:endParaRPr>
          </a:p>
        </p:txBody>
      </p:sp>
      <p:sp>
        <p:nvSpPr>
          <p:cNvPr id="242" name="Google Shape;242;p41"/>
          <p:cNvSpPr txBox="1">
            <a:spLocks noGrp="1"/>
          </p:cNvSpPr>
          <p:nvPr>
            <p:ph type="body" idx="1"/>
          </p:nvPr>
        </p:nvSpPr>
        <p:spPr>
          <a:xfrm>
            <a:off x="628650" y="1978125"/>
            <a:ext cx="7886700" cy="4157203"/>
          </a:xfrm>
          <a:prstGeom prst="rect">
            <a:avLst/>
          </a:prstGeom>
          <a:noFill/>
          <a:ln>
            <a:noFill/>
          </a:ln>
        </p:spPr>
        <p:txBody>
          <a:bodyPr spcFirstLastPara="1" wrap="square" lIns="34275" tIns="34275" rIns="34275" bIns="34275" anchor="t" anchorCtr="0">
            <a:normAutofit lnSpcReduction="10000"/>
          </a:bodyPr>
          <a:lstStyle/>
          <a:p>
            <a:pPr marL="0" lvl="0" indent="0" algn="l" rtl="0">
              <a:lnSpc>
                <a:spcPct val="90000"/>
              </a:lnSpc>
              <a:spcBef>
                <a:spcPts val="0"/>
              </a:spcBef>
              <a:spcAft>
                <a:spcPts val="0"/>
              </a:spcAft>
              <a:buClr>
                <a:srgbClr val="000000"/>
              </a:buClr>
              <a:buSzPts val="1560"/>
              <a:buNone/>
            </a:pPr>
            <a:r>
              <a:rPr lang="en-US" sz="1560" b="1" dirty="0"/>
              <a:t>Observations from ROC Curve Trend Line: </a:t>
            </a:r>
            <a:endParaRPr dirty="0"/>
          </a:p>
          <a:p>
            <a:pPr marL="0" lvl="0" indent="0" algn="l" rtl="0">
              <a:lnSpc>
                <a:spcPct val="90000"/>
              </a:lnSpc>
              <a:spcBef>
                <a:spcPts val="700"/>
              </a:spcBef>
              <a:spcAft>
                <a:spcPts val="0"/>
              </a:spcAft>
              <a:buClr>
                <a:srgbClr val="000000"/>
              </a:buClr>
              <a:buSzPts val="1560"/>
              <a:buNone/>
            </a:pPr>
            <a:endParaRPr sz="1560" b="1" dirty="0"/>
          </a:p>
          <a:p>
            <a:pPr marL="0" lvl="0" indent="0" algn="l" rtl="0">
              <a:lnSpc>
                <a:spcPct val="90000"/>
              </a:lnSpc>
              <a:spcBef>
                <a:spcPts val="700"/>
              </a:spcBef>
              <a:spcAft>
                <a:spcPts val="0"/>
              </a:spcAft>
              <a:buClr>
                <a:srgbClr val="000000"/>
              </a:buClr>
              <a:buSzPts val="1560"/>
              <a:buNone/>
            </a:pPr>
            <a:endParaRPr sz="1560" b="1" dirty="0"/>
          </a:p>
          <a:p>
            <a:pPr marL="0" lvl="0" indent="0" algn="l" rtl="0">
              <a:lnSpc>
                <a:spcPct val="90000"/>
              </a:lnSpc>
              <a:spcBef>
                <a:spcPts val="700"/>
              </a:spcBef>
              <a:spcAft>
                <a:spcPts val="0"/>
              </a:spcAft>
              <a:buClr>
                <a:srgbClr val="000000"/>
              </a:buClr>
              <a:buSzPts val="1560"/>
              <a:buNone/>
            </a:pPr>
            <a:r>
              <a:rPr lang="en-US" sz="1560" b="1" dirty="0">
                <a:solidFill>
                  <a:srgbClr val="0070C0"/>
                </a:solidFill>
              </a:rPr>
              <a:t>Y Axis= TPR(Total Pos Rate)</a:t>
            </a:r>
            <a:br>
              <a:rPr lang="en-US" sz="1560" b="1" dirty="0">
                <a:solidFill>
                  <a:srgbClr val="0070C0"/>
                </a:solidFill>
              </a:rPr>
            </a:br>
            <a:r>
              <a:rPr lang="en-US" sz="1560" b="1" dirty="0">
                <a:solidFill>
                  <a:srgbClr val="0070C0"/>
                </a:solidFill>
              </a:rPr>
              <a:t>X Axis= FPR(False Pos Rate)</a:t>
            </a:r>
            <a:endParaRPr sz="1560" b="1" dirty="0">
              <a:solidFill>
                <a:srgbClr val="0070C0"/>
              </a:solidFill>
            </a:endParaRPr>
          </a:p>
          <a:p>
            <a:pPr marL="178307" lvl="0" indent="-79246" algn="l" rtl="0">
              <a:lnSpc>
                <a:spcPct val="90000"/>
              </a:lnSpc>
              <a:spcBef>
                <a:spcPts val="700"/>
              </a:spcBef>
              <a:spcAft>
                <a:spcPts val="0"/>
              </a:spcAft>
              <a:buClr>
                <a:srgbClr val="000000"/>
              </a:buClr>
              <a:buSzPts val="1560"/>
              <a:buNone/>
            </a:pPr>
            <a:endParaRPr sz="1560" b="1" dirty="0"/>
          </a:p>
          <a:p>
            <a:pPr marL="178307" lvl="0" indent="-79246" algn="l" rtl="0">
              <a:lnSpc>
                <a:spcPct val="90000"/>
              </a:lnSpc>
              <a:spcBef>
                <a:spcPts val="700"/>
              </a:spcBef>
              <a:spcAft>
                <a:spcPts val="0"/>
              </a:spcAft>
              <a:buClr>
                <a:srgbClr val="000000"/>
              </a:buClr>
              <a:buSzPts val="1560"/>
              <a:buNone/>
            </a:pPr>
            <a:endParaRPr sz="1560" b="1" dirty="0"/>
          </a:p>
          <a:p>
            <a:pPr marL="178307" lvl="0" indent="-79246" algn="l" rtl="0">
              <a:lnSpc>
                <a:spcPct val="90000"/>
              </a:lnSpc>
              <a:spcBef>
                <a:spcPts val="700"/>
              </a:spcBef>
              <a:spcAft>
                <a:spcPts val="0"/>
              </a:spcAft>
              <a:buClr>
                <a:srgbClr val="000000"/>
              </a:buClr>
              <a:buSzPts val="1560"/>
              <a:buNone/>
            </a:pPr>
            <a:endParaRPr sz="1560" b="1" dirty="0"/>
          </a:p>
          <a:p>
            <a:pPr marL="178307" lvl="0" indent="-178307" algn="l" rtl="0">
              <a:lnSpc>
                <a:spcPct val="90000"/>
              </a:lnSpc>
              <a:spcBef>
                <a:spcPts val="700"/>
              </a:spcBef>
              <a:spcAft>
                <a:spcPts val="0"/>
              </a:spcAft>
              <a:buClr>
                <a:srgbClr val="000000"/>
              </a:buClr>
              <a:buSzPts val="1092"/>
              <a:buChar char="•"/>
            </a:pPr>
            <a:endParaRPr lang="en-US" sz="1092" dirty="0"/>
          </a:p>
          <a:p>
            <a:pPr marL="178307" lvl="0" indent="-178307" algn="l" rtl="0">
              <a:lnSpc>
                <a:spcPct val="90000"/>
              </a:lnSpc>
              <a:spcBef>
                <a:spcPts val="700"/>
              </a:spcBef>
              <a:spcAft>
                <a:spcPts val="0"/>
              </a:spcAft>
              <a:buClr>
                <a:srgbClr val="000000"/>
              </a:buClr>
              <a:buSzPts val="1092"/>
              <a:buChar char="•"/>
            </a:pPr>
            <a:r>
              <a:rPr lang="en-US" sz="1600" dirty="0">
                <a:latin typeface="Times New Roman" panose="02020603050405020304" pitchFamily="18" charset="0"/>
                <a:cs typeface="Times New Roman" panose="02020603050405020304" pitchFamily="18" charset="0"/>
              </a:rPr>
              <a:t>On the y-axis, we see the TPR. The solid blue line starts at a TPR of 1.00 when the False Positive Rate is 0.00. This indicates that at this threshold, all actual positive cases were correctly identified. As the False Positive Rate increases, the True Positive Rate decreases. </a:t>
            </a:r>
          </a:p>
          <a:p>
            <a:pPr marL="178307" lvl="0" indent="-178307" algn="l" rtl="0">
              <a:lnSpc>
                <a:spcPct val="90000"/>
              </a:lnSpc>
              <a:spcBef>
                <a:spcPts val="700"/>
              </a:spcBef>
              <a:spcAft>
                <a:spcPts val="0"/>
              </a:spcAft>
              <a:buClr>
                <a:srgbClr val="000000"/>
              </a:buClr>
              <a:buSzPts val="1092"/>
              <a:buChar char="•"/>
            </a:pPr>
            <a:r>
              <a:rPr lang="en-US" sz="1600" dirty="0">
                <a:latin typeface="Times New Roman" panose="02020603050405020304" pitchFamily="18" charset="0"/>
                <a:cs typeface="Times New Roman" panose="02020603050405020304" pitchFamily="18" charset="0"/>
              </a:rPr>
              <a:t>Specifically, the initial steep rise on the left suggests that the model can achieve a relatively good TPR with a low FPR at certain thresholds. As we move along the curve to the right, aiming for an even higher TPR comes at the cost of a proportionally larger increase in the FPR.</a:t>
            </a:r>
            <a:endParaRPr sz="1600" dirty="0">
              <a:latin typeface="Times New Roman" panose="02020603050405020304" pitchFamily="18" charset="0"/>
              <a:cs typeface="Times New Roman" panose="02020603050405020304" pitchFamily="18" charset="0"/>
            </a:endParaRPr>
          </a:p>
          <a:p>
            <a:pPr marL="0" lvl="0" indent="0" algn="l" rtl="0">
              <a:lnSpc>
                <a:spcPct val="90000"/>
              </a:lnSpc>
              <a:spcBef>
                <a:spcPts val="700"/>
              </a:spcBef>
              <a:spcAft>
                <a:spcPts val="0"/>
              </a:spcAft>
              <a:buClr>
                <a:srgbClr val="000000"/>
              </a:buClr>
              <a:buSzPts val="1092"/>
              <a:buNone/>
            </a:pPr>
            <a:endParaRPr sz="1200" dirty="0">
              <a:latin typeface="Times New Roman" panose="02020603050405020304" pitchFamily="18" charset="0"/>
              <a:cs typeface="Times New Roman" panose="02020603050405020304" pitchFamily="18" charset="0"/>
            </a:endParaRPr>
          </a:p>
        </p:txBody>
      </p:sp>
      <p:pic>
        <p:nvPicPr>
          <p:cNvPr id="243" name="Google Shape;243;p41"/>
          <p:cNvPicPr preferRelativeResize="0"/>
          <p:nvPr/>
        </p:nvPicPr>
        <p:blipFill rotWithShape="1">
          <a:blip r:embed="rId3">
            <a:alphaModFix/>
          </a:blip>
          <a:srcRect/>
          <a:stretch/>
        </p:blipFill>
        <p:spPr>
          <a:xfrm>
            <a:off x="3795252" y="2777613"/>
            <a:ext cx="2556387" cy="135268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20751E6-E4B6-FCEE-90E0-DBB7C1B13F99}"/>
            </a:ext>
          </a:extLst>
        </p:cNvPr>
        <p:cNvGrpSpPr/>
        <p:nvPr/>
      </p:nvGrpSpPr>
      <p:grpSpPr>
        <a:xfrm>
          <a:off x="0" y="0"/>
          <a:ext cx="0" cy="0"/>
          <a:chOff x="0" y="0"/>
          <a:chExt cx="0" cy="0"/>
        </a:xfrm>
      </p:grpSpPr>
      <p:sp>
        <p:nvSpPr>
          <p:cNvPr id="241" name="Google Shape;241;p41">
            <a:extLst>
              <a:ext uri="{FF2B5EF4-FFF2-40B4-BE49-F238E27FC236}">
                <a16:creationId xmlns:a16="http://schemas.microsoft.com/office/drawing/2014/main" id="{54C95201-44D2-B230-C65F-8A205AF0855A}"/>
              </a:ext>
            </a:extLst>
          </p:cNvPr>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200"/>
              <a:buFont typeface="Play"/>
              <a:buNone/>
            </a:pPr>
            <a:r>
              <a:rPr lang="en-US" sz="2800" dirty="0">
                <a:latin typeface="Times New Roman" panose="02020603050405020304" pitchFamily="18" charset="0"/>
                <a:cs typeface="Times New Roman" panose="02020603050405020304" pitchFamily="18" charset="0"/>
              </a:rPr>
              <a:t>Future Aspects of Our Analysis</a:t>
            </a:r>
            <a:endParaRPr sz="2800" dirty="0">
              <a:latin typeface="Times New Roman" panose="02020603050405020304" pitchFamily="18" charset="0"/>
              <a:cs typeface="Times New Roman" panose="02020603050405020304" pitchFamily="18" charset="0"/>
            </a:endParaRPr>
          </a:p>
        </p:txBody>
      </p:sp>
      <p:sp>
        <p:nvSpPr>
          <p:cNvPr id="242" name="Google Shape;242;p41">
            <a:extLst>
              <a:ext uri="{FF2B5EF4-FFF2-40B4-BE49-F238E27FC236}">
                <a16:creationId xmlns:a16="http://schemas.microsoft.com/office/drawing/2014/main" id="{2557A86D-D60A-F3DE-1D43-0D7DA93545A3}"/>
              </a:ext>
            </a:extLst>
          </p:cNvPr>
          <p:cNvSpPr txBox="1">
            <a:spLocks noGrp="1"/>
          </p:cNvSpPr>
          <p:nvPr>
            <p:ph type="body" idx="1"/>
          </p:nvPr>
        </p:nvSpPr>
        <p:spPr>
          <a:xfrm>
            <a:off x="628650" y="1978125"/>
            <a:ext cx="7886700" cy="4009719"/>
          </a:xfrm>
          <a:prstGeom prst="rect">
            <a:avLst/>
          </a:prstGeom>
          <a:noFill/>
          <a:ln>
            <a:noFill/>
          </a:ln>
        </p:spPr>
        <p:txBody>
          <a:bodyPr spcFirstLastPara="1" wrap="square" lIns="34275" tIns="34275" rIns="34275" bIns="34275" anchor="t" anchorCtr="0">
            <a:normAutofit/>
          </a:bodyPr>
          <a:lstStyle/>
          <a:p>
            <a:pPr marL="342900" lvl="0" indent="-342900" algn="l" rtl="0">
              <a:lnSpc>
                <a:spcPct val="90000"/>
              </a:lnSpc>
              <a:spcBef>
                <a:spcPts val="700"/>
              </a:spcBef>
              <a:spcAft>
                <a:spcPts val="0"/>
              </a:spcAft>
              <a:buClr>
                <a:srgbClr val="000000"/>
              </a:buClr>
              <a:buSzPts val="1092"/>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Utilize environmental surveillance methods, including wastewater testing on farms.</a:t>
            </a:r>
          </a:p>
          <a:p>
            <a:pPr marL="0" lvl="0" indent="0" algn="l" rtl="0">
              <a:lnSpc>
                <a:spcPct val="90000"/>
              </a:lnSpc>
              <a:spcBef>
                <a:spcPts val="700"/>
              </a:spcBef>
              <a:spcAft>
                <a:spcPts val="0"/>
              </a:spcAft>
              <a:buClr>
                <a:srgbClr val="000000"/>
              </a:buClr>
              <a:buSzPts val="1092"/>
              <a:buNone/>
            </a:pPr>
            <a:endParaRPr lang="en-US" sz="2000" dirty="0">
              <a:latin typeface="Times New Roman" panose="02020603050405020304" pitchFamily="18" charset="0"/>
              <a:cs typeface="Times New Roman" panose="02020603050405020304" pitchFamily="18" charset="0"/>
            </a:endParaRPr>
          </a:p>
          <a:p>
            <a:pPr marL="342900" indent="-342900">
              <a:spcBef>
                <a:spcPts val="700"/>
              </a:spcBef>
              <a:buSzPts val="1092"/>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Evaluate and enhance current biosecurity measures and vaccination programs to mitigate the spread of highly pathogenic avian influenza viruses, considering the economic and public health implications.</a:t>
            </a:r>
          </a:p>
          <a:p>
            <a:pPr marL="178307" lvl="0" indent="-178307" algn="l" rtl="0">
              <a:lnSpc>
                <a:spcPct val="90000"/>
              </a:lnSpc>
              <a:spcBef>
                <a:spcPts val="700"/>
              </a:spcBef>
              <a:spcAft>
                <a:spcPts val="0"/>
              </a:spcAft>
              <a:buClr>
                <a:srgbClr val="000000"/>
              </a:buClr>
              <a:buSzPts val="1092"/>
              <a:buChar char="•"/>
            </a:pPr>
            <a:endParaRPr lang="en-US" sz="2000" dirty="0">
              <a:latin typeface="Times New Roman" panose="02020603050405020304" pitchFamily="18" charset="0"/>
              <a:cs typeface="Times New Roman" panose="02020603050405020304" pitchFamily="18" charset="0"/>
            </a:endParaRPr>
          </a:p>
          <a:p>
            <a:pPr marL="342900" lvl="0" indent="-342900" algn="l" rtl="0">
              <a:lnSpc>
                <a:spcPct val="90000"/>
              </a:lnSpc>
              <a:spcBef>
                <a:spcPts val="700"/>
              </a:spcBef>
              <a:spcAft>
                <a:spcPts val="0"/>
              </a:spcAft>
              <a:buClr>
                <a:srgbClr val="000000"/>
              </a:buClr>
              <a:buSzPts val="1092"/>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Develop an immuno-epidemiological framework that considers the interplay between avian influenza infections in birds, humans, and other animals to predict pandemic conditions and inform control strategies.</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4152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2"/>
          <p:cNvSpPr txBox="1">
            <a:spLocks noGrp="1"/>
          </p:cNvSpPr>
          <p:nvPr>
            <p:ph type="title"/>
          </p:nvPr>
        </p:nvSpPr>
        <p:spPr>
          <a:xfrm>
            <a:off x="2694039" y="2931913"/>
            <a:ext cx="5034116" cy="994173"/>
          </a:xfrm>
          <a:prstGeom prst="rect">
            <a:avLst/>
          </a:prstGeom>
          <a:noFill/>
          <a:ln>
            <a:noFill/>
          </a:ln>
        </p:spPr>
        <p:txBody>
          <a:bodyPr spcFirstLastPara="1" wrap="square" lIns="34275" tIns="34275" rIns="34275" bIns="34275" anchor="ctr" anchorCtr="0">
            <a:normAutofit fontScale="90000"/>
          </a:bodyPr>
          <a:lstStyle/>
          <a:p>
            <a:pPr marL="0" lvl="0" indent="0" algn="l" rtl="0">
              <a:lnSpc>
                <a:spcPct val="90000"/>
              </a:lnSpc>
              <a:spcBef>
                <a:spcPts val="0"/>
              </a:spcBef>
              <a:spcAft>
                <a:spcPts val="0"/>
              </a:spcAft>
              <a:buClr>
                <a:srgbClr val="000000"/>
              </a:buClr>
              <a:buSzPts val="3239"/>
              <a:buFont typeface="Play"/>
              <a:buNone/>
            </a:pPr>
            <a:r>
              <a:rPr lang="en-US" sz="6700" dirty="0"/>
              <a:t>Thank You</a:t>
            </a:r>
            <a:br>
              <a:rPr lang="en-US" sz="3239" dirty="0"/>
            </a:br>
            <a:endParaRPr dirty="0"/>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TotalTime>
  <Words>1216</Words>
  <Application>Microsoft Office PowerPoint</Application>
  <PresentationFormat>On-screen Show (4:3)</PresentationFormat>
  <Paragraphs>165</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Wingdings</vt:lpstr>
      <vt:lpstr>Times New Roman</vt:lpstr>
      <vt:lpstr>Calibri</vt:lpstr>
      <vt:lpstr>Play</vt:lpstr>
      <vt:lpstr>Office Theme</vt:lpstr>
      <vt:lpstr>Topic: Data Analytics and Visualization On Avian Disease </vt:lpstr>
      <vt:lpstr>Avian Dashboard Interface &amp; Manual Data Collection</vt:lpstr>
      <vt:lpstr>Dataset Creation and Preprocessing</vt:lpstr>
      <vt:lpstr>Supplementary Data Integration (Temperature &amp; Poultry Density)</vt:lpstr>
      <vt:lpstr>Raw Dataset and Sampling Strategy</vt:lpstr>
      <vt:lpstr>Exploratory Data Analysis</vt:lpstr>
      <vt:lpstr>Dataset Overview</vt:lpstr>
      <vt:lpstr>Histogram of Cases</vt:lpstr>
      <vt:lpstr>Countplot of Clinical Signs</vt:lpstr>
      <vt:lpstr>Clinical Signs Distribution</vt:lpstr>
      <vt:lpstr>Scatterplot: Temperature vs Cases</vt:lpstr>
      <vt:lpstr>Boxplot (Clinical Sign vs Cases)</vt:lpstr>
      <vt:lpstr>Heatmap: Correlation Matrix      </vt:lpstr>
      <vt:lpstr>Heatmap</vt:lpstr>
      <vt:lpstr>Insights</vt:lpstr>
      <vt:lpstr>Implementation of Regression Model</vt:lpstr>
      <vt:lpstr>Justifications for Chosen Models</vt:lpstr>
      <vt:lpstr>Linear Regression Implementation</vt:lpstr>
      <vt:lpstr>Logistic Regression Implementation</vt:lpstr>
      <vt:lpstr>Model Evaluation</vt:lpstr>
      <vt:lpstr>Why Logistic Regression for Avian Disease Data?</vt:lpstr>
      <vt:lpstr>Why Not Linear Regression?</vt:lpstr>
      <vt:lpstr>Statistical Test Results</vt:lpstr>
      <vt:lpstr>Statistical Test Results</vt:lpstr>
      <vt:lpstr>Differences in Two models based on Result</vt:lpstr>
      <vt:lpstr>Measuring the ROC Curve and Regression Justification</vt:lpstr>
      <vt:lpstr>Measuring the ROC Curve and Regression Justification</vt:lpstr>
      <vt:lpstr>Future Aspects of Our Analysis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Arpita Das</cp:lastModifiedBy>
  <cp:revision>23</cp:revision>
  <dcterms:modified xsi:type="dcterms:W3CDTF">2025-04-23T02:39:53Z</dcterms:modified>
</cp:coreProperties>
</file>