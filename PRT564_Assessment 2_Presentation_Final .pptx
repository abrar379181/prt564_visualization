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3" r:id="rId1"/>
  </p:sldMasterIdLst>
  <p:notesMasterIdLst>
    <p:notesMasterId r:id="rId32"/>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5" r:id="rId29"/>
    <p:sldId id="286" r:id="rId30"/>
    <p:sldId id="284" r:id="rId31"/>
  </p:sldIdLst>
  <p:sldSz cx="9144000" cy="6858000" type="screen4x3"/>
  <p:notesSz cx="6858000" cy="9144000"/>
  <p:embeddedFontLst>
    <p:embeddedFont>
      <p:font typeface="Century Gothic" panose="020B0502020202020204" pitchFamily="34" charset="0"/>
      <p:regular r:id="rId33"/>
      <p:bold r:id="rId34"/>
      <p:italic r:id="rId35"/>
      <p:boldItalic r:id="rId36"/>
    </p:embeddedFont>
    <p:embeddedFont>
      <p:font typeface="Play" pitchFamily="2" charset="0"/>
      <p:regular r:id="rId37"/>
      <p:bold r:id="rId38"/>
    </p:embeddedFont>
    <p:embeddedFont>
      <p:font typeface="Wingdings 3" pitchFamily="2" charset="2"/>
      <p:regular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75D03A-7C22-3D40-A0C7-336D1F535656}" v="1" dt="2025-04-23T13:44:17.341"/>
    <p1510:client id="{B0F0D101-BDEF-C94D-0695-818A3B836551}" v="99" dt="2025-04-23T13:42:24.910"/>
  </p1510:revLst>
</p1510:revInfo>
</file>

<file path=ppt/tableStyles.xml><?xml version="1.0" encoding="utf-8"?>
<a:tblStyleLst xmlns:a="http://schemas.openxmlformats.org/drawingml/2006/main" def="{FAD2F71C-7846-4C3E-9502-F6074BB4B6FC}">
  <a:tblStyle styleId="{FAD2F71C-7846-4C3E-9502-F6074BB4B6FC}" styleName="Table_0">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CFD7E7"/>
          </a:solidFill>
        </a:fill>
      </a:tcStyle>
    </a:wholeTbl>
    <a:band1H>
      <a:tcTxStyle/>
      <a:tcStyle>
        <a:tcBdr/>
      </a:tcStyle>
    </a:band1H>
    <a:band2H>
      <a:tcTxStyle b="off" i="off"/>
      <a:tcStyle>
        <a:tcBdr/>
        <a:fill>
          <a:solidFill>
            <a:srgbClr val="E8ECF4"/>
          </a:solidFill>
        </a:fill>
      </a:tcStyle>
    </a:band2H>
    <a:band1V>
      <a:tcTxStyle/>
      <a:tcStyle>
        <a:tcBdr/>
      </a:tcStyle>
    </a:band1V>
    <a:band2V>
      <a:tcTxStyle/>
      <a:tcStyle>
        <a:tcBdr/>
      </a:tcStyle>
    </a:band2V>
    <a:lastCol>
      <a:tcTxStyle/>
      <a:tcStyle>
        <a:tcBdr/>
      </a:tcStyle>
    </a:lastCol>
    <a:firstCol>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Col>
    <a:la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381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381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78"/>
    <p:restoredTop sz="94694"/>
  </p:normalViewPr>
  <p:slideViewPr>
    <p:cSldViewPr snapToGrid="0">
      <p:cViewPr varScale="1">
        <p:scale>
          <a:sx n="121" d="100"/>
          <a:sy n="121" d="100"/>
        </p:scale>
        <p:origin x="2072"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 name="Google Shape;5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 name="Google Shape;6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 name="Google Shape;7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 name="Google Shape;8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 name="Google Shape;9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2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2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2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2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3" name="Google Shape;20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5" name="Google Shape;225;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2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287E185A-5AB0-69DA-697A-299035125228}"/>
            </a:ext>
          </a:extLst>
        </p:cNvPr>
        <p:cNvGrpSpPr/>
        <p:nvPr/>
      </p:nvGrpSpPr>
      <p:grpSpPr>
        <a:xfrm>
          <a:off x="0" y="0"/>
          <a:ext cx="0" cy="0"/>
          <a:chOff x="0" y="0"/>
          <a:chExt cx="0" cy="0"/>
        </a:xfrm>
      </p:grpSpPr>
      <p:sp>
        <p:nvSpPr>
          <p:cNvPr id="238" name="Google Shape;238;p28:notes">
            <a:extLst>
              <a:ext uri="{FF2B5EF4-FFF2-40B4-BE49-F238E27FC236}">
                <a16:creationId xmlns:a16="http://schemas.microsoft.com/office/drawing/2014/main" id="{3CE890BD-B738-E55C-F443-A2D3ABBE353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28:notes">
            <a:extLst>
              <a:ext uri="{FF2B5EF4-FFF2-40B4-BE49-F238E27FC236}">
                <a16:creationId xmlns:a16="http://schemas.microsoft.com/office/drawing/2014/main" id="{01764025-80C5-6568-823D-2E2748DD3E0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496053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dirty="0"/>
              <a:t>Click to edit Master title style</a:t>
            </a:r>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4/23/25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174667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9796027F-7875-4030-9381-8BD8C4F21935}" type="datetimeFigureOut">
              <a:rPr lang="en-US" dirty="0"/>
              <a:t>4/23/25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355107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4/23/25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756684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9796027F-7875-4030-9381-8BD8C4F21935}" type="datetimeFigureOut">
              <a:rPr lang="en-US" dirty="0"/>
              <a:t>4/23/25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238874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796027F-7875-4030-9381-8BD8C4F21935}" type="datetimeFigureOut">
              <a:rPr lang="en-US" dirty="0"/>
              <a:t>4/23/25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581613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4/23/25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085101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4/23/25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4235006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dirty="0"/>
              <a:t>Click to edit Master title style</a:t>
            </a:r>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4/23/25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01270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dirty="0"/>
              <a:t>Click to edit Master title style</a:t>
            </a:r>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849284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4/23/25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874506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dirty="0"/>
              <a:t>Click to edit Master title style</a:t>
            </a:r>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766537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17649"/>
          </a:xfrm>
        </p:spPr>
        <p:txBody>
          <a:bodyPr/>
          <a:lstStyle>
            <a:lvl1pPr>
              <a:defRPr sz="4800"/>
            </a:lvl1pPr>
          </a:lstStyle>
          <a:p>
            <a:r>
              <a:rPr lang="en-US" dirty="0"/>
              <a:t>Click to edit Master title style</a:t>
            </a:r>
          </a:p>
        </p:txBody>
      </p:sp>
      <p:sp>
        <p:nvSpPr>
          <p:cNvPr id="14" name="Text Placeholder 3"/>
          <p:cNvSpPr>
            <a:spLocks noGrp="1"/>
          </p:cNvSpPr>
          <p:nvPr>
            <p:ph type="body" sz="half" idx="13"/>
          </p:nvPr>
        </p:nvSpPr>
        <p:spPr>
          <a:xfrm>
            <a:off x="1454530" y="3765449"/>
            <a:ext cx="5449871"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12200" dirty="0"/>
              <a:t>“</a:t>
            </a:r>
          </a:p>
        </p:txBody>
      </p:sp>
      <p:sp>
        <p:nvSpPr>
          <p:cNvPr id="13" name="TextBox 12"/>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5941030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4/23/25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0148790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4/23/25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6609142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dirty="0"/>
              <a:t>Click to edit Master title style</a:t>
            </a:r>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4/23/25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3404823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4/23/25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23774346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dirty="0"/>
              <a:t>Click to edit Master title style</a:t>
            </a:r>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509A250-FF31-4206-8172-F9D3106AACB1}" type="datetimeFigureOut">
              <a:rPr lang="en-US" dirty="0"/>
              <a:t>4/23/25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extLst>
      <p:ext uri="{BB962C8B-B14F-4D97-AF65-F5344CB8AC3E}">
        <p14:creationId xmlns:p14="http://schemas.microsoft.com/office/powerpoint/2010/main" val="12672906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tx">
  <p:cSld name="1_Title and Content">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457200" y="274638"/>
            <a:ext cx="8229600" cy="1143001"/>
          </a:xfrm>
          <a:prstGeom prst="rect">
            <a:avLst/>
          </a:prstGeom>
          <a:noFill/>
          <a:ln>
            <a:noFill/>
          </a:ln>
        </p:spPr>
        <p:txBody>
          <a:bodyPr spcFirstLastPara="1" wrap="square" lIns="45700" tIns="45700" rIns="45700" bIns="45700"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2"/>
          <p:cNvSpPr txBox="1">
            <a:spLocks noGrp="1"/>
          </p:cNvSpPr>
          <p:nvPr>
            <p:ph type="body" idx="1"/>
          </p:nvPr>
        </p:nvSpPr>
        <p:spPr>
          <a:xfrm>
            <a:off x="457200" y="1600200"/>
            <a:ext cx="8229600" cy="4525963"/>
          </a:xfrm>
          <a:prstGeom prst="rect">
            <a:avLst/>
          </a:prstGeom>
          <a:noFill/>
          <a:ln>
            <a:noFill/>
          </a:ln>
        </p:spPr>
        <p:txBody>
          <a:bodyPr spcFirstLastPara="1" wrap="square" lIns="45700" tIns="45700" rIns="45700" bIns="45700" anchor="t" anchorCtr="0">
            <a:normAutofit/>
          </a:bodyPr>
          <a:lstStyle>
            <a:lvl1pPr marL="457200" lvl="0" indent="-342900" algn="l">
              <a:lnSpc>
                <a:spcPct val="100000"/>
              </a:lnSpc>
              <a:spcBef>
                <a:spcPts val="700"/>
              </a:spcBef>
              <a:spcAft>
                <a:spcPts val="0"/>
              </a:spcAft>
              <a:buClr>
                <a:srgbClr val="000000"/>
              </a:buClr>
              <a:buSzPts val="1800"/>
              <a:buChar char="•"/>
              <a:defRPr/>
            </a:lvl1pPr>
            <a:lvl2pPr marL="914400" lvl="1" indent="-342900" algn="l">
              <a:lnSpc>
                <a:spcPct val="100000"/>
              </a:lnSpc>
              <a:spcBef>
                <a:spcPts val="700"/>
              </a:spcBef>
              <a:spcAft>
                <a:spcPts val="0"/>
              </a:spcAft>
              <a:buClr>
                <a:srgbClr val="000000"/>
              </a:buClr>
              <a:buSzPts val="1800"/>
              <a:buChar char="–"/>
              <a:defRPr/>
            </a:lvl2pPr>
            <a:lvl3pPr marL="1371600" lvl="2" indent="-342900" algn="l">
              <a:lnSpc>
                <a:spcPct val="100000"/>
              </a:lnSpc>
              <a:spcBef>
                <a:spcPts val="700"/>
              </a:spcBef>
              <a:spcAft>
                <a:spcPts val="0"/>
              </a:spcAft>
              <a:buClr>
                <a:srgbClr val="000000"/>
              </a:buClr>
              <a:buSzPts val="1800"/>
              <a:buChar char="•"/>
              <a:defRPr/>
            </a:lvl3pPr>
            <a:lvl4pPr marL="1828800" lvl="3" indent="-342900" algn="l">
              <a:lnSpc>
                <a:spcPct val="100000"/>
              </a:lnSpc>
              <a:spcBef>
                <a:spcPts val="700"/>
              </a:spcBef>
              <a:spcAft>
                <a:spcPts val="0"/>
              </a:spcAft>
              <a:buClr>
                <a:srgbClr val="000000"/>
              </a:buClr>
              <a:buSzPts val="1800"/>
              <a:buChar char="–"/>
              <a:defRPr/>
            </a:lvl4pPr>
            <a:lvl5pPr marL="2286000" lvl="4" indent="-342900" algn="l">
              <a:lnSpc>
                <a:spcPct val="100000"/>
              </a:lnSpc>
              <a:spcBef>
                <a:spcPts val="700"/>
              </a:spcBef>
              <a:spcAft>
                <a:spcPts val="0"/>
              </a:spcAft>
              <a:buClr>
                <a:srgbClr val="000000"/>
              </a:buClr>
              <a:buSzPts val="1800"/>
              <a:buChar char="»"/>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12" name="Google Shape;12;p2"/>
          <p:cNvSpPr txBox="1">
            <a:spLocks noGrp="1"/>
          </p:cNvSpPr>
          <p:nvPr>
            <p:ph type="sldNum" idx="12"/>
          </p:nvPr>
        </p:nvSpPr>
        <p:spPr>
          <a:xfrm>
            <a:off x="8428176" y="6414760"/>
            <a:ext cx="258624" cy="248305"/>
          </a:xfrm>
          <a:prstGeom prst="rect">
            <a:avLst/>
          </a:prstGeom>
          <a:noFill/>
          <a:ln>
            <a:noFill/>
          </a:ln>
        </p:spPr>
        <p:txBody>
          <a:bodyPr spcFirstLastPara="1" wrap="square" lIns="45700" tIns="45700" rIns="45700" bIns="45700" anchor="ctr" anchorCtr="0">
            <a:spAutoFit/>
          </a:bodyPr>
          <a:lstStyle>
            <a:lvl1pPr marL="0" lvl="0" indent="0" algn="r">
              <a:lnSpc>
                <a:spcPct val="100000"/>
              </a:lnSpc>
              <a:spcBef>
                <a:spcPts val="0"/>
              </a:spcBef>
              <a:spcAft>
                <a:spcPts val="0"/>
              </a:spcAft>
              <a:buClr>
                <a:srgbClr val="888888"/>
              </a:buClr>
              <a:buSzPts val="1200"/>
              <a:buFont typeface="Calibri"/>
              <a:buNone/>
              <a:defRPr sz="1200">
                <a:solidFill>
                  <a:srgbClr val="888888"/>
                </a:solidFill>
              </a:defRPr>
            </a:lvl1pPr>
            <a:lvl2pPr marL="0" lvl="1" indent="0" algn="r">
              <a:lnSpc>
                <a:spcPct val="100000"/>
              </a:lnSpc>
              <a:spcBef>
                <a:spcPts val="0"/>
              </a:spcBef>
              <a:spcAft>
                <a:spcPts val="0"/>
              </a:spcAft>
              <a:buClr>
                <a:srgbClr val="888888"/>
              </a:buClr>
              <a:buSzPts val="1200"/>
              <a:buFont typeface="Calibri"/>
              <a:buNone/>
              <a:defRPr sz="1200">
                <a:solidFill>
                  <a:srgbClr val="888888"/>
                </a:solidFill>
              </a:defRPr>
            </a:lvl2pPr>
            <a:lvl3pPr marL="0" lvl="2" indent="0" algn="r">
              <a:lnSpc>
                <a:spcPct val="100000"/>
              </a:lnSpc>
              <a:spcBef>
                <a:spcPts val="0"/>
              </a:spcBef>
              <a:spcAft>
                <a:spcPts val="0"/>
              </a:spcAft>
              <a:buClr>
                <a:srgbClr val="888888"/>
              </a:buClr>
              <a:buSzPts val="1200"/>
              <a:buFont typeface="Calibri"/>
              <a:buNone/>
              <a:defRPr sz="1200">
                <a:solidFill>
                  <a:srgbClr val="888888"/>
                </a:solidFill>
              </a:defRPr>
            </a:lvl3pPr>
            <a:lvl4pPr marL="0" lvl="3" indent="0" algn="r">
              <a:lnSpc>
                <a:spcPct val="100000"/>
              </a:lnSpc>
              <a:spcBef>
                <a:spcPts val="0"/>
              </a:spcBef>
              <a:spcAft>
                <a:spcPts val="0"/>
              </a:spcAft>
              <a:buClr>
                <a:srgbClr val="888888"/>
              </a:buClr>
              <a:buSzPts val="1200"/>
              <a:buFont typeface="Calibri"/>
              <a:buNone/>
              <a:defRPr sz="1200">
                <a:solidFill>
                  <a:srgbClr val="888888"/>
                </a:solidFill>
              </a:defRPr>
            </a:lvl4pPr>
            <a:lvl5pPr marL="0" lvl="4" indent="0" algn="r">
              <a:lnSpc>
                <a:spcPct val="100000"/>
              </a:lnSpc>
              <a:spcBef>
                <a:spcPts val="0"/>
              </a:spcBef>
              <a:spcAft>
                <a:spcPts val="0"/>
              </a:spcAft>
              <a:buClr>
                <a:srgbClr val="888888"/>
              </a:buClr>
              <a:buSzPts val="1200"/>
              <a:buFont typeface="Calibri"/>
              <a:buNone/>
              <a:defRPr sz="1200">
                <a:solidFill>
                  <a:srgbClr val="888888"/>
                </a:solidFill>
              </a:defRPr>
            </a:lvl5pPr>
            <a:lvl6pPr marL="0" lvl="5" indent="0" algn="r">
              <a:lnSpc>
                <a:spcPct val="100000"/>
              </a:lnSpc>
              <a:spcBef>
                <a:spcPts val="0"/>
              </a:spcBef>
              <a:spcAft>
                <a:spcPts val="0"/>
              </a:spcAft>
              <a:buClr>
                <a:srgbClr val="888888"/>
              </a:buClr>
              <a:buSzPts val="1200"/>
              <a:buFont typeface="Calibri"/>
              <a:buNone/>
              <a:defRPr sz="1200">
                <a:solidFill>
                  <a:srgbClr val="888888"/>
                </a:solidFill>
              </a:defRPr>
            </a:lvl6pPr>
            <a:lvl7pPr marL="0" lvl="6" indent="0" algn="r">
              <a:lnSpc>
                <a:spcPct val="100000"/>
              </a:lnSpc>
              <a:spcBef>
                <a:spcPts val="0"/>
              </a:spcBef>
              <a:spcAft>
                <a:spcPts val="0"/>
              </a:spcAft>
              <a:buClr>
                <a:srgbClr val="888888"/>
              </a:buClr>
              <a:buSzPts val="1200"/>
              <a:buFont typeface="Calibri"/>
              <a:buNone/>
              <a:defRPr sz="1200">
                <a:solidFill>
                  <a:srgbClr val="888888"/>
                </a:solidFill>
              </a:defRPr>
            </a:lvl7pPr>
            <a:lvl8pPr marL="0" lvl="7" indent="0" algn="r">
              <a:lnSpc>
                <a:spcPct val="100000"/>
              </a:lnSpc>
              <a:spcBef>
                <a:spcPts val="0"/>
              </a:spcBef>
              <a:spcAft>
                <a:spcPts val="0"/>
              </a:spcAft>
              <a:buClr>
                <a:srgbClr val="888888"/>
              </a:buClr>
              <a:buSzPts val="1200"/>
              <a:buFont typeface="Calibri"/>
              <a:buNone/>
              <a:defRPr sz="1200">
                <a:solidFill>
                  <a:srgbClr val="888888"/>
                </a:solidFill>
              </a:defRPr>
            </a:lvl8pPr>
            <a:lvl9pPr marL="0" lvl="8" indent="0" algn="r">
              <a:lnSpc>
                <a:spcPct val="100000"/>
              </a:lnSpc>
              <a:spcBef>
                <a:spcPts val="0"/>
              </a:spcBef>
              <a:spcAft>
                <a:spcPts val="0"/>
              </a:spcAft>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15931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_AND_BODY">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699" y="1302274"/>
            <a:ext cx="8520602" cy="572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000000"/>
              </a:buClr>
              <a:buSzPts val="3600"/>
              <a:buFont typeface="Arial"/>
              <a:buNone/>
              <a:defRPr sz="3600">
                <a:latin typeface="Arial"/>
                <a:ea typeface="Arial"/>
                <a:cs typeface="Arial"/>
                <a:sym typeface="Arial"/>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9" name="Google Shape;19;p4"/>
          <p:cNvSpPr txBox="1">
            <a:spLocks noGrp="1"/>
          </p:cNvSpPr>
          <p:nvPr>
            <p:ph type="body" idx="1"/>
          </p:nvPr>
        </p:nvSpPr>
        <p:spPr>
          <a:xfrm>
            <a:off x="311699" y="2009725"/>
            <a:ext cx="8520602" cy="3416400"/>
          </a:xfrm>
          <a:prstGeom prst="rect">
            <a:avLst/>
          </a:prstGeom>
          <a:noFill/>
          <a:ln>
            <a:noFill/>
          </a:ln>
        </p:spPr>
        <p:txBody>
          <a:bodyPr spcFirstLastPara="1" wrap="square" lIns="91400" tIns="91400" rIns="91400" bIns="91400" anchor="t" anchorCtr="0">
            <a:normAutofit/>
          </a:bodyPr>
          <a:lstStyle>
            <a:lvl1pPr marL="457200" lvl="0" indent="-381000" algn="l">
              <a:lnSpc>
                <a:spcPct val="115000"/>
              </a:lnSpc>
              <a:spcBef>
                <a:spcPts val="0"/>
              </a:spcBef>
              <a:spcAft>
                <a:spcPts val="0"/>
              </a:spcAft>
              <a:buClr>
                <a:srgbClr val="595959"/>
              </a:buClr>
              <a:buSzPts val="2400"/>
              <a:buChar char="●"/>
              <a:defRPr sz="2400">
                <a:solidFill>
                  <a:srgbClr val="595959"/>
                </a:solidFill>
                <a:latin typeface="Arial"/>
                <a:ea typeface="Arial"/>
                <a:cs typeface="Arial"/>
                <a:sym typeface="Arial"/>
              </a:defRPr>
            </a:lvl1pPr>
            <a:lvl2pPr marL="914400" lvl="1" indent="-381000" algn="l">
              <a:lnSpc>
                <a:spcPct val="115000"/>
              </a:lnSpc>
              <a:spcBef>
                <a:spcPts val="0"/>
              </a:spcBef>
              <a:spcAft>
                <a:spcPts val="0"/>
              </a:spcAft>
              <a:buClr>
                <a:srgbClr val="595959"/>
              </a:buClr>
              <a:buSzPts val="2400"/>
              <a:buChar char="○"/>
              <a:defRPr sz="2400">
                <a:solidFill>
                  <a:srgbClr val="595959"/>
                </a:solidFill>
                <a:latin typeface="Arial"/>
                <a:ea typeface="Arial"/>
                <a:cs typeface="Arial"/>
                <a:sym typeface="Arial"/>
              </a:defRPr>
            </a:lvl2pPr>
            <a:lvl3pPr marL="1371600" lvl="2" indent="-381000" algn="l">
              <a:lnSpc>
                <a:spcPct val="115000"/>
              </a:lnSpc>
              <a:spcBef>
                <a:spcPts val="0"/>
              </a:spcBef>
              <a:spcAft>
                <a:spcPts val="0"/>
              </a:spcAft>
              <a:buClr>
                <a:srgbClr val="595959"/>
              </a:buClr>
              <a:buSzPts val="2400"/>
              <a:buChar char="■"/>
              <a:defRPr sz="2400">
                <a:solidFill>
                  <a:srgbClr val="595959"/>
                </a:solidFill>
                <a:latin typeface="Arial"/>
                <a:ea typeface="Arial"/>
                <a:cs typeface="Arial"/>
                <a:sym typeface="Arial"/>
              </a:defRPr>
            </a:lvl3pPr>
            <a:lvl4pPr marL="1828800" lvl="3" indent="-381000" algn="l">
              <a:lnSpc>
                <a:spcPct val="115000"/>
              </a:lnSpc>
              <a:spcBef>
                <a:spcPts val="0"/>
              </a:spcBef>
              <a:spcAft>
                <a:spcPts val="0"/>
              </a:spcAft>
              <a:buClr>
                <a:srgbClr val="595959"/>
              </a:buClr>
              <a:buSzPts val="2400"/>
              <a:buChar char="●"/>
              <a:defRPr sz="2400">
                <a:solidFill>
                  <a:srgbClr val="595959"/>
                </a:solidFill>
                <a:latin typeface="Arial"/>
                <a:ea typeface="Arial"/>
                <a:cs typeface="Arial"/>
                <a:sym typeface="Arial"/>
              </a:defRPr>
            </a:lvl4pPr>
            <a:lvl5pPr marL="2286000" lvl="4" indent="-381000" algn="l">
              <a:lnSpc>
                <a:spcPct val="115000"/>
              </a:lnSpc>
              <a:spcBef>
                <a:spcPts val="0"/>
              </a:spcBef>
              <a:spcAft>
                <a:spcPts val="0"/>
              </a:spcAft>
              <a:buClr>
                <a:srgbClr val="595959"/>
              </a:buClr>
              <a:buSzPts val="2400"/>
              <a:buChar char="○"/>
              <a:defRPr sz="2400">
                <a:solidFill>
                  <a:srgbClr val="595959"/>
                </a:solidFill>
                <a:latin typeface="Arial"/>
                <a:ea typeface="Arial"/>
                <a:cs typeface="Arial"/>
                <a:sym typeface="Aria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0" name="Google Shape;20;p4"/>
          <p:cNvSpPr txBox="1">
            <a:spLocks noGrp="1"/>
          </p:cNvSpPr>
          <p:nvPr>
            <p:ph type="sldNum" idx="12"/>
          </p:nvPr>
        </p:nvSpPr>
        <p:spPr>
          <a:xfrm>
            <a:off x="8656092" y="5539434"/>
            <a:ext cx="365066" cy="355666"/>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1pPr>
            <a:lvl2pPr marL="0" marR="0" lvl="1"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2pPr>
            <a:lvl3pPr marL="0" marR="0" lvl="2"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3pPr>
            <a:lvl4pPr marL="0" marR="0" lvl="3"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4pPr>
            <a:lvl5pPr marL="0" marR="0" lvl="4"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5pPr>
            <a:lvl6pPr marL="0" marR="0" lvl="5"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6pPr>
            <a:lvl7pPr marL="0" marR="0" lvl="6"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7pPr>
            <a:lvl8pPr marL="0" marR="0" lvl="7"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8pPr>
            <a:lvl9pPr marL="0" marR="0" lvl="8" indent="0" algn="r">
              <a:lnSpc>
                <a:spcPct val="100000"/>
              </a:lnSpc>
              <a:spcBef>
                <a:spcPts val="0"/>
              </a:spcBef>
              <a:spcAft>
                <a:spcPts val="0"/>
              </a:spcAft>
              <a:buClr>
                <a:srgbClr val="595959"/>
              </a:buClr>
              <a:buSzPts val="1200"/>
              <a:buFont typeface="Arial"/>
              <a:buNone/>
              <a:defRPr>
                <a:solidFill>
                  <a:srgbClr val="595959"/>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63139876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628650" y="1131093"/>
            <a:ext cx="7886700" cy="994174"/>
          </a:xfrm>
          <a:prstGeom prst="rect">
            <a:avLst/>
          </a:prstGeom>
          <a:noFill/>
          <a:ln>
            <a:noFill/>
          </a:ln>
        </p:spPr>
        <p:txBody>
          <a:bodyPr spcFirstLastPara="1" wrap="square" lIns="34275" tIns="34275" rIns="34275" bIns="34275" anchor="ctr" anchorCtr="0">
            <a:normAutofit/>
          </a:bodyPr>
          <a:lstStyle>
            <a:lvl1pPr lvl="0" algn="l">
              <a:lnSpc>
                <a:spcPct val="90000"/>
              </a:lnSpc>
              <a:spcBef>
                <a:spcPts val="0"/>
              </a:spcBef>
              <a:spcAft>
                <a:spcPts val="0"/>
              </a:spcAft>
              <a:buClr>
                <a:srgbClr val="000000"/>
              </a:buClr>
              <a:buSzPts val="4400"/>
              <a:buFont typeface="Play"/>
              <a:buNone/>
              <a:defRPr>
                <a:latin typeface="Play"/>
                <a:ea typeface="Play"/>
                <a:cs typeface="Play"/>
                <a:sym typeface="Play"/>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3" name="Google Shape;23;p5"/>
          <p:cNvSpPr txBox="1">
            <a:spLocks noGrp="1"/>
          </p:cNvSpPr>
          <p:nvPr>
            <p:ph type="body" idx="1"/>
          </p:nvPr>
        </p:nvSpPr>
        <p:spPr>
          <a:xfrm>
            <a:off x="628650" y="2226468"/>
            <a:ext cx="7886700" cy="3263505"/>
          </a:xfrm>
          <a:prstGeom prst="rect">
            <a:avLst/>
          </a:prstGeom>
          <a:noFill/>
          <a:ln>
            <a:noFill/>
          </a:ln>
        </p:spPr>
        <p:txBody>
          <a:bodyPr spcFirstLastPara="1" wrap="square" lIns="34275" tIns="34275" rIns="34275" bIns="34275" anchor="t" anchorCtr="0">
            <a:normAutofit/>
          </a:bodyPr>
          <a:lstStyle>
            <a:lvl1pPr marL="457200" lvl="0" indent="-406400" algn="l">
              <a:lnSpc>
                <a:spcPct val="90000"/>
              </a:lnSpc>
              <a:spcBef>
                <a:spcPts val="1000"/>
              </a:spcBef>
              <a:spcAft>
                <a:spcPts val="0"/>
              </a:spcAft>
              <a:buClr>
                <a:srgbClr val="000000"/>
              </a:buClr>
              <a:buSzPts val="2800"/>
              <a:buChar char="•"/>
              <a:defRPr sz="2800">
                <a:latin typeface="Arial"/>
                <a:ea typeface="Arial"/>
                <a:cs typeface="Arial"/>
                <a:sym typeface="Arial"/>
              </a:defRPr>
            </a:lvl1pPr>
            <a:lvl2pPr marL="914400" lvl="1" indent="-406400" algn="l">
              <a:lnSpc>
                <a:spcPct val="90000"/>
              </a:lnSpc>
              <a:spcBef>
                <a:spcPts val="1000"/>
              </a:spcBef>
              <a:spcAft>
                <a:spcPts val="0"/>
              </a:spcAft>
              <a:buClr>
                <a:srgbClr val="000000"/>
              </a:buClr>
              <a:buSzPts val="2800"/>
              <a:buChar char="•"/>
              <a:defRPr sz="2800">
                <a:latin typeface="Arial"/>
                <a:ea typeface="Arial"/>
                <a:cs typeface="Arial"/>
                <a:sym typeface="Arial"/>
              </a:defRPr>
            </a:lvl2pPr>
            <a:lvl3pPr marL="1371600" lvl="2" indent="-406400" algn="l">
              <a:lnSpc>
                <a:spcPct val="90000"/>
              </a:lnSpc>
              <a:spcBef>
                <a:spcPts val="1000"/>
              </a:spcBef>
              <a:spcAft>
                <a:spcPts val="0"/>
              </a:spcAft>
              <a:buClr>
                <a:srgbClr val="000000"/>
              </a:buClr>
              <a:buSzPts val="2800"/>
              <a:buChar char="•"/>
              <a:defRPr sz="2800">
                <a:latin typeface="Arial"/>
                <a:ea typeface="Arial"/>
                <a:cs typeface="Arial"/>
                <a:sym typeface="Arial"/>
              </a:defRPr>
            </a:lvl3pPr>
            <a:lvl4pPr marL="1828800" lvl="3" indent="-406400" algn="l">
              <a:lnSpc>
                <a:spcPct val="90000"/>
              </a:lnSpc>
              <a:spcBef>
                <a:spcPts val="1000"/>
              </a:spcBef>
              <a:spcAft>
                <a:spcPts val="0"/>
              </a:spcAft>
              <a:buClr>
                <a:srgbClr val="000000"/>
              </a:buClr>
              <a:buSzPts val="2800"/>
              <a:buChar char="•"/>
              <a:defRPr sz="2800">
                <a:latin typeface="Arial"/>
                <a:ea typeface="Arial"/>
                <a:cs typeface="Arial"/>
                <a:sym typeface="Arial"/>
              </a:defRPr>
            </a:lvl4pPr>
            <a:lvl5pPr marL="2286000" lvl="4" indent="-406400" algn="l">
              <a:lnSpc>
                <a:spcPct val="90000"/>
              </a:lnSpc>
              <a:spcBef>
                <a:spcPts val="1000"/>
              </a:spcBef>
              <a:spcAft>
                <a:spcPts val="0"/>
              </a:spcAft>
              <a:buClr>
                <a:srgbClr val="000000"/>
              </a:buClr>
              <a:buSzPts val="2800"/>
              <a:buChar char="•"/>
              <a:defRPr sz="2800">
                <a:latin typeface="Arial"/>
                <a:ea typeface="Arial"/>
                <a:cs typeface="Arial"/>
                <a:sym typeface="Arial"/>
              </a:defRPr>
            </a:lvl5pPr>
            <a:lvl6pPr marL="2743200" lvl="5" indent="-342900" algn="l">
              <a:lnSpc>
                <a:spcPct val="100000"/>
              </a:lnSpc>
              <a:spcBef>
                <a:spcPts val="700"/>
              </a:spcBef>
              <a:spcAft>
                <a:spcPts val="0"/>
              </a:spcAft>
              <a:buClr>
                <a:srgbClr val="000000"/>
              </a:buClr>
              <a:buSzPts val="1800"/>
              <a:buChar char="•"/>
              <a:defRPr/>
            </a:lvl6pPr>
            <a:lvl7pPr marL="3200400" lvl="6" indent="-342900" algn="l">
              <a:lnSpc>
                <a:spcPct val="100000"/>
              </a:lnSpc>
              <a:spcBef>
                <a:spcPts val="700"/>
              </a:spcBef>
              <a:spcAft>
                <a:spcPts val="0"/>
              </a:spcAft>
              <a:buClr>
                <a:srgbClr val="000000"/>
              </a:buClr>
              <a:buSzPts val="1800"/>
              <a:buChar char="•"/>
              <a:defRPr/>
            </a:lvl7pPr>
            <a:lvl8pPr marL="3657600" lvl="7" indent="-342900" algn="l">
              <a:lnSpc>
                <a:spcPct val="100000"/>
              </a:lnSpc>
              <a:spcBef>
                <a:spcPts val="700"/>
              </a:spcBef>
              <a:spcAft>
                <a:spcPts val="0"/>
              </a:spcAft>
              <a:buClr>
                <a:srgbClr val="000000"/>
              </a:buClr>
              <a:buSzPts val="1800"/>
              <a:buChar char="•"/>
              <a:defRPr/>
            </a:lvl8pPr>
            <a:lvl9pPr marL="4114800" lvl="8" indent="-342900" algn="l">
              <a:lnSpc>
                <a:spcPct val="100000"/>
              </a:lnSpc>
              <a:spcBef>
                <a:spcPts val="700"/>
              </a:spcBef>
              <a:spcAft>
                <a:spcPts val="0"/>
              </a:spcAft>
              <a:buClr>
                <a:srgbClr val="000000"/>
              </a:buClr>
              <a:buSzPts val="1800"/>
              <a:buChar char="•"/>
              <a:defRPr/>
            </a:lvl9pPr>
          </a:lstStyle>
          <a:p>
            <a:endParaRPr/>
          </a:p>
        </p:txBody>
      </p:sp>
      <p:sp>
        <p:nvSpPr>
          <p:cNvPr id="24" name="Google Shape;24;p5"/>
          <p:cNvSpPr txBox="1">
            <a:spLocks noGrp="1"/>
          </p:cNvSpPr>
          <p:nvPr>
            <p:ph type="sldNum" idx="12"/>
          </p:nvPr>
        </p:nvSpPr>
        <p:spPr>
          <a:xfrm>
            <a:off x="8264554" y="5638244"/>
            <a:ext cx="250796" cy="246381"/>
          </a:xfrm>
          <a:prstGeom prst="rect">
            <a:avLst/>
          </a:prstGeom>
          <a:noFill/>
          <a:ln>
            <a:noFill/>
          </a:ln>
        </p:spPr>
        <p:txBody>
          <a:bodyPr spcFirstLastPara="1" wrap="square" lIns="34275" tIns="34275" rIns="34275" bIns="34275" anchor="ctr" anchorCtr="0">
            <a:spAutoFit/>
          </a:bodyPr>
          <a:lstStyle>
            <a:lvl1pPr marL="0" marR="0" lvl="0"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757575"/>
              </a:buClr>
              <a:buSzPts val="1200"/>
              <a:buFont typeface="Arial"/>
              <a:buNone/>
              <a:defRPr>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6666343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4/23/25</a:t>
            </a:fld>
            <a:endParaRPr lang="en-US" dirty="0"/>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D57F1E4F-1CFF-5643-939E-02111984F565}" type="slidenum">
              <a:rPr lang="en-US" dirty="0"/>
              <a:t>‹#›</a:t>
            </a:fld>
            <a:endParaRPr lang="en-US" dirty="0"/>
          </a:p>
        </p:txBody>
      </p:sp>
    </p:spTree>
    <p:extLst>
      <p:ext uri="{BB962C8B-B14F-4D97-AF65-F5344CB8AC3E}">
        <p14:creationId xmlns:p14="http://schemas.microsoft.com/office/powerpoint/2010/main" val="1554142814"/>
      </p:ext>
    </p:extLst>
  </p:cSld>
  <p:clrMap bg1="dk1" tx1="lt1" bg2="dk2" tx2="lt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 id="2147483745" r:id="rId12"/>
    <p:sldLayoutId id="2147483746" r:id="rId13"/>
    <p:sldLayoutId id="2147483747" r:id="rId14"/>
    <p:sldLayoutId id="2147483748" r:id="rId15"/>
    <p:sldLayoutId id="2147483749" r:id="rId16"/>
    <p:sldLayoutId id="2147483750" r:id="rId17"/>
    <p:sldLayoutId id="2147483751" r:id="rId18"/>
    <p:sldLayoutId id="2147483752" r:id="rId19"/>
    <p:sldLayoutId id="2147483753" r:id="rId20"/>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533813" y="723009"/>
            <a:ext cx="8229601" cy="1143001"/>
          </a:xfrm>
          <a:prstGeom prst="rect">
            <a:avLst/>
          </a:prstGeom>
          <a:noFill/>
          <a:ln>
            <a:noFill/>
          </a:ln>
        </p:spPr>
        <p:txBody>
          <a:bodyPr spcFirstLastPara="1" wrap="square" lIns="45700" tIns="45700" rIns="45700" bIns="45700" anchor="ctr" anchorCtr="0">
            <a:normAutofit/>
          </a:bodyPr>
          <a:lstStyle/>
          <a:p>
            <a:pPr marL="0" lvl="0" indent="0" algn="l" rtl="0">
              <a:lnSpc>
                <a:spcPct val="100000"/>
              </a:lnSpc>
              <a:spcBef>
                <a:spcPts val="0"/>
              </a:spcBef>
              <a:spcAft>
                <a:spcPts val="0"/>
              </a:spcAft>
              <a:buClr>
                <a:srgbClr val="000000"/>
              </a:buClr>
              <a:buSzPts val="3784"/>
              <a:buFont typeface="Calibri"/>
              <a:buNone/>
            </a:pPr>
            <a:r>
              <a:rPr lang="en-US" sz="2800" u="sng" dirty="0">
                <a:latin typeface="Times New Roman"/>
                <a:cs typeface="Times New Roman"/>
              </a:rPr>
              <a:t>Data Analytics and Visualization On Avian Disease </a:t>
            </a:r>
          </a:p>
        </p:txBody>
      </p:sp>
      <p:graphicFrame>
        <p:nvGraphicFramePr>
          <p:cNvPr id="2" name="Table 1">
            <a:extLst>
              <a:ext uri="{FF2B5EF4-FFF2-40B4-BE49-F238E27FC236}">
                <a16:creationId xmlns:a16="http://schemas.microsoft.com/office/drawing/2014/main" id="{CA88ACAA-83C5-7831-87A1-7A6AC2877F0D}"/>
              </a:ext>
            </a:extLst>
          </p:cNvPr>
          <p:cNvGraphicFramePr>
            <a:graphicFrameLocks noGrp="1"/>
          </p:cNvGraphicFramePr>
          <p:nvPr>
            <p:extLst>
              <p:ext uri="{D42A27DB-BD31-4B8C-83A1-F6EECF244321}">
                <p14:modId xmlns:p14="http://schemas.microsoft.com/office/powerpoint/2010/main" val="1184314237"/>
              </p:ext>
            </p:extLst>
          </p:nvPr>
        </p:nvGraphicFramePr>
        <p:xfrm>
          <a:off x="658761" y="4206781"/>
          <a:ext cx="6774426" cy="2025035"/>
        </p:xfrm>
        <a:graphic>
          <a:graphicData uri="http://schemas.openxmlformats.org/drawingml/2006/table">
            <a:tbl>
              <a:tblPr firstRow="1" bandRow="1">
                <a:tableStyleId>{FAD2F71C-7846-4C3E-9502-F6074BB4B6FC}</a:tableStyleId>
              </a:tblPr>
              <a:tblGrid>
                <a:gridCol w="3387213">
                  <a:extLst>
                    <a:ext uri="{9D8B030D-6E8A-4147-A177-3AD203B41FA5}">
                      <a16:colId xmlns:a16="http://schemas.microsoft.com/office/drawing/2014/main" val="242902484"/>
                    </a:ext>
                  </a:extLst>
                </a:gridCol>
                <a:gridCol w="3387213">
                  <a:extLst>
                    <a:ext uri="{9D8B030D-6E8A-4147-A177-3AD203B41FA5}">
                      <a16:colId xmlns:a16="http://schemas.microsoft.com/office/drawing/2014/main" val="259317494"/>
                    </a:ext>
                  </a:extLst>
                </a:gridCol>
              </a:tblGrid>
              <a:tr h="405007">
                <a:tc>
                  <a:txBody>
                    <a:bodyPr/>
                    <a:lstStyle/>
                    <a:p>
                      <a:r>
                        <a:rPr lang="en-US" sz="1400" b="0" i="0" u="none" strike="noStrike" cap="none" dirty="0">
                          <a:solidFill>
                            <a:schemeClr val="bg1"/>
                          </a:solidFill>
                          <a:latin typeface="Calibri"/>
                          <a:ea typeface="Calibri"/>
                          <a:cs typeface="Calibri"/>
                          <a:sym typeface="Calibri"/>
                        </a:rPr>
                        <a:t> </a:t>
                      </a:r>
                      <a:r>
                        <a:rPr lang="en-US" sz="1400" b="1" i="0" u="none" strike="noStrike" cap="none" dirty="0">
                          <a:solidFill>
                            <a:schemeClr val="bg1"/>
                          </a:solidFill>
                          <a:latin typeface="Calibri"/>
                          <a:ea typeface="Calibri"/>
                          <a:cs typeface="Calibri"/>
                          <a:sym typeface="Calibri"/>
                        </a:rPr>
                        <a:t>Members</a:t>
                      </a:r>
                      <a:endParaRPr lang="en-US" dirty="0">
                        <a:solidFill>
                          <a:schemeClr val="bg1"/>
                        </a:solidFill>
                      </a:endParaRPr>
                    </a:p>
                  </a:txBody>
                  <a:tcPr/>
                </a:tc>
                <a:tc>
                  <a:txBody>
                    <a:bodyPr/>
                    <a:lstStyle/>
                    <a:p>
                      <a:r>
                        <a:rPr lang="en-US" dirty="0"/>
                        <a:t>Student ID</a:t>
                      </a:r>
                    </a:p>
                  </a:txBody>
                  <a:tcPr/>
                </a:tc>
                <a:extLst>
                  <a:ext uri="{0D108BD9-81ED-4DB2-BD59-A6C34878D82A}">
                    <a16:rowId xmlns:a16="http://schemas.microsoft.com/office/drawing/2014/main" val="508977691"/>
                  </a:ext>
                </a:extLst>
              </a:tr>
              <a:tr h="405007">
                <a:tc>
                  <a:txBody>
                    <a:bodyPr/>
                    <a:lstStyle/>
                    <a:p>
                      <a:r>
                        <a:rPr lang="en-US" sz="1400" b="0" i="0" u="none" strike="noStrike" cap="none" dirty="0">
                          <a:solidFill>
                            <a:srgbClr val="000000"/>
                          </a:solidFill>
                          <a:latin typeface="Calibri"/>
                          <a:ea typeface="Calibri"/>
                          <a:cs typeface="Calibri"/>
                          <a:sym typeface="Calibri"/>
                        </a:rPr>
                        <a:t> ABRAR YASIR </a:t>
                      </a:r>
                      <a:endParaRPr lang="en-US" dirty="0"/>
                    </a:p>
                  </a:txBody>
                  <a:tcPr/>
                </a:tc>
                <a:tc>
                  <a:txBody>
                    <a:bodyPr/>
                    <a:lstStyle/>
                    <a:p>
                      <a:r>
                        <a:rPr lang="en-US" sz="1400" b="0" i="0" u="none" strike="noStrike" cap="none" dirty="0">
                          <a:solidFill>
                            <a:srgbClr val="000000"/>
                          </a:solidFill>
                          <a:latin typeface="Calibri"/>
                          <a:ea typeface="Calibri"/>
                          <a:cs typeface="Calibri"/>
                          <a:sym typeface="Calibri"/>
                        </a:rPr>
                        <a:t>S379181</a:t>
                      </a:r>
                      <a:endParaRPr lang="en-US" dirty="0"/>
                    </a:p>
                  </a:txBody>
                  <a:tcPr/>
                </a:tc>
                <a:extLst>
                  <a:ext uri="{0D108BD9-81ED-4DB2-BD59-A6C34878D82A}">
                    <a16:rowId xmlns:a16="http://schemas.microsoft.com/office/drawing/2014/main" val="514152079"/>
                  </a:ext>
                </a:extLst>
              </a:tr>
              <a:tr h="405007">
                <a:tc>
                  <a:txBody>
                    <a:bodyPr/>
                    <a:lstStyle/>
                    <a:p>
                      <a:r>
                        <a:rPr lang="en-US" sz="1400" b="0" i="0" u="none" strike="noStrike" cap="none" dirty="0">
                          <a:solidFill>
                            <a:srgbClr val="000000"/>
                          </a:solidFill>
                          <a:latin typeface="Calibri"/>
                          <a:ea typeface="Calibri"/>
                          <a:cs typeface="Calibri"/>
                          <a:sym typeface="Calibri"/>
                        </a:rPr>
                        <a:t>MEHRUZ SAIF</a:t>
                      </a:r>
                      <a:endParaRPr lang="en-US" dirty="0"/>
                    </a:p>
                  </a:txBody>
                  <a:tcPr/>
                </a:tc>
                <a:tc>
                  <a:txBody>
                    <a:bodyPr/>
                    <a:lstStyle/>
                    <a:p>
                      <a:r>
                        <a:rPr lang="en-US" sz="1400" b="0" i="0" u="none" strike="noStrike" cap="none" dirty="0">
                          <a:solidFill>
                            <a:srgbClr val="000000"/>
                          </a:solidFill>
                          <a:latin typeface="Calibri"/>
                          <a:ea typeface="Calibri"/>
                          <a:cs typeface="Calibri"/>
                          <a:sym typeface="Calibri"/>
                        </a:rPr>
                        <a:t> S383768</a:t>
                      </a:r>
                      <a:endParaRPr lang="en-US" dirty="0"/>
                    </a:p>
                  </a:txBody>
                  <a:tcPr/>
                </a:tc>
                <a:extLst>
                  <a:ext uri="{0D108BD9-81ED-4DB2-BD59-A6C34878D82A}">
                    <a16:rowId xmlns:a16="http://schemas.microsoft.com/office/drawing/2014/main" val="3154324155"/>
                  </a:ext>
                </a:extLst>
              </a:tr>
              <a:tr h="405007">
                <a:tc>
                  <a:txBody>
                    <a:bodyPr/>
                    <a:lstStyle/>
                    <a:p>
                      <a:r>
                        <a:rPr lang="en-US" sz="1400" b="0" i="0" u="none" strike="noStrike" cap="none" dirty="0">
                          <a:solidFill>
                            <a:srgbClr val="000000"/>
                          </a:solidFill>
                          <a:latin typeface="Calibri"/>
                          <a:ea typeface="Calibri"/>
                          <a:cs typeface="Calibri"/>
                          <a:sym typeface="Calibri"/>
                        </a:rPr>
                        <a:t> DEBRAJ RAKSHIT</a:t>
                      </a:r>
                      <a:endParaRPr lang="en-US" dirty="0"/>
                    </a:p>
                  </a:txBody>
                  <a:tcPr/>
                </a:tc>
                <a:tc>
                  <a:txBody>
                    <a:bodyPr/>
                    <a:lstStyle/>
                    <a:p>
                      <a:r>
                        <a:rPr lang="en-US" sz="1400" dirty="0">
                          <a:latin typeface="Calibri"/>
                          <a:ea typeface="Calibri"/>
                          <a:cs typeface="Calibri"/>
                          <a:sym typeface="Calibri"/>
                        </a:rPr>
                        <a:t>S382665</a:t>
                      </a:r>
                      <a:endParaRPr lang="en-US" dirty="0"/>
                    </a:p>
                  </a:txBody>
                  <a:tcPr/>
                </a:tc>
                <a:extLst>
                  <a:ext uri="{0D108BD9-81ED-4DB2-BD59-A6C34878D82A}">
                    <a16:rowId xmlns:a16="http://schemas.microsoft.com/office/drawing/2014/main" val="703548603"/>
                  </a:ext>
                </a:extLst>
              </a:tr>
              <a:tr h="405007">
                <a:tc>
                  <a:txBody>
                    <a:bodyPr/>
                    <a:lstStyle/>
                    <a:p>
                      <a:r>
                        <a:rPr lang="en-US" sz="1400" b="0" i="0" u="none" strike="noStrike" cap="none" dirty="0">
                          <a:solidFill>
                            <a:srgbClr val="000000"/>
                          </a:solidFill>
                          <a:latin typeface="Calibri"/>
                          <a:ea typeface="Calibri"/>
                          <a:cs typeface="Calibri"/>
                          <a:sym typeface="Calibri"/>
                        </a:rPr>
                        <a:t>SYED RUBAYAT HOSSAIN</a:t>
                      </a:r>
                      <a:endParaRPr lang="en-US" dirty="0"/>
                    </a:p>
                  </a:txBody>
                  <a:tcPr/>
                </a:tc>
                <a:tc>
                  <a:txBody>
                    <a:bodyPr/>
                    <a:lstStyle/>
                    <a:p>
                      <a:r>
                        <a:rPr lang="en-US" sz="1400" b="0" i="0" u="none" strike="noStrike" cap="none" dirty="0">
                          <a:solidFill>
                            <a:srgbClr val="000000"/>
                          </a:solidFill>
                          <a:latin typeface="Calibri"/>
                          <a:ea typeface="Calibri"/>
                          <a:cs typeface="Calibri"/>
                          <a:sym typeface="Calibri"/>
                        </a:rPr>
                        <a:t>S383306</a:t>
                      </a:r>
                      <a:endParaRPr lang="en-US" dirty="0"/>
                    </a:p>
                  </a:txBody>
                  <a:tcPr/>
                </a:tc>
                <a:extLst>
                  <a:ext uri="{0D108BD9-81ED-4DB2-BD59-A6C34878D82A}">
                    <a16:rowId xmlns:a16="http://schemas.microsoft.com/office/drawing/2014/main" val="2230088829"/>
                  </a:ext>
                </a:extLst>
              </a:tr>
            </a:tbl>
          </a:graphicData>
        </a:graphic>
      </p:graphicFrame>
      <p:sp>
        <p:nvSpPr>
          <p:cNvPr id="3" name="TextBox 2">
            <a:extLst>
              <a:ext uri="{FF2B5EF4-FFF2-40B4-BE49-F238E27FC236}">
                <a16:creationId xmlns:a16="http://schemas.microsoft.com/office/drawing/2014/main" id="{F3AA4C22-6516-22A2-6455-FB6FBF485798}"/>
              </a:ext>
            </a:extLst>
          </p:cNvPr>
          <p:cNvSpPr txBox="1"/>
          <p:nvPr/>
        </p:nvSpPr>
        <p:spPr>
          <a:xfrm>
            <a:off x="658761" y="1406013"/>
            <a:ext cx="184731" cy="307777"/>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16243669-CA37-37EC-4804-3DDBE1D0B35D}"/>
              </a:ext>
            </a:extLst>
          </p:cNvPr>
          <p:cNvSpPr txBox="1"/>
          <p:nvPr/>
        </p:nvSpPr>
        <p:spPr>
          <a:xfrm>
            <a:off x="533813" y="1713790"/>
            <a:ext cx="7282831" cy="1815882"/>
          </a:xfrm>
          <a:prstGeom prst="rect">
            <a:avLst/>
          </a:prstGeom>
          <a:noFill/>
        </p:spPr>
        <p:txBody>
          <a:bodyPr wrap="square" lIns="91440" tIns="45720" rIns="91440" bIns="45720" rtlCol="0" anchor="t">
            <a:spAutoFit/>
          </a:bodyPr>
          <a:lstStyle/>
          <a:p>
            <a:endParaRPr lang="en-US" sz="2800" b="1" dirty="0">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a:cs typeface="Times New Roman"/>
              </a:rPr>
              <a:t>Course : </a:t>
            </a:r>
            <a:r>
              <a:rPr lang="en-US" sz="2400" dirty="0">
                <a:solidFill>
                  <a:schemeClr val="tx1"/>
                </a:solidFill>
                <a:latin typeface="Times New Roman"/>
                <a:cs typeface="Times New Roman"/>
              </a:rPr>
              <a:t>PRT564</a:t>
            </a:r>
            <a:br>
              <a:rPr lang="en-US" sz="2800" dirty="0">
                <a:latin typeface="Times New Roman" panose="02020603050405020304" pitchFamily="18" charset="0"/>
                <a:cs typeface="Times New Roman" panose="02020603050405020304" pitchFamily="18" charset="0"/>
              </a:rPr>
            </a:br>
            <a:endParaRPr lang="en-US" sz="2800" dirty="0">
              <a:solidFill>
                <a:schemeClr val="tx1"/>
              </a:solidFill>
              <a:latin typeface="Times New Roman" panose="02020603050405020304" pitchFamily="18" charset="0"/>
              <a:cs typeface="Times New Roman" panose="02020603050405020304" pitchFamily="18" charset="0"/>
            </a:endParaRPr>
          </a:p>
          <a:p>
            <a:r>
              <a:rPr lang="en-US" sz="2800" b="1" dirty="0">
                <a:solidFill>
                  <a:schemeClr val="tx1"/>
                </a:solidFill>
                <a:latin typeface="Times New Roman"/>
                <a:cs typeface="Times New Roman"/>
              </a:rPr>
              <a:t>Presented By-  </a:t>
            </a:r>
            <a:r>
              <a:rPr lang="en-US" sz="2800" dirty="0">
                <a:solidFill>
                  <a:schemeClr val="tx1"/>
                </a:solidFill>
                <a:latin typeface="Times New Roman"/>
                <a:cs typeface="Times New Roman"/>
              </a:rPr>
              <a:t>Group G6(Sydney)</a:t>
            </a:r>
            <a:endParaRPr lang="en-US" dirty="0">
              <a:solidFill>
                <a:schemeClr val="tx1"/>
              </a:solidFill>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prstGeom prst="rect">
            <a:avLst/>
          </a:prstGeom>
          <a:noFill/>
          <a:ln>
            <a:noFill/>
          </a:ln>
        </p:spPr>
        <p:txBody>
          <a:bodyPr spcFirstLastPara="1" wrap="square" lIns="45700" tIns="45700" rIns="45700" bIns="45700" anchor="ctr" anchorCtr="0">
            <a:normAutofit fontScale="90000"/>
          </a:bodyPr>
          <a:lstStyle/>
          <a:p>
            <a:pPr marL="0" marR="0" lvl="0" indent="0" algn="l" rtl="0">
              <a:lnSpc>
                <a:spcPct val="100000"/>
              </a:lnSpc>
              <a:spcBef>
                <a:spcPts val="0"/>
              </a:spcBef>
              <a:spcAft>
                <a:spcPts val="0"/>
              </a:spcAft>
              <a:buClr>
                <a:srgbClr val="000000"/>
              </a:buClr>
              <a:buSzPts val="3783"/>
              <a:buFont typeface="Calibri"/>
              <a:buNone/>
            </a:pPr>
            <a:r>
              <a:rPr lang="en-US" sz="3783" dirty="0"/>
              <a:t>Avian Dashboard Interface &amp; Manual Data Collection</a:t>
            </a:r>
            <a:endParaRPr dirty="0"/>
          </a:p>
        </p:txBody>
      </p:sp>
      <p:sp>
        <p:nvSpPr>
          <p:cNvPr id="69" name="Google Shape;69;p15"/>
          <p:cNvSpPr txBox="1">
            <a:spLocks noGrp="1"/>
          </p:cNvSpPr>
          <p:nvPr>
            <p:ph type="body" idx="1"/>
          </p:nvPr>
        </p:nvSpPr>
        <p:spPr>
          <a:xfrm>
            <a:off x="457200" y="1659193"/>
            <a:ext cx="8356862" cy="709368"/>
          </a:xfrm>
          <a:prstGeom prst="rect">
            <a:avLst/>
          </a:prstGeom>
          <a:noFill/>
          <a:ln>
            <a:noFill/>
          </a:ln>
        </p:spPr>
        <p:txBody>
          <a:bodyPr spcFirstLastPara="1" wrap="square" lIns="45700" tIns="45700" rIns="45700" bIns="45700" anchor="t" anchorCtr="0">
            <a:normAutofit/>
          </a:bodyPr>
          <a:lstStyle/>
          <a:p>
            <a:pPr marL="342900" marR="0" lvl="0" indent="-342900" algn="l" rtl="0">
              <a:lnSpc>
                <a:spcPct val="90000"/>
              </a:lnSpc>
              <a:spcBef>
                <a:spcPts val="0"/>
              </a:spcBef>
              <a:spcAft>
                <a:spcPts val="0"/>
              </a:spcAft>
              <a:buClr>
                <a:srgbClr val="000000"/>
              </a:buClr>
              <a:buSzPts val="2200"/>
              <a:buFont typeface="Arial"/>
              <a:buChar char="•"/>
            </a:pPr>
            <a:r>
              <a:rPr lang="en-US" sz="2200" dirty="0"/>
              <a:t>Data collected manually from UK Animal &amp; Plant Health Agency's Tableau dashboard.</a:t>
            </a:r>
            <a:endParaRPr dirty="0"/>
          </a:p>
        </p:txBody>
      </p:sp>
      <p:pic>
        <p:nvPicPr>
          <p:cNvPr id="70" name="Google Shape;70;p15" descr="Picture 3"/>
          <p:cNvPicPr preferRelativeResize="0"/>
          <p:nvPr/>
        </p:nvPicPr>
        <p:blipFill rotWithShape="1">
          <a:blip r:embed="rId3">
            <a:alphaModFix/>
          </a:blip>
          <a:srcRect/>
          <a:stretch/>
        </p:blipFill>
        <p:spPr>
          <a:xfrm>
            <a:off x="457200" y="2476582"/>
            <a:ext cx="8067368" cy="402254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6"/>
          <p:cNvSpPr txBox="1">
            <a:spLocks noGrp="1"/>
          </p:cNvSpPr>
          <p:nvPr>
            <p:ph type="title"/>
          </p:nvPr>
        </p:nvSpPr>
        <p:spPr>
          <a:prstGeom prst="rect">
            <a:avLst/>
          </a:prstGeom>
          <a:noFill/>
          <a:ln>
            <a:noFill/>
          </a:ln>
        </p:spPr>
        <p:txBody>
          <a:bodyPr spcFirstLastPara="1" wrap="square" lIns="45700" tIns="45700" rIns="45700" bIns="45700" anchor="ctr" anchorCtr="0">
            <a:normAutofit/>
          </a:bodyPr>
          <a:lstStyle/>
          <a:p>
            <a:pPr marL="0" marR="0" lvl="0" indent="0" algn="l" rtl="0">
              <a:lnSpc>
                <a:spcPct val="100000"/>
              </a:lnSpc>
              <a:spcBef>
                <a:spcPts val="0"/>
              </a:spcBef>
              <a:spcAft>
                <a:spcPts val="0"/>
              </a:spcAft>
              <a:buClr>
                <a:srgbClr val="000000"/>
              </a:buClr>
              <a:buSzPts val="3900"/>
              <a:buFont typeface="Calibri"/>
              <a:buNone/>
            </a:pPr>
            <a:r>
              <a:rPr lang="en-US" sz="2800" dirty="0">
                <a:latin typeface="Times New Roman" panose="02020603050405020304" pitchFamily="18" charset="0"/>
                <a:cs typeface="Times New Roman" panose="02020603050405020304" pitchFamily="18" charset="0"/>
              </a:rPr>
              <a:t>Dataset Creation and Preprocessing</a:t>
            </a:r>
            <a:endParaRPr sz="3200" dirty="0">
              <a:latin typeface="Times New Roman" panose="02020603050405020304" pitchFamily="18" charset="0"/>
              <a:cs typeface="Times New Roman" panose="02020603050405020304" pitchFamily="18" charset="0"/>
            </a:endParaRPr>
          </a:p>
        </p:txBody>
      </p:sp>
      <p:sp>
        <p:nvSpPr>
          <p:cNvPr id="76" name="Google Shape;76;p16"/>
          <p:cNvSpPr txBox="1">
            <a:spLocks noGrp="1"/>
          </p:cNvSpPr>
          <p:nvPr>
            <p:ph type="body" idx="1"/>
          </p:nvPr>
        </p:nvSpPr>
        <p:spPr>
          <a:xfrm>
            <a:off x="537328" y="3252245"/>
            <a:ext cx="8229600" cy="3007151"/>
          </a:xfrm>
          <a:prstGeom prst="rect">
            <a:avLst/>
          </a:prstGeom>
          <a:noFill/>
          <a:ln>
            <a:noFill/>
          </a:ln>
        </p:spPr>
        <p:txBody>
          <a:bodyPr spcFirstLastPara="1" wrap="square" lIns="45700" tIns="45700" rIns="45700" bIns="45700" anchor="t" anchorCtr="0">
            <a:normAutofit/>
          </a:bodyPr>
          <a:lstStyle/>
          <a:p>
            <a:pPr marL="226313" lvl="0" indent="-226313" algn="l" rtl="0">
              <a:spcBef>
                <a:spcPts val="0"/>
              </a:spcBef>
              <a:spcAft>
                <a:spcPts val="0"/>
              </a:spcAft>
              <a:buClr>
                <a:srgbClr val="000000"/>
              </a:buClr>
              <a:buSzPts val="2772"/>
              <a:buNone/>
            </a:pPr>
            <a:r>
              <a:rPr lang="en-US" sz="2000" b="1" dirty="0">
                <a:latin typeface="Times New Roman" panose="02020603050405020304" pitchFamily="18" charset="0"/>
                <a:ea typeface="Arial"/>
                <a:cs typeface="Times New Roman" panose="02020603050405020304" pitchFamily="18" charset="0"/>
                <a:sym typeface="Arial"/>
              </a:rPr>
              <a:t>Dataset Description</a:t>
            </a:r>
            <a:r>
              <a:rPr lang="en-US" sz="2000" b="0" dirty="0">
                <a:latin typeface="Times New Roman" panose="02020603050405020304" pitchFamily="18" charset="0"/>
                <a:cs typeface="Times New Roman" panose="02020603050405020304" pitchFamily="18" charset="0"/>
              </a:rPr>
              <a:t>: Dataset includes the following information:</a:t>
            </a:r>
            <a:endParaRPr sz="2000" b="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Year and Month of the outbreak.</a:t>
            </a:r>
            <a:endParaRPr sz="200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Region and County where the outbreak occurred.</a:t>
            </a:r>
            <a:endParaRPr sz="200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Age Category of the affected birds.</a:t>
            </a:r>
            <a:endParaRPr sz="200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Clinical Signs observed.</a:t>
            </a:r>
            <a:endParaRPr sz="200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Diagnosis of the disease.</a:t>
            </a:r>
            <a:endParaRPr sz="2000" dirty="0">
              <a:latin typeface="Times New Roman" panose="02020603050405020304" pitchFamily="18" charset="0"/>
              <a:cs typeface="Times New Roman" panose="02020603050405020304" pitchFamily="18" charset="0"/>
            </a:endParaRPr>
          </a:p>
          <a:p>
            <a:pPr marL="226313" lvl="0" indent="-226313" algn="l" rtl="0">
              <a:spcBef>
                <a:spcPts val="900"/>
              </a:spcBef>
              <a:spcAft>
                <a:spcPts val="0"/>
              </a:spcAft>
              <a:buClr>
                <a:srgbClr val="000000"/>
              </a:buClr>
              <a:buSzPts val="2772"/>
              <a:buChar char="•"/>
            </a:pPr>
            <a:r>
              <a:rPr lang="en-US" sz="2000" dirty="0">
                <a:latin typeface="Times New Roman" panose="02020603050405020304" pitchFamily="18" charset="0"/>
                <a:ea typeface="Arial"/>
                <a:cs typeface="Times New Roman" panose="02020603050405020304" pitchFamily="18" charset="0"/>
                <a:sym typeface="Arial"/>
              </a:rPr>
              <a:t>Number of Cases reported.</a:t>
            </a:r>
            <a:endParaRPr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79124DC-B809-2BC5-0E98-03EBFE352130}"/>
              </a:ext>
            </a:extLst>
          </p:cNvPr>
          <p:cNvPicPr>
            <a:picLocks noChangeAspect="1"/>
          </p:cNvPicPr>
          <p:nvPr/>
        </p:nvPicPr>
        <p:blipFill>
          <a:blip r:embed="rId3"/>
          <a:stretch>
            <a:fillRect/>
          </a:stretch>
        </p:blipFill>
        <p:spPr>
          <a:xfrm>
            <a:off x="457200" y="1282046"/>
            <a:ext cx="8229600" cy="16968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8"/>
          <p:cNvSpPr txBox="1">
            <a:spLocks noGrp="1"/>
          </p:cNvSpPr>
          <p:nvPr>
            <p:ph type="title"/>
          </p:nvPr>
        </p:nvSpPr>
        <p:spPr>
          <a:prstGeom prst="rect">
            <a:avLst/>
          </a:prstGeom>
          <a:noFill/>
          <a:ln>
            <a:noFill/>
          </a:ln>
        </p:spPr>
        <p:txBody>
          <a:bodyPr spcFirstLastPara="1" wrap="square" lIns="45700" tIns="45700" rIns="45700" bIns="45700" anchor="ctr" anchorCtr="0">
            <a:normAutofit/>
          </a:bodyPr>
          <a:lstStyle/>
          <a:p>
            <a:pPr marL="0" marR="0" lvl="0" indent="0" algn="l" rtl="0">
              <a:lnSpc>
                <a:spcPct val="100000"/>
              </a:lnSpc>
              <a:spcBef>
                <a:spcPts val="0"/>
              </a:spcBef>
              <a:spcAft>
                <a:spcPts val="0"/>
              </a:spcAft>
              <a:buClr>
                <a:srgbClr val="000000"/>
              </a:buClr>
              <a:buSzPts val="3783"/>
              <a:buFont typeface="Calibri"/>
              <a:buNone/>
            </a:pPr>
            <a:r>
              <a:rPr lang="en-US" sz="2800" dirty="0">
                <a:latin typeface="Times New Roman" panose="02020603050405020304" pitchFamily="18" charset="0"/>
                <a:cs typeface="Times New Roman" panose="02020603050405020304" pitchFamily="18" charset="0"/>
              </a:rPr>
              <a:t>Supplementary Data Integration (Temperature &amp; Poultry Density)</a:t>
            </a:r>
            <a:endParaRPr sz="2800" dirty="0">
              <a:latin typeface="Times New Roman" panose="02020603050405020304" pitchFamily="18" charset="0"/>
              <a:cs typeface="Times New Roman" panose="02020603050405020304" pitchFamily="18" charset="0"/>
            </a:endParaRPr>
          </a:p>
        </p:txBody>
      </p:sp>
      <p:sp>
        <p:nvSpPr>
          <p:cNvPr id="88" name="Google Shape;88;p18"/>
          <p:cNvSpPr txBox="1">
            <a:spLocks noGrp="1"/>
          </p:cNvSpPr>
          <p:nvPr>
            <p:ph type="body" idx="1"/>
          </p:nvPr>
        </p:nvSpPr>
        <p:spPr>
          <a:xfrm>
            <a:off x="730577" y="4650949"/>
            <a:ext cx="7371761" cy="4791174"/>
          </a:xfrm>
          <a:prstGeom prst="rect">
            <a:avLst/>
          </a:prstGeom>
          <a:noFill/>
          <a:ln>
            <a:noFill/>
          </a:ln>
        </p:spPr>
        <p:txBody>
          <a:bodyPr spcFirstLastPara="1" wrap="square" lIns="45700" tIns="45700" rIns="45700" bIns="45700" anchor="t" anchorCtr="0">
            <a:normAutofit/>
          </a:bodyPr>
          <a:lstStyle/>
          <a:p>
            <a:pPr marL="342900" lvl="0" indent="-342900" algn="l" rtl="0">
              <a:lnSpc>
                <a:spcPct val="100000"/>
              </a:lnSpc>
              <a:spcBef>
                <a:spcPts val="0"/>
              </a:spcBef>
              <a:spcAft>
                <a:spcPts val="0"/>
              </a:spcAft>
              <a:buClr>
                <a:srgbClr val="000000"/>
              </a:buClr>
              <a:buSzPts val="2000"/>
              <a:buChar char="•"/>
            </a:pPr>
            <a:r>
              <a:rPr lang="en-US" sz="2000"/>
              <a:t>UK Monthly Temperatures obtained from Met Office and Statista summaries.</a:t>
            </a:r>
            <a:endParaRPr/>
          </a:p>
          <a:p>
            <a:pPr marL="342900" lvl="0" indent="-342900" algn="l" rtl="0">
              <a:lnSpc>
                <a:spcPct val="100000"/>
              </a:lnSpc>
              <a:spcBef>
                <a:spcPts val="400"/>
              </a:spcBef>
              <a:spcAft>
                <a:spcPts val="0"/>
              </a:spcAft>
              <a:buClr>
                <a:srgbClr val="000000"/>
              </a:buClr>
              <a:buSzPts val="2000"/>
              <a:buChar char="•"/>
            </a:pPr>
            <a:r>
              <a:rPr lang="en-US" sz="2000"/>
              <a:t>Poultry Density information retrieved from DEFRA livestock report.</a:t>
            </a:r>
            <a:endParaRPr/>
          </a:p>
          <a:p>
            <a:pPr marL="342900" lvl="0" indent="-342900" algn="l" rtl="0">
              <a:lnSpc>
                <a:spcPct val="100000"/>
              </a:lnSpc>
              <a:spcBef>
                <a:spcPts val="700"/>
              </a:spcBef>
              <a:spcAft>
                <a:spcPts val="0"/>
              </a:spcAft>
              <a:buClr>
                <a:srgbClr val="000000"/>
              </a:buClr>
              <a:buSzPts val="2000"/>
              <a:buChar char="•"/>
            </a:pPr>
            <a:r>
              <a:rPr lang="en-US" sz="2000"/>
              <a:t>These additions enhanced heterogeneity and realism of dataset</a:t>
            </a:r>
            <a:r>
              <a:rPr lang="en-US" sz="3200"/>
              <a:t>.</a:t>
            </a:r>
            <a:endParaRPr/>
          </a:p>
        </p:txBody>
      </p:sp>
      <p:pic>
        <p:nvPicPr>
          <p:cNvPr id="89" name="Google Shape;89;p18" descr="Picture 5"/>
          <p:cNvPicPr preferRelativeResize="0"/>
          <p:nvPr/>
        </p:nvPicPr>
        <p:blipFill rotWithShape="1">
          <a:blip r:embed="rId3">
            <a:alphaModFix/>
          </a:blip>
          <a:srcRect/>
          <a:stretch/>
        </p:blipFill>
        <p:spPr>
          <a:xfrm>
            <a:off x="730575" y="1655808"/>
            <a:ext cx="3605755" cy="2756971"/>
          </a:xfrm>
          <a:prstGeom prst="rect">
            <a:avLst/>
          </a:prstGeom>
          <a:noFill/>
          <a:ln>
            <a:noFill/>
          </a:ln>
        </p:spPr>
      </p:pic>
      <p:pic>
        <p:nvPicPr>
          <p:cNvPr id="90" name="Google Shape;90;p18" descr="Picture 8"/>
          <p:cNvPicPr preferRelativeResize="0"/>
          <p:nvPr/>
        </p:nvPicPr>
        <p:blipFill rotWithShape="1">
          <a:blip r:embed="rId4">
            <a:alphaModFix/>
          </a:blip>
          <a:srcRect/>
          <a:stretch/>
        </p:blipFill>
        <p:spPr>
          <a:xfrm>
            <a:off x="4807672" y="1617431"/>
            <a:ext cx="3093879" cy="257745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457200" y="175784"/>
            <a:ext cx="8229600" cy="1143001"/>
          </a:xfrm>
          <a:prstGeom prst="rect">
            <a:avLst/>
          </a:prstGeom>
          <a:noFill/>
          <a:ln>
            <a:noFill/>
          </a:ln>
        </p:spPr>
        <p:txBody>
          <a:bodyPr spcFirstLastPara="1" wrap="square" lIns="45700" tIns="45700" rIns="45700" bIns="45700" anchor="ctr" anchorCtr="0">
            <a:normAutofit/>
          </a:bodyPr>
          <a:lstStyle/>
          <a:p>
            <a:pPr marL="0" lvl="0" indent="0" algn="ctr" rtl="0">
              <a:lnSpc>
                <a:spcPct val="100000"/>
              </a:lnSpc>
              <a:spcBef>
                <a:spcPts val="0"/>
              </a:spcBef>
              <a:spcAft>
                <a:spcPts val="0"/>
              </a:spcAft>
              <a:buClr>
                <a:srgbClr val="000000"/>
              </a:buClr>
              <a:buSzPts val="4400"/>
              <a:buFont typeface="Calibri"/>
              <a:buNone/>
            </a:pPr>
            <a:r>
              <a:rPr lang="en-US" sz="4400" b="0" i="0" u="none" strike="noStrike" cap="none" dirty="0">
                <a:solidFill>
                  <a:srgbClr val="000000"/>
                </a:solidFill>
                <a:latin typeface="Calibri"/>
                <a:ea typeface="Calibri"/>
                <a:cs typeface="Calibri"/>
                <a:sym typeface="Calibri"/>
              </a:rPr>
              <a:t>Raw Dataset and Sampling Strategy</a:t>
            </a:r>
            <a:endParaRPr dirty="0"/>
          </a:p>
        </p:txBody>
      </p:sp>
      <p:sp>
        <p:nvSpPr>
          <p:cNvPr id="96" name="Google Shape;96;p19"/>
          <p:cNvSpPr txBox="1">
            <a:spLocks noGrp="1"/>
          </p:cNvSpPr>
          <p:nvPr>
            <p:ph type="body" idx="1"/>
          </p:nvPr>
        </p:nvSpPr>
        <p:spPr>
          <a:xfrm>
            <a:off x="565607" y="4377883"/>
            <a:ext cx="8248455" cy="2841788"/>
          </a:xfrm>
          <a:prstGeom prst="rect">
            <a:avLst/>
          </a:prstGeom>
          <a:noFill/>
          <a:ln>
            <a:noFill/>
          </a:ln>
        </p:spPr>
        <p:txBody>
          <a:bodyPr spcFirstLastPara="1" wrap="square" lIns="45700" tIns="45700" rIns="45700" bIns="45700" anchor="t" anchorCtr="0">
            <a:normAutofit/>
          </a:bodyPr>
          <a:lstStyle/>
          <a:p>
            <a:pPr marL="342900" lvl="0" indent="-342900" algn="l" rtl="0">
              <a:lnSpc>
                <a:spcPct val="100000"/>
              </a:lnSpc>
              <a:spcBef>
                <a:spcPts val="0"/>
              </a:spcBef>
              <a:spcAft>
                <a:spcPts val="0"/>
              </a:spcAft>
              <a:buClr>
                <a:srgbClr val="000000"/>
              </a:buClr>
              <a:buSzPts val="1800"/>
              <a:buChar char="•"/>
            </a:pPr>
            <a:r>
              <a:rPr lang="en-US" sz="1800" dirty="0"/>
              <a:t>Initially we manually added 400+ rows.</a:t>
            </a:r>
            <a:endParaRPr dirty="0"/>
          </a:p>
          <a:p>
            <a:pPr marL="342900" lvl="0" indent="-342900" algn="l" rtl="0">
              <a:lnSpc>
                <a:spcPct val="100000"/>
              </a:lnSpc>
              <a:spcBef>
                <a:spcPts val="400"/>
              </a:spcBef>
              <a:spcAft>
                <a:spcPts val="0"/>
              </a:spcAft>
              <a:buClr>
                <a:srgbClr val="000000"/>
              </a:buClr>
              <a:buSzPts val="1800"/>
              <a:buChar char="•"/>
            </a:pPr>
            <a:r>
              <a:rPr lang="en-US" sz="1800" dirty="0"/>
              <a:t>Final dataset: 142 rows with wide variation across years and case counts.</a:t>
            </a:r>
            <a:endParaRPr dirty="0"/>
          </a:p>
          <a:p>
            <a:pPr marL="342900" lvl="0" indent="-342900" algn="l" rtl="0">
              <a:lnSpc>
                <a:spcPct val="100000"/>
              </a:lnSpc>
              <a:spcBef>
                <a:spcPts val="400"/>
              </a:spcBef>
              <a:spcAft>
                <a:spcPts val="0"/>
              </a:spcAft>
              <a:buClr>
                <a:srgbClr val="000000"/>
              </a:buClr>
              <a:buSzPts val="1800"/>
              <a:buChar char="•"/>
            </a:pPr>
            <a:r>
              <a:rPr lang="en-US" sz="1800" dirty="0"/>
              <a:t>Around 11 rows per year were selected for avoiding year-dominance and supporting equal visual representation.</a:t>
            </a:r>
            <a:endParaRPr dirty="0"/>
          </a:p>
          <a:p>
            <a:pPr marL="342900" lvl="0" indent="-342900" algn="l" rtl="0">
              <a:lnSpc>
                <a:spcPct val="100000"/>
              </a:lnSpc>
              <a:spcBef>
                <a:spcPts val="400"/>
              </a:spcBef>
              <a:spcAft>
                <a:spcPts val="0"/>
              </a:spcAft>
              <a:buClr>
                <a:srgbClr val="000000"/>
              </a:buClr>
              <a:buSzPts val="1800"/>
              <a:buChar char="•"/>
            </a:pPr>
            <a:r>
              <a:rPr lang="en-US" sz="1800" dirty="0"/>
              <a:t>Rows with more than one case prioritized for diversity.</a:t>
            </a:r>
            <a:endParaRPr dirty="0"/>
          </a:p>
          <a:p>
            <a:pPr marL="342900" lvl="0" indent="-342900" algn="l" rtl="0">
              <a:lnSpc>
                <a:spcPct val="100000"/>
              </a:lnSpc>
              <a:spcBef>
                <a:spcPts val="400"/>
              </a:spcBef>
              <a:spcAft>
                <a:spcPts val="0"/>
              </a:spcAft>
              <a:buClr>
                <a:srgbClr val="000000"/>
              </a:buClr>
              <a:buSzPts val="1800"/>
              <a:buChar char="•"/>
            </a:pPr>
            <a:r>
              <a:rPr lang="en-US" sz="1800" dirty="0"/>
              <a:t>Smaller dataset supports clear visual storytelling.</a:t>
            </a:r>
            <a:endParaRPr dirty="0"/>
          </a:p>
        </p:txBody>
      </p:sp>
      <p:pic>
        <p:nvPicPr>
          <p:cNvPr id="97" name="Google Shape;97;p19" descr="Picture 7"/>
          <p:cNvPicPr preferRelativeResize="0"/>
          <p:nvPr/>
        </p:nvPicPr>
        <p:blipFill rotWithShape="1">
          <a:blip r:embed="rId3">
            <a:alphaModFix/>
          </a:blip>
          <a:srcRect/>
          <a:stretch/>
        </p:blipFill>
        <p:spPr>
          <a:xfrm>
            <a:off x="588364" y="1130254"/>
            <a:ext cx="8239029" cy="324762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ctrTitle"/>
          </p:nvPr>
        </p:nvSpPr>
        <p:spPr>
          <a:xfrm>
            <a:off x="866442" y="255581"/>
            <a:ext cx="6620968" cy="3329581"/>
          </a:xfrm>
          <a:prstGeom prst="rect">
            <a:avLst/>
          </a:prstGeom>
          <a:noFill/>
          <a:ln>
            <a:noFill/>
          </a:ln>
        </p:spPr>
        <p:txBody>
          <a:bodyPr spcFirstLastPara="1" wrap="square" lIns="91400" tIns="91400" rIns="91400" bIns="91400" anchor="b" anchorCtr="0">
            <a:normAutofit/>
          </a:bodyPr>
          <a:lstStyle/>
          <a:p>
            <a:pPr marL="0" marR="0" lvl="0" indent="0" algn="ctr" rtl="0">
              <a:lnSpc>
                <a:spcPct val="100000"/>
              </a:lnSpc>
              <a:spcBef>
                <a:spcPts val="0"/>
              </a:spcBef>
              <a:spcAft>
                <a:spcPts val="0"/>
              </a:spcAft>
              <a:buClr>
                <a:srgbClr val="000000"/>
              </a:buClr>
              <a:buSzPts val="6460"/>
              <a:buFont typeface="Arial"/>
              <a:buNone/>
            </a:pPr>
            <a:r>
              <a:rPr lang="en-US" sz="6460"/>
              <a:t>Exploratory Data Analysis</a:t>
            </a:r>
            <a:endParaRPr/>
          </a:p>
        </p:txBody>
      </p:sp>
      <p:sp>
        <p:nvSpPr>
          <p:cNvPr id="103" name="Google Shape;103;p20"/>
          <p:cNvSpPr txBox="1">
            <a:spLocks noGrp="1"/>
          </p:cNvSpPr>
          <p:nvPr>
            <p:ph type="subTitle" idx="1"/>
          </p:nvPr>
        </p:nvSpPr>
        <p:spPr>
          <a:xfrm>
            <a:off x="1172700" y="3749227"/>
            <a:ext cx="6620968" cy="861420"/>
          </a:xfrm>
          <a:prstGeom prst="rect">
            <a:avLst/>
          </a:prstGeom>
          <a:noFill/>
          <a:ln>
            <a:noFill/>
          </a:ln>
        </p:spPr>
        <p:txBody>
          <a:bodyPr spcFirstLastPara="1" wrap="square" lIns="91400" tIns="91400" rIns="91400" bIns="91400" anchor="t" anchorCtr="0">
            <a:normAutofit/>
          </a:bodyPr>
          <a:lstStyle/>
          <a:p>
            <a:pPr marL="0" marR="0" lvl="0" indent="0" algn="ctr" rtl="0">
              <a:lnSpc>
                <a:spcPct val="100000"/>
              </a:lnSpc>
              <a:spcBef>
                <a:spcPts val="0"/>
              </a:spcBef>
              <a:spcAft>
                <a:spcPts val="0"/>
              </a:spcAft>
              <a:buClr>
                <a:srgbClr val="595959"/>
              </a:buClr>
              <a:buSzPts val="3600"/>
              <a:buFont typeface="Arial"/>
              <a:buNone/>
            </a:pPr>
            <a:r>
              <a:rPr lang="en-US" sz="3600" dirty="0">
                <a:solidFill>
                  <a:srgbClr val="595959"/>
                </a:solidFill>
                <a:latin typeface="Century Gothic"/>
                <a:ea typeface="Arial"/>
                <a:cs typeface="Arial"/>
                <a:sym typeface="Arial"/>
              </a:rPr>
              <a:t>On Avian Disease</a:t>
            </a:r>
            <a:endParaRPr dirty="0">
              <a:latin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Dataset Overview</a:t>
            </a:r>
            <a:endParaRPr/>
          </a:p>
        </p:txBody>
      </p:sp>
      <p:sp>
        <p:nvSpPr>
          <p:cNvPr id="109" name="Google Shape;109;p21"/>
          <p:cNvSpPr txBox="1">
            <a:spLocks noGrp="1"/>
          </p:cNvSpPr>
          <p:nvPr>
            <p:ph type="body" idx="1"/>
          </p:nvPr>
        </p:nvSpPr>
        <p:spPr>
          <a:prstGeom prst="rect">
            <a:avLst/>
          </a:prstGeom>
          <a:noFill/>
          <a:ln>
            <a:noFill/>
          </a:ln>
        </p:spPr>
        <p:txBody>
          <a:bodyPr spcFirstLastPara="1" wrap="square" lIns="91400" tIns="91400" rIns="91400" bIns="91400" anchor="t" anchorCtr="0">
            <a:normAutofit/>
          </a:bodyPr>
          <a:lstStyle/>
          <a:p>
            <a:pPr marL="342900" lvl="0" indent="-342900" algn="l" rtl="0">
              <a:lnSpc>
                <a:spcPct val="115000"/>
              </a:lnSpc>
              <a:spcBef>
                <a:spcPts val="0"/>
              </a:spcBef>
              <a:spcAft>
                <a:spcPts val="0"/>
              </a:spcAft>
              <a:buSzPts val="2400"/>
              <a:buFont typeface="Wingdings" charset="2"/>
              <a:buChar char="Ø"/>
            </a:pPr>
            <a:r>
              <a:rPr lang="en-US" sz="2400" dirty="0">
                <a:solidFill>
                  <a:schemeClr val="tx1"/>
                </a:solidFill>
                <a:latin typeface="Arial"/>
                <a:ea typeface="Arial"/>
                <a:cs typeface="Arial"/>
                <a:sym typeface="Arial"/>
              </a:rPr>
              <a:t>Total Data: 142</a:t>
            </a:r>
            <a:endParaRPr lang="en-US"/>
          </a:p>
          <a:p>
            <a:pPr marL="342900" lvl="0" indent="-342900" algn="l" rtl="0">
              <a:lnSpc>
                <a:spcPct val="115000"/>
              </a:lnSpc>
              <a:spcBef>
                <a:spcPts val="1600"/>
              </a:spcBef>
              <a:spcAft>
                <a:spcPts val="0"/>
              </a:spcAft>
              <a:buSzPts val="2400"/>
              <a:buFont typeface="Wingdings" charset="2"/>
              <a:buChar char="Ø"/>
            </a:pPr>
            <a:r>
              <a:rPr lang="en-US" sz="2400" dirty="0">
                <a:solidFill>
                  <a:schemeClr val="tx1"/>
                </a:solidFill>
                <a:latin typeface="Arial"/>
                <a:ea typeface="Arial"/>
                <a:cs typeface="Arial"/>
                <a:sym typeface="Arial"/>
              </a:rPr>
              <a:t>Goals: Identify factors associated with poultry disease outbreaks.</a:t>
            </a:r>
            <a:endParaRPr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381521" y="417872"/>
            <a:ext cx="8520601" cy="5727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Histogram of Cases</a:t>
            </a:r>
            <a:endParaRPr/>
          </a:p>
        </p:txBody>
      </p:sp>
      <p:sp>
        <p:nvSpPr>
          <p:cNvPr id="115" name="Google Shape;115;p22"/>
          <p:cNvSpPr txBox="1">
            <a:spLocks noGrp="1"/>
          </p:cNvSpPr>
          <p:nvPr>
            <p:ph type="body" idx="1"/>
          </p:nvPr>
        </p:nvSpPr>
        <p:spPr>
          <a:xfrm>
            <a:off x="311699" y="931374"/>
            <a:ext cx="8520602" cy="3416401"/>
          </a:xfrm>
          <a:prstGeom prst="rect">
            <a:avLst/>
          </a:prstGeom>
          <a:noFill/>
          <a:ln>
            <a:noFill/>
          </a:ln>
        </p:spPr>
        <p:txBody>
          <a:bodyPr spcFirstLastPara="1" wrap="square" lIns="91400" tIns="91400" rIns="91400" bIns="91400" anchor="t" anchorCtr="0">
            <a:normAutofit/>
          </a:bodyPr>
          <a:lstStyle/>
          <a:p>
            <a:pPr marL="0" lvl="0" indent="0" algn="l" rtl="0">
              <a:lnSpc>
                <a:spcPct val="115000"/>
              </a:lnSpc>
              <a:spcBef>
                <a:spcPts val="0"/>
              </a:spcBef>
              <a:spcAft>
                <a:spcPts val="0"/>
              </a:spcAft>
              <a:buSzPts val="2400"/>
              <a:buNone/>
            </a:pPr>
            <a:r>
              <a:rPr lang="en-US" sz="2400" dirty="0">
                <a:solidFill>
                  <a:schemeClr val="tx1"/>
                </a:solidFill>
                <a:latin typeface="Arial"/>
                <a:ea typeface="Arial"/>
                <a:cs typeface="Arial"/>
                <a:sym typeface="Arial"/>
              </a:rPr>
              <a:t>Case Frequency Distribution</a:t>
            </a:r>
            <a:endParaRPr lang="en-US" dirty="0">
              <a:solidFill>
                <a:schemeClr val="tx1"/>
              </a:solidFill>
            </a:endParaRPr>
          </a:p>
          <a:p>
            <a:pPr marL="342900" lvl="0" indent="-342900" algn="l" rtl="0">
              <a:lnSpc>
                <a:spcPct val="115000"/>
              </a:lnSpc>
              <a:spcBef>
                <a:spcPts val="1600"/>
              </a:spcBef>
              <a:spcAft>
                <a:spcPts val="0"/>
              </a:spcAft>
              <a:buSzPts val="2400"/>
              <a:buFont typeface="Wingdings" charset="2"/>
              <a:buChar char="Ø"/>
            </a:pPr>
            <a:r>
              <a:rPr lang="en-US" sz="2400" dirty="0">
                <a:solidFill>
                  <a:schemeClr val="tx1"/>
                </a:solidFill>
                <a:latin typeface="Arial"/>
                <a:ea typeface="Arial"/>
                <a:cs typeface="Arial"/>
                <a:sym typeface="Arial"/>
              </a:rPr>
              <a:t>Most Records have</a:t>
            </a:r>
            <a:br>
              <a:rPr lang="en-US" sz="2400" dirty="0">
                <a:solidFill>
                  <a:schemeClr val="tx1"/>
                </a:solidFill>
                <a:latin typeface="Arial"/>
                <a:ea typeface="Arial"/>
                <a:cs typeface="Arial"/>
              </a:rPr>
            </a:br>
            <a:r>
              <a:rPr lang="en-US" sz="2400" dirty="0">
                <a:solidFill>
                  <a:schemeClr val="tx1"/>
                </a:solidFill>
                <a:latin typeface="Arial"/>
                <a:ea typeface="Arial"/>
                <a:cs typeface="Arial"/>
                <a:sym typeface="Arial"/>
              </a:rPr>
              <a:t>   1-2 cases.</a:t>
            </a:r>
            <a:endParaRPr dirty="0">
              <a:solidFill>
                <a:schemeClr val="tx1"/>
              </a:solidFill>
            </a:endParaRPr>
          </a:p>
          <a:p>
            <a:pPr marL="342900" lvl="0" indent="-342900" algn="l" rtl="0">
              <a:lnSpc>
                <a:spcPct val="115000"/>
              </a:lnSpc>
              <a:spcBef>
                <a:spcPts val="1600"/>
              </a:spcBef>
              <a:spcAft>
                <a:spcPts val="0"/>
              </a:spcAft>
              <a:buSzPts val="2400"/>
              <a:buFont typeface="Wingdings" charset="2"/>
              <a:buChar char="Ø"/>
            </a:pPr>
            <a:r>
              <a:rPr lang="en-US" dirty="0">
                <a:solidFill>
                  <a:schemeClr val="tx1"/>
                </a:solidFill>
              </a:rPr>
              <a:t>Few</a:t>
            </a:r>
            <a:r>
              <a:rPr lang="en-US" sz="2400" dirty="0">
                <a:solidFill>
                  <a:schemeClr val="tx1"/>
                </a:solidFill>
                <a:latin typeface="Arial"/>
                <a:ea typeface="Arial"/>
                <a:cs typeface="Arial"/>
                <a:sym typeface="Arial"/>
              </a:rPr>
              <a:t> high cases.</a:t>
            </a:r>
            <a:endParaRPr dirty="0">
              <a:solidFill>
                <a:schemeClr val="tx1"/>
              </a:solidFill>
            </a:endParaRPr>
          </a:p>
        </p:txBody>
      </p:sp>
      <p:pic>
        <p:nvPicPr>
          <p:cNvPr id="116" name="Google Shape;116;p22" descr="Screenshot 2025-04-22 at 11.31.51 PM.pngGoogle Shape;68;p15"/>
          <p:cNvPicPr preferRelativeResize="0"/>
          <p:nvPr/>
        </p:nvPicPr>
        <p:blipFill rotWithShape="1">
          <a:blip r:embed="rId3">
            <a:alphaModFix/>
          </a:blip>
          <a:srcRect/>
          <a:stretch/>
        </p:blipFill>
        <p:spPr>
          <a:xfrm>
            <a:off x="3237690" y="2143517"/>
            <a:ext cx="5696176" cy="369157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3"/>
          <p:cNvSpPr txBox="1">
            <a:spLocks noGrp="1"/>
          </p:cNvSpPr>
          <p:nvPr>
            <p:ph type="title"/>
          </p:nvPr>
        </p:nvSpPr>
        <p:spPr>
          <a:xfrm>
            <a:off x="311699" y="532900"/>
            <a:ext cx="8520602" cy="572702"/>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000000"/>
              </a:buClr>
              <a:buSzPts val="2400"/>
              <a:buFont typeface="Arial"/>
              <a:buNone/>
            </a:pPr>
            <a:r>
              <a:rPr lang="en-US" sz="2400"/>
              <a:t>Countplot of Clinical Signs</a:t>
            </a:r>
            <a:endParaRPr/>
          </a:p>
        </p:txBody>
      </p:sp>
      <p:sp>
        <p:nvSpPr>
          <p:cNvPr id="122" name="Google Shape;122;p23"/>
          <p:cNvSpPr txBox="1">
            <a:spLocks noGrp="1"/>
          </p:cNvSpPr>
          <p:nvPr>
            <p:ph type="body" idx="1"/>
          </p:nvPr>
        </p:nvSpPr>
        <p:spPr>
          <a:xfrm>
            <a:off x="311699" y="1102911"/>
            <a:ext cx="8520602" cy="3416401"/>
          </a:xfrm>
          <a:prstGeom prst="rect">
            <a:avLst/>
          </a:prstGeom>
          <a:noFill/>
          <a:ln>
            <a:noFill/>
          </a:ln>
        </p:spPr>
        <p:txBody>
          <a:bodyPr spcFirstLastPara="1" wrap="square" lIns="91400" tIns="91400" rIns="91400" bIns="91400" anchor="t" anchorCtr="0">
            <a:normAutofit/>
          </a:bodyPr>
          <a:lstStyle/>
          <a:p>
            <a:pPr marL="342900" marR="0" lvl="0" indent="-342900" algn="l" rtl="0">
              <a:lnSpc>
                <a:spcPct val="115000"/>
              </a:lnSpc>
              <a:spcBef>
                <a:spcPts val="0"/>
              </a:spcBef>
              <a:spcAft>
                <a:spcPts val="0"/>
              </a:spcAft>
              <a:buClr>
                <a:srgbClr val="595959"/>
              </a:buClr>
              <a:buSzPts val="2400"/>
              <a:buFont typeface="Wingdings 3"/>
              <a:buChar char="●"/>
            </a:pPr>
            <a:r>
              <a:rPr lang="en-US" sz="2400">
                <a:solidFill>
                  <a:schemeClr val="tx1"/>
                </a:solidFill>
                <a:latin typeface="Arial"/>
                <a:ea typeface="Arial"/>
                <a:cs typeface="Arial"/>
                <a:sym typeface="Arial"/>
              </a:rPr>
              <a:t>Clinical signs Distribution</a:t>
            </a:r>
            <a:endParaRPr lang="en-US">
              <a:solidFill>
                <a:schemeClr val="tx1"/>
              </a:solidFill>
            </a:endParaRPr>
          </a:p>
        </p:txBody>
      </p:sp>
      <p:pic>
        <p:nvPicPr>
          <p:cNvPr id="123" name="Google Shape;123;p23" descr="Screenshot 2025-04-22 at 11.40.33 PM.pngGoogle Shape;75;p16"/>
          <p:cNvPicPr preferRelativeResize="0"/>
          <p:nvPr/>
        </p:nvPicPr>
        <p:blipFill rotWithShape="1">
          <a:blip r:embed="rId3">
            <a:alphaModFix/>
          </a:blip>
          <a:srcRect/>
          <a:stretch/>
        </p:blipFill>
        <p:spPr>
          <a:xfrm>
            <a:off x="630254" y="1845085"/>
            <a:ext cx="7559252" cy="38720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Clinical Signs Distribution</a:t>
            </a:r>
            <a:endParaRPr/>
          </a:p>
        </p:txBody>
      </p:sp>
      <p:sp>
        <p:nvSpPr>
          <p:cNvPr id="129" name="Google Shape;129;p24"/>
          <p:cNvSpPr txBox="1">
            <a:spLocks noGrp="1"/>
          </p:cNvSpPr>
          <p:nvPr>
            <p:ph type="body" idx="1"/>
          </p:nvPr>
        </p:nvSpPr>
        <p:spPr>
          <a:prstGeom prst="rect">
            <a:avLst/>
          </a:prstGeom>
          <a:noFill/>
          <a:ln>
            <a:noFill/>
          </a:ln>
        </p:spPr>
        <p:txBody>
          <a:bodyPr spcFirstLastPara="1" wrap="square" lIns="91400" tIns="91400" rIns="91400" bIns="91400" anchor="t" anchorCtr="0">
            <a:normAutofit/>
          </a:bodyPr>
          <a:lstStyle/>
          <a:p>
            <a:pPr marL="342900" lvl="0" indent="-342900" algn="l" rtl="0">
              <a:lnSpc>
                <a:spcPct val="115000"/>
              </a:lnSpc>
              <a:spcBef>
                <a:spcPts val="0"/>
              </a:spcBef>
              <a:spcAft>
                <a:spcPts val="0"/>
              </a:spcAft>
              <a:buSzPts val="2400"/>
              <a:buFont typeface="Wingdings" charset="2"/>
              <a:buChar char="Ø"/>
            </a:pPr>
            <a:r>
              <a:rPr lang="en-US" sz="2400" dirty="0">
                <a:solidFill>
                  <a:schemeClr val="tx1"/>
                </a:solidFill>
                <a:latin typeface="Arial"/>
                <a:ea typeface="Arial"/>
                <a:cs typeface="Arial"/>
                <a:sym typeface="Arial"/>
              </a:rPr>
              <a:t>Most frequent signs: Respiratory, Found Dead</a:t>
            </a:r>
            <a:endParaRPr lang="en-US" dirty="0">
              <a:solidFill>
                <a:schemeClr val="tx1"/>
              </a:solidFill>
            </a:endParaRPr>
          </a:p>
          <a:p>
            <a:pPr marL="342900" lvl="0" indent="-342900" algn="l" rtl="0">
              <a:lnSpc>
                <a:spcPct val="115000"/>
              </a:lnSpc>
              <a:spcBef>
                <a:spcPts val="1600"/>
              </a:spcBef>
              <a:spcAft>
                <a:spcPts val="0"/>
              </a:spcAft>
              <a:buSzPts val="2400"/>
              <a:buFont typeface="Wingdings" charset="2"/>
              <a:buChar char="Ø"/>
            </a:pPr>
            <a:r>
              <a:rPr lang="en-US" sz="2400" dirty="0">
                <a:solidFill>
                  <a:schemeClr val="tx1"/>
                </a:solidFill>
                <a:latin typeface="Arial"/>
                <a:ea typeface="Arial"/>
                <a:cs typeface="Arial"/>
                <a:sym typeface="Arial"/>
              </a:rPr>
              <a:t>Commonly observed Symptoms</a:t>
            </a:r>
            <a:endParaRPr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5"/>
          <p:cNvSpPr txBox="1">
            <a:spLocks noGrp="1"/>
          </p:cNvSpPr>
          <p:nvPr>
            <p:ph type="title"/>
          </p:nvPr>
        </p:nvSpPr>
        <p:spPr>
          <a:xfrm>
            <a:off x="442953" y="528874"/>
            <a:ext cx="8520602" cy="5727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Scatterplot: Temperature vs Cases</a:t>
            </a:r>
            <a:endParaRPr/>
          </a:p>
        </p:txBody>
      </p:sp>
      <p:pic>
        <p:nvPicPr>
          <p:cNvPr id="135" name="Google Shape;135;p25" descr="Screenshot 2025-04-22 at 11.45.08 PM.pngGoogle Shape;88;p18"/>
          <p:cNvPicPr preferRelativeResize="0"/>
          <p:nvPr/>
        </p:nvPicPr>
        <p:blipFill rotWithShape="1">
          <a:blip r:embed="rId3">
            <a:alphaModFix/>
          </a:blip>
          <a:srcRect/>
          <a:stretch/>
        </p:blipFill>
        <p:spPr>
          <a:xfrm>
            <a:off x="535238" y="1683112"/>
            <a:ext cx="7324726" cy="42195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218604" y="208408"/>
            <a:ext cx="8520602" cy="5727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Boxplot (Clinical Sign vs Cases)</a:t>
            </a:r>
            <a:endParaRPr/>
          </a:p>
        </p:txBody>
      </p:sp>
      <p:sp>
        <p:nvSpPr>
          <p:cNvPr id="141" name="Google Shape;141;p26"/>
          <p:cNvSpPr txBox="1">
            <a:spLocks noGrp="1"/>
          </p:cNvSpPr>
          <p:nvPr>
            <p:ph type="body" idx="1"/>
          </p:nvPr>
        </p:nvSpPr>
        <p:spPr>
          <a:xfrm>
            <a:off x="218604" y="861553"/>
            <a:ext cx="8520602" cy="3416401"/>
          </a:xfrm>
          <a:prstGeom prst="rect">
            <a:avLst/>
          </a:prstGeom>
          <a:noFill/>
          <a:ln>
            <a:noFill/>
          </a:ln>
        </p:spPr>
        <p:txBody>
          <a:bodyPr spcFirstLastPara="1" wrap="square" lIns="91400" tIns="91400" rIns="91400" bIns="91400" anchor="t" anchorCtr="0">
            <a:normAutofit/>
          </a:bodyPr>
          <a:lstStyle/>
          <a:p>
            <a:pPr marL="342900" lvl="0" indent="-342900" algn="l" rtl="0">
              <a:lnSpc>
                <a:spcPct val="115000"/>
              </a:lnSpc>
              <a:spcBef>
                <a:spcPts val="0"/>
              </a:spcBef>
              <a:spcAft>
                <a:spcPts val="0"/>
              </a:spcAft>
              <a:buSzPts val="2400"/>
              <a:buFont typeface="Wingdings" charset="2"/>
              <a:buChar char="Ø"/>
            </a:pPr>
            <a:r>
              <a:rPr lang="en-US">
                <a:solidFill>
                  <a:schemeClr val="tx1"/>
                </a:solidFill>
              </a:rPr>
              <a:t>Outliers</a:t>
            </a:r>
            <a:r>
              <a:rPr lang="en-US" sz="2400">
                <a:solidFill>
                  <a:schemeClr val="tx1"/>
                </a:solidFill>
                <a:latin typeface="Arial"/>
                <a:ea typeface="Arial"/>
                <a:cs typeface="Arial"/>
                <a:sym typeface="Arial"/>
              </a:rPr>
              <a:t> for “Found Dead” category.</a:t>
            </a:r>
            <a:endParaRPr lang="en-US" dirty="0">
              <a:solidFill>
                <a:schemeClr val="tx1"/>
              </a:solidFill>
            </a:endParaRPr>
          </a:p>
          <a:p>
            <a:pPr marL="342900" lvl="0" indent="-342900" algn="l" rtl="0">
              <a:lnSpc>
                <a:spcPct val="115000"/>
              </a:lnSpc>
              <a:spcBef>
                <a:spcPts val="1600"/>
              </a:spcBef>
              <a:spcAft>
                <a:spcPts val="0"/>
              </a:spcAft>
              <a:buSzPts val="2400"/>
              <a:buFont typeface="Wingdings" charset="2"/>
              <a:buChar char="Ø"/>
            </a:pPr>
            <a:r>
              <a:rPr lang="en-US" sz="2400">
                <a:solidFill>
                  <a:schemeClr val="tx1"/>
                </a:solidFill>
                <a:latin typeface="Arial"/>
                <a:ea typeface="Arial"/>
                <a:cs typeface="Arial"/>
                <a:sym typeface="Arial"/>
              </a:rPr>
              <a:t>Helps identify which signs are linked</a:t>
            </a:r>
            <a:br>
              <a:rPr lang="en-US" sz="2400" dirty="0">
                <a:solidFill>
                  <a:schemeClr val="tx1"/>
                </a:solidFill>
                <a:latin typeface="Arial"/>
                <a:ea typeface="Arial"/>
                <a:cs typeface="Arial"/>
              </a:rPr>
            </a:br>
            <a:r>
              <a:rPr lang="en-US" sz="2400" dirty="0">
                <a:solidFill>
                  <a:schemeClr val="tx1"/>
                </a:solidFill>
                <a:latin typeface="Arial"/>
                <a:ea typeface="Arial"/>
                <a:cs typeface="Arial"/>
                <a:sym typeface="Arial"/>
              </a:rPr>
              <a:t>To high case counts.</a:t>
            </a:r>
            <a:endParaRPr dirty="0">
              <a:solidFill>
                <a:schemeClr val="tx1"/>
              </a:solidFill>
            </a:endParaRPr>
          </a:p>
        </p:txBody>
      </p:sp>
      <p:pic>
        <p:nvPicPr>
          <p:cNvPr id="142" name="Google Shape;142;p26" descr="Screenshot 2025-04-22 at 11.46.45 PM.pngGoogle Shape;95;p19"/>
          <p:cNvPicPr preferRelativeResize="0"/>
          <p:nvPr/>
        </p:nvPicPr>
        <p:blipFill rotWithShape="1">
          <a:blip r:embed="rId3">
            <a:alphaModFix/>
          </a:blip>
          <a:srcRect/>
          <a:stretch/>
        </p:blipFill>
        <p:spPr>
          <a:xfrm>
            <a:off x="3518017" y="2240210"/>
            <a:ext cx="5404805" cy="42753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title"/>
          </p:nvPr>
        </p:nvSpPr>
        <p:spPr>
          <a:xfrm>
            <a:off x="453890" y="471324"/>
            <a:ext cx="8520602" cy="572701"/>
          </a:xfrm>
          <a:prstGeom prst="rect">
            <a:avLst/>
          </a:prstGeom>
          <a:noFill/>
          <a:ln>
            <a:noFill/>
          </a:ln>
        </p:spPr>
        <p:txBody>
          <a:bodyPr spcFirstLastPara="1" wrap="square" lIns="91400" tIns="91400" rIns="91400" bIns="91400" anchor="t" anchorCtr="0">
            <a:normAutofit fontScale="90000"/>
          </a:bodyPr>
          <a:lstStyle/>
          <a:p>
            <a:pPr marL="0" lvl="0" indent="0" algn="l" rtl="0">
              <a:lnSpc>
                <a:spcPct val="100000"/>
              </a:lnSpc>
              <a:spcBef>
                <a:spcPts val="0"/>
              </a:spcBef>
              <a:spcAft>
                <a:spcPts val="0"/>
              </a:spcAft>
              <a:buClr>
                <a:srgbClr val="000000"/>
              </a:buClr>
              <a:buSzPts val="960"/>
              <a:buFont typeface="Arial"/>
              <a:buNone/>
            </a:pPr>
            <a:r>
              <a:rPr lang="en-US" sz="3200"/>
              <a:t>Heatmap: Correlation Matrix 	</a:t>
            </a:r>
            <a:endParaRPr sz="3200"/>
          </a:p>
          <a:p>
            <a:pPr marL="0" lvl="0" indent="0" algn="l" rtl="0">
              <a:lnSpc>
                <a:spcPct val="100000"/>
              </a:lnSpc>
              <a:spcBef>
                <a:spcPts val="0"/>
              </a:spcBef>
              <a:spcAft>
                <a:spcPts val="0"/>
              </a:spcAft>
              <a:buClr>
                <a:srgbClr val="000000"/>
              </a:buClr>
              <a:buSzPts val="1280"/>
              <a:buFont typeface="Arial"/>
              <a:buNone/>
            </a:pPr>
            <a:r>
              <a:rPr lang="en-US" sz="1250" dirty="0"/>
              <a:t>		</a:t>
            </a:r>
            <a:endParaRPr sz="1250" dirty="0"/>
          </a:p>
          <a:p>
            <a:pPr marL="0" lvl="0" indent="0" algn="l" rtl="0">
              <a:lnSpc>
                <a:spcPct val="100000"/>
              </a:lnSpc>
              <a:spcBef>
                <a:spcPts val="0"/>
              </a:spcBef>
              <a:spcAft>
                <a:spcPts val="0"/>
              </a:spcAft>
              <a:buClr>
                <a:srgbClr val="000000"/>
              </a:buClr>
              <a:buSzPts val="1280"/>
              <a:buFont typeface="Arial"/>
              <a:buNone/>
            </a:pPr>
            <a:endParaRPr sz="1280"/>
          </a:p>
        </p:txBody>
      </p:sp>
      <p:sp>
        <p:nvSpPr>
          <p:cNvPr id="148" name="Google Shape;148;p27"/>
          <p:cNvSpPr txBox="1">
            <a:spLocks noGrp="1"/>
          </p:cNvSpPr>
          <p:nvPr>
            <p:ph type="body" idx="1"/>
          </p:nvPr>
        </p:nvSpPr>
        <p:spPr>
          <a:xfrm>
            <a:off x="311699" y="1536225"/>
            <a:ext cx="8520602" cy="3416401"/>
          </a:xfrm>
          <a:prstGeom prst="rect">
            <a:avLst/>
          </a:prstGeom>
          <a:noFill/>
          <a:ln>
            <a:noFill/>
          </a:ln>
        </p:spPr>
        <p:txBody>
          <a:bodyPr spcFirstLastPara="1" wrap="square" lIns="91400" tIns="91400" rIns="91400" bIns="91400" anchor="t" anchorCtr="0">
            <a:normAutofit/>
          </a:bodyPr>
          <a:lstStyle/>
          <a:p>
            <a:pPr marL="0" marR="0" lvl="0" indent="0" algn="l" rtl="0">
              <a:lnSpc>
                <a:spcPct val="115000"/>
              </a:lnSpc>
              <a:spcBef>
                <a:spcPts val="0"/>
              </a:spcBef>
              <a:spcAft>
                <a:spcPts val="0"/>
              </a:spcAft>
              <a:buClr>
                <a:srgbClr val="595959"/>
              </a:buClr>
              <a:buSzPts val="2400"/>
              <a:buFont typeface="Arial"/>
              <a:buNone/>
            </a:pPr>
            <a:r>
              <a:rPr lang="en-US" sz="2400">
                <a:solidFill>
                  <a:srgbClr val="595959"/>
                </a:solidFill>
                <a:latin typeface="Arial"/>
                <a:ea typeface="Arial"/>
                <a:cs typeface="Arial"/>
                <a:sym typeface="Arial"/>
              </a:rPr>
              <a:t> </a:t>
            </a:r>
            <a:endParaRPr/>
          </a:p>
        </p:txBody>
      </p:sp>
      <p:pic>
        <p:nvPicPr>
          <p:cNvPr id="149" name="Google Shape;149;p27" descr="Screenshot 2025-04-22 at 11.49.31 PM.pngGoogle Shape;102;p20"/>
          <p:cNvPicPr preferRelativeResize="0"/>
          <p:nvPr/>
        </p:nvPicPr>
        <p:blipFill rotWithShape="1">
          <a:blip r:embed="rId3">
            <a:alphaModFix/>
          </a:blip>
          <a:srcRect/>
          <a:stretch/>
        </p:blipFill>
        <p:spPr>
          <a:xfrm>
            <a:off x="410483" y="1320504"/>
            <a:ext cx="8343701" cy="42195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8"/>
          <p:cNvSpPr txBox="1">
            <a:spLocks noGrp="1"/>
          </p:cNvSpPr>
          <p:nvPr>
            <p:ph type="title"/>
          </p:nvPr>
        </p:nvSpPr>
        <p:spPr>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Heatmap</a:t>
            </a:r>
            <a:endParaRPr/>
          </a:p>
        </p:txBody>
      </p:sp>
      <p:sp>
        <p:nvSpPr>
          <p:cNvPr id="155" name="Google Shape;155;p28"/>
          <p:cNvSpPr txBox="1">
            <a:spLocks noGrp="1"/>
          </p:cNvSpPr>
          <p:nvPr>
            <p:ph type="body" idx="1"/>
          </p:nvPr>
        </p:nvSpPr>
        <p:spPr>
          <a:prstGeom prst="rect">
            <a:avLst/>
          </a:prstGeom>
          <a:noFill/>
          <a:ln>
            <a:noFill/>
          </a:ln>
        </p:spPr>
        <p:txBody>
          <a:bodyPr spcFirstLastPara="1" wrap="square" lIns="91400" tIns="91400" rIns="91400" bIns="91400" anchor="t" anchorCtr="0">
            <a:normAutofit/>
          </a:bodyPr>
          <a:lstStyle/>
          <a:p>
            <a:pPr marL="342900" indent="-342900">
              <a:buFont typeface="Wingdings" charset="2"/>
              <a:buChar char="Ø"/>
            </a:pPr>
            <a:r>
              <a:rPr lang="en-US" dirty="0">
                <a:solidFill>
                  <a:schemeClr val="tx1"/>
                </a:solidFill>
              </a:rPr>
              <a:t>Moderate</a:t>
            </a:r>
            <a:r>
              <a:rPr lang="en-US" sz="2400" dirty="0">
                <a:solidFill>
                  <a:schemeClr val="tx1"/>
                </a:solidFill>
                <a:latin typeface="Arial"/>
                <a:ea typeface="Arial"/>
                <a:cs typeface="Arial"/>
                <a:sym typeface="Arial"/>
              </a:rPr>
              <a:t> correlation between temperature, poultry density, </a:t>
            </a:r>
            <a:r>
              <a:rPr lang="en-US" sz="2400">
                <a:solidFill>
                  <a:schemeClr val="tx1"/>
                </a:solidFill>
                <a:latin typeface="Arial"/>
                <a:ea typeface="Arial"/>
                <a:cs typeface="Arial"/>
                <a:sym typeface="Arial"/>
              </a:rPr>
              <a:t>and outbreak probability</a:t>
            </a:r>
            <a:endParaRPr lang="en-US" dirty="0">
              <a:solidFill>
                <a:schemeClr val="tx1"/>
              </a:solidFill>
            </a:endParaRPr>
          </a:p>
          <a:p>
            <a:pPr marL="342900" lvl="0" indent="-342900" algn="l">
              <a:lnSpc>
                <a:spcPct val="114999"/>
              </a:lnSpc>
              <a:spcBef>
                <a:spcPts val="0"/>
              </a:spcBef>
              <a:spcAft>
                <a:spcPts val="0"/>
              </a:spcAft>
              <a:buSzPts val="2400"/>
              <a:buFont typeface="Wingdings" charset="2"/>
              <a:buChar char="Ø"/>
            </a:pPr>
            <a:r>
              <a:rPr lang="en-US" sz="2400">
                <a:solidFill>
                  <a:schemeClr val="tx1"/>
                </a:solidFill>
                <a:latin typeface="Arial"/>
                <a:ea typeface="Arial"/>
                <a:cs typeface="Arial"/>
                <a:sym typeface="Arial"/>
              </a:rPr>
              <a:t>Justifies their use in modelling</a:t>
            </a:r>
            <a:endParaRPr lang="en-US"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9"/>
          <p:cNvSpPr txBox="1">
            <a:spLocks noGrp="1"/>
          </p:cNvSpPr>
          <p:nvPr>
            <p:ph type="title"/>
          </p:nvPr>
        </p:nvSpPr>
        <p:spPr>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000000"/>
              </a:buClr>
              <a:buSzPts val="2688"/>
              <a:buFont typeface="Arial"/>
              <a:buNone/>
            </a:pPr>
            <a:r>
              <a:rPr lang="en-US" sz="2688"/>
              <a:t>Insights</a:t>
            </a:r>
            <a:endParaRPr/>
          </a:p>
        </p:txBody>
      </p:sp>
      <p:sp>
        <p:nvSpPr>
          <p:cNvPr id="161" name="Google Shape;161;p29"/>
          <p:cNvSpPr txBox="1">
            <a:spLocks noGrp="1"/>
          </p:cNvSpPr>
          <p:nvPr>
            <p:ph type="body" idx="1"/>
          </p:nvPr>
        </p:nvSpPr>
        <p:spPr>
          <a:prstGeom prst="rect">
            <a:avLst/>
          </a:prstGeom>
          <a:noFill/>
          <a:ln>
            <a:noFill/>
          </a:ln>
        </p:spPr>
        <p:txBody>
          <a:bodyPr spcFirstLastPara="1" wrap="square" lIns="91400" tIns="91400" rIns="91400" bIns="91400" anchor="t" anchorCtr="0">
            <a:normAutofit lnSpcReduction="10000"/>
          </a:bodyPr>
          <a:lstStyle/>
          <a:p>
            <a:pPr marL="342900" lvl="0" indent="-342900" algn="l" rtl="0">
              <a:lnSpc>
                <a:spcPct val="92000"/>
              </a:lnSpc>
              <a:spcBef>
                <a:spcPts val="0"/>
              </a:spcBef>
              <a:spcAft>
                <a:spcPts val="0"/>
              </a:spcAft>
              <a:buSzPts val="2256"/>
              <a:buFont typeface="Wingdings" charset="2"/>
              <a:buChar char="Ø"/>
            </a:pPr>
            <a:r>
              <a:rPr lang="en-US" sz="2250" dirty="0">
                <a:solidFill>
                  <a:schemeClr val="tx1"/>
                </a:solidFill>
              </a:rPr>
              <a:t> EDA showed low-to-moderate relationships between outbreak likelihood and environmental factors</a:t>
            </a:r>
            <a:br>
              <a:rPr lang="en-US" sz="2250" dirty="0">
                <a:solidFill>
                  <a:schemeClr val="tx1"/>
                </a:solidFill>
              </a:rPr>
            </a:br>
            <a:endParaRPr lang="en-US">
              <a:solidFill>
                <a:schemeClr val="tx1"/>
              </a:solidFill>
            </a:endParaRPr>
          </a:p>
          <a:p>
            <a:pPr marL="342900" lvl="0" indent="-342900" algn="l" rtl="0">
              <a:lnSpc>
                <a:spcPct val="92000"/>
              </a:lnSpc>
              <a:spcBef>
                <a:spcPts val="1500"/>
              </a:spcBef>
              <a:spcAft>
                <a:spcPts val="0"/>
              </a:spcAft>
              <a:buSzPts val="2256"/>
              <a:buFont typeface="Wingdings" charset="2"/>
              <a:buChar char="Ø"/>
            </a:pPr>
            <a:r>
              <a:rPr lang="en-US" sz="2250">
                <a:solidFill>
                  <a:schemeClr val="tx1"/>
                </a:solidFill>
              </a:rPr>
              <a:t>Temperature and poultry density selected for modelling</a:t>
            </a:r>
            <a:endParaRPr sz="2250" dirty="0">
              <a:solidFill>
                <a:schemeClr val="tx1"/>
              </a:solidFill>
            </a:endParaRPr>
          </a:p>
          <a:p>
            <a:pPr marL="342900" lvl="0" indent="-342900" algn="l" rtl="0">
              <a:lnSpc>
                <a:spcPct val="92000"/>
              </a:lnSpc>
              <a:spcBef>
                <a:spcPts val="1500"/>
              </a:spcBef>
              <a:spcAft>
                <a:spcPts val="0"/>
              </a:spcAft>
              <a:buSzPts val="2256"/>
              <a:buFont typeface="Wingdings" charset="2"/>
              <a:buChar char="Ø"/>
            </a:pPr>
            <a:endParaRPr sz="2250" dirty="0">
              <a:solidFill>
                <a:schemeClr val="tx1"/>
              </a:solidFill>
            </a:endParaRPr>
          </a:p>
          <a:p>
            <a:pPr marL="342900" lvl="0" indent="-342900" algn="l" rtl="0">
              <a:lnSpc>
                <a:spcPct val="92000"/>
              </a:lnSpc>
              <a:spcBef>
                <a:spcPts val="1500"/>
              </a:spcBef>
              <a:spcAft>
                <a:spcPts val="0"/>
              </a:spcAft>
              <a:buSzPts val="2256"/>
              <a:buFont typeface="Wingdings" charset="2"/>
              <a:buChar char="Ø"/>
            </a:pPr>
            <a:r>
              <a:rPr lang="en-US" sz="2250">
                <a:solidFill>
                  <a:schemeClr val="tx1"/>
                </a:solidFill>
              </a:rPr>
              <a:t>Barplot, Lineplot</a:t>
            </a:r>
            <a:br>
              <a:rPr lang="en-US" sz="2250" dirty="0">
                <a:solidFill>
                  <a:schemeClr val="tx1"/>
                </a:solidFill>
              </a:rPr>
            </a:br>
            <a:endParaRPr>
              <a:solidFill>
                <a:schemeClr val="tx1"/>
              </a:solidFill>
            </a:endParaRPr>
          </a:p>
          <a:p>
            <a:pPr marL="342900" lvl="0" indent="-342900" algn="l" rtl="0">
              <a:lnSpc>
                <a:spcPct val="92000"/>
              </a:lnSpc>
              <a:spcBef>
                <a:spcPts val="1500"/>
              </a:spcBef>
              <a:spcAft>
                <a:spcPts val="0"/>
              </a:spcAft>
              <a:buSzPts val="2256"/>
              <a:buFont typeface="Wingdings" charset="2"/>
              <a:buChar char="Ø"/>
            </a:pPr>
            <a:r>
              <a:rPr lang="en-US" sz="2250">
                <a:solidFill>
                  <a:schemeClr val="tx1"/>
                </a:solidFill>
              </a:rPr>
              <a:t>Next step: Build and evaluate regression model</a:t>
            </a:r>
            <a:endParaRPr sz="225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0"/>
          <p:cNvSpPr txBox="1">
            <a:spLocks noGrp="1"/>
          </p:cNvSpPr>
          <p:nvPr>
            <p:ph type="title"/>
          </p:nvPr>
        </p:nvSpPr>
        <p:spPr>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475"/>
              <a:buFont typeface="Play"/>
              <a:buNone/>
            </a:pPr>
            <a:r>
              <a:rPr lang="en-US" sz="3475" b="1"/>
              <a:t>Implementation of Regression Model</a:t>
            </a:r>
            <a:endParaRPr/>
          </a:p>
        </p:txBody>
      </p:sp>
      <p:sp>
        <p:nvSpPr>
          <p:cNvPr id="167" name="Google Shape;167;p30"/>
          <p:cNvSpPr txBox="1"/>
          <p:nvPr/>
        </p:nvSpPr>
        <p:spPr>
          <a:xfrm>
            <a:off x="662939" y="2125266"/>
            <a:ext cx="7818121" cy="620943"/>
          </a:xfrm>
          <a:prstGeom prst="rect">
            <a:avLst/>
          </a:prstGeom>
          <a:noFill/>
          <a:ln>
            <a:noFill/>
          </a:ln>
        </p:spPr>
        <p:txBody>
          <a:bodyPr spcFirstLastPara="1" wrap="square" lIns="34275" tIns="34275" rIns="34275" bIns="34275" anchor="t" anchorCtr="0">
            <a:normAutofit/>
          </a:bodyPr>
          <a:lstStyle/>
          <a:p>
            <a:pPr marL="0" marR="0" lvl="0" indent="0" algn="l" rtl="0">
              <a:lnSpc>
                <a:spcPct val="100000"/>
              </a:lnSpc>
              <a:spcBef>
                <a:spcPts val="0"/>
              </a:spcBef>
              <a:spcAft>
                <a:spcPts val="0"/>
              </a:spcAft>
              <a:buClr>
                <a:srgbClr val="888888"/>
              </a:buClr>
              <a:buSzPts val="2368"/>
              <a:buFont typeface="Arial"/>
              <a:buNone/>
            </a:pPr>
            <a:r>
              <a:rPr lang="en-US" sz="2368" b="0" i="0" u="none" strike="noStrike" cap="none">
                <a:solidFill>
                  <a:srgbClr val="888888"/>
                </a:solidFill>
                <a:latin typeface="Arial"/>
                <a:ea typeface="Arial"/>
                <a:cs typeface="Arial"/>
                <a:sym typeface="Arial"/>
              </a:rPr>
              <a:t>Linear and Logistic Regression Analysis on Avian Dataset</a:t>
            </a:r>
            <a:endParaRPr/>
          </a:p>
        </p:txBody>
      </p:sp>
      <p:sp>
        <p:nvSpPr>
          <p:cNvPr id="168" name="Google Shape;168;p30"/>
          <p:cNvSpPr txBox="1"/>
          <p:nvPr/>
        </p:nvSpPr>
        <p:spPr>
          <a:xfrm>
            <a:off x="946205" y="3119438"/>
            <a:ext cx="7685731" cy="2279451"/>
          </a:xfrm>
          <a:prstGeom prst="rect">
            <a:avLst/>
          </a:prstGeom>
          <a:noFill/>
          <a:ln>
            <a:noFill/>
          </a:ln>
        </p:spPr>
        <p:txBody>
          <a:bodyPr spcFirstLastPara="1" wrap="square" lIns="34275" tIns="34275" rIns="34275" bIns="34275" anchor="t" anchorCtr="0">
            <a:normAutofit/>
          </a:bodyPr>
          <a:lstStyle/>
          <a:p>
            <a:pPr marL="342900" marR="0" lvl="0" indent="-342900" algn="l" rtl="0">
              <a:lnSpc>
                <a:spcPct val="100000"/>
              </a:lnSpc>
              <a:spcBef>
                <a:spcPts val="0"/>
              </a:spcBef>
              <a:spcAft>
                <a:spcPts val="0"/>
              </a:spcAft>
              <a:buClr>
                <a:srgbClr val="000000"/>
              </a:buClr>
              <a:buSzPts val="4000"/>
              <a:buFont typeface="Arial"/>
              <a:buChar char="•"/>
            </a:pPr>
            <a:r>
              <a:rPr lang="en-US" sz="4000" b="1" i="0" u="none" strike="noStrike" cap="none" dirty="0">
                <a:solidFill>
                  <a:schemeClr val="tx1"/>
                </a:solidFill>
                <a:latin typeface="Calibri"/>
                <a:ea typeface="Calibri"/>
                <a:cs typeface="Calibri"/>
                <a:sym typeface="Calibri"/>
              </a:rPr>
              <a:t>Split the data:</a:t>
            </a:r>
            <a:endParaRPr lang="en-US" sz="3200" b="0" i="0" u="none" strike="noStrike" cap="none">
              <a:solidFill>
                <a:schemeClr val="tx1"/>
              </a:solidFill>
              <a:latin typeface="Calibri"/>
              <a:ea typeface="Calibri"/>
              <a:cs typeface="Calibri"/>
            </a:endParaRPr>
          </a:p>
          <a:p>
            <a:pPr marL="742950" marR="0" lvl="1" indent="-285750" algn="l" rtl="0">
              <a:lnSpc>
                <a:spcPct val="100000"/>
              </a:lnSpc>
              <a:spcBef>
                <a:spcPts val="600"/>
              </a:spcBef>
              <a:spcAft>
                <a:spcPts val="0"/>
              </a:spcAft>
              <a:buClr>
                <a:srgbClr val="000000"/>
              </a:buClr>
              <a:buSzPts val="2800"/>
              <a:buFont typeface="Calibri"/>
              <a:buChar char="➢"/>
            </a:pPr>
            <a:r>
              <a:rPr lang="en-US" sz="2800" b="0" i="0" u="none" strike="noStrike" cap="none" dirty="0">
                <a:solidFill>
                  <a:schemeClr val="tx1"/>
                </a:solidFill>
                <a:latin typeface="Calibri"/>
                <a:ea typeface="Calibri"/>
                <a:cs typeface="Calibri"/>
                <a:sym typeface="Calibri"/>
              </a:rPr>
              <a:t>80% for training               </a:t>
            </a:r>
            <a:endParaRPr>
              <a:solidFill>
                <a:schemeClr val="tx1"/>
              </a:solidFill>
            </a:endParaRPr>
          </a:p>
          <a:p>
            <a:pPr marL="742950" marR="0" lvl="1" indent="-285750" algn="l" rtl="0">
              <a:lnSpc>
                <a:spcPct val="100000"/>
              </a:lnSpc>
              <a:spcBef>
                <a:spcPts val="600"/>
              </a:spcBef>
              <a:spcAft>
                <a:spcPts val="0"/>
              </a:spcAft>
              <a:buClr>
                <a:srgbClr val="000000"/>
              </a:buClr>
              <a:buSzPts val="2800"/>
              <a:buFont typeface="Calibri"/>
              <a:buChar char="➢"/>
            </a:pPr>
            <a:r>
              <a:rPr lang="en-US" sz="2800" b="0" i="0" u="none" strike="noStrike" cap="none" dirty="0">
                <a:solidFill>
                  <a:schemeClr val="tx1"/>
                </a:solidFill>
                <a:latin typeface="Calibri"/>
                <a:ea typeface="Calibri"/>
                <a:cs typeface="Calibri"/>
                <a:sym typeface="Calibri"/>
              </a:rPr>
              <a:t>20% for testing             correlated data with less variance were selected for better outcomes.</a:t>
            </a:r>
            <a:endParaRPr dirty="0">
              <a:solidFill>
                <a:schemeClr val="tx1"/>
              </a:solidFill>
            </a:endParaRPr>
          </a:p>
        </p:txBody>
      </p:sp>
      <p:cxnSp>
        <p:nvCxnSpPr>
          <p:cNvPr id="3" name="Straight Arrow Connector 2">
            <a:extLst>
              <a:ext uri="{FF2B5EF4-FFF2-40B4-BE49-F238E27FC236}">
                <a16:creationId xmlns:a16="http://schemas.microsoft.com/office/drawing/2014/main" id="{0269A6D7-FDC3-FD3D-7FF1-5C30555DC02D}"/>
              </a:ext>
            </a:extLst>
          </p:cNvPr>
          <p:cNvCxnSpPr/>
          <p:nvPr/>
        </p:nvCxnSpPr>
        <p:spPr>
          <a:xfrm>
            <a:off x="4242816" y="4645152"/>
            <a:ext cx="685800"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628650" y="600741"/>
            <a:ext cx="7886700" cy="713710"/>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872"/>
              <a:buFont typeface="Play"/>
              <a:buNone/>
            </a:pPr>
            <a:r>
              <a:rPr lang="en-US" sz="3872" b="1" dirty="0"/>
              <a:t>Justifications for Chosen Models</a:t>
            </a:r>
            <a:endParaRPr dirty="0"/>
          </a:p>
        </p:txBody>
      </p:sp>
      <p:sp>
        <p:nvSpPr>
          <p:cNvPr id="174" name="Google Shape;174;p31"/>
          <p:cNvSpPr txBox="1"/>
          <p:nvPr/>
        </p:nvSpPr>
        <p:spPr>
          <a:xfrm>
            <a:off x="628650" y="1692120"/>
            <a:ext cx="8039862" cy="4736112"/>
          </a:xfrm>
          <a:prstGeom prst="rect">
            <a:avLst/>
          </a:prstGeom>
          <a:noFill/>
          <a:ln>
            <a:noFill/>
          </a:ln>
        </p:spPr>
        <p:txBody>
          <a:bodyPr spcFirstLastPara="1" wrap="square" lIns="34275" tIns="34275" rIns="34275" bIns="34275" anchor="t" anchorCtr="0">
            <a:normAutofit/>
          </a:bodyPr>
          <a:lstStyle/>
          <a:p>
            <a:pPr marL="247650" marR="0" lvl="0" indent="-247650" algn="l" rtl="0">
              <a:lnSpc>
                <a:spcPct val="80000"/>
              </a:lnSpc>
              <a:spcBef>
                <a:spcPts val="0"/>
              </a:spcBef>
              <a:spcAft>
                <a:spcPts val="0"/>
              </a:spcAft>
              <a:buClr>
                <a:srgbClr val="000000"/>
              </a:buClr>
              <a:buSzPts val="1950"/>
              <a:buFont typeface="Arial"/>
              <a:buChar char="•"/>
            </a:pPr>
            <a:r>
              <a:rPr lang="en-US" sz="1950" b="1" i="0" u="none" strike="noStrike" cap="none" dirty="0">
                <a:solidFill>
                  <a:schemeClr val="tx1"/>
                </a:solidFill>
                <a:latin typeface="Calibri"/>
                <a:ea typeface="Calibri"/>
                <a:cs typeface="Calibri"/>
                <a:sym typeface="Calibri"/>
              </a:rPr>
              <a:t>Linear Regression:</a:t>
            </a:r>
            <a:endParaRPr lang="en-US">
              <a:solidFill>
                <a:schemeClr val="tx1"/>
              </a:solidFill>
            </a:endParaRPr>
          </a:p>
          <a:p>
            <a:pPr marL="247650" marR="0" lvl="0" indent="-247650" algn="l" rtl="0">
              <a:lnSpc>
                <a:spcPct val="80000"/>
              </a:lnSpc>
              <a:spcBef>
                <a:spcPts val="400"/>
              </a:spcBef>
              <a:spcAft>
                <a:spcPts val="0"/>
              </a:spcAft>
              <a:buClr>
                <a:srgbClr val="000000"/>
              </a:buClr>
              <a:buSzPts val="1950"/>
              <a:buFont typeface="Calibri"/>
              <a:buChar char="➢"/>
            </a:pPr>
            <a:r>
              <a:rPr lang="en-US" sz="1950" b="0" i="0" u="none" strike="noStrike" cap="none" dirty="0">
                <a:solidFill>
                  <a:schemeClr val="tx1"/>
                </a:solidFill>
                <a:latin typeface="Calibri"/>
                <a:ea typeface="Calibri"/>
                <a:cs typeface="Calibri"/>
                <a:sym typeface="Calibri"/>
              </a:rPr>
              <a:t>Purpose: Predicts a continuous dependent variable using features like Temperature, Poultry Density.</a:t>
            </a:r>
            <a:endParaRPr>
              <a:solidFill>
                <a:schemeClr val="tx1"/>
              </a:solidFill>
            </a:endParaRPr>
          </a:p>
          <a:p>
            <a:pPr marL="247650" marR="0" lvl="0" indent="-247650" algn="l" rtl="0">
              <a:lnSpc>
                <a:spcPct val="80000"/>
              </a:lnSpc>
              <a:spcBef>
                <a:spcPts val="400"/>
              </a:spcBef>
              <a:spcAft>
                <a:spcPts val="0"/>
              </a:spcAft>
              <a:buClr>
                <a:srgbClr val="000000"/>
              </a:buClr>
              <a:buSzPts val="1950"/>
              <a:buFont typeface="Calibri"/>
              <a:buChar char="➢"/>
            </a:pPr>
            <a:r>
              <a:rPr lang="en-US" sz="1950" b="0" i="0" u="none" strike="noStrike" cap="none" dirty="0">
                <a:solidFill>
                  <a:schemeClr val="tx1"/>
                </a:solidFill>
                <a:latin typeface="Calibri"/>
                <a:ea typeface="Calibri"/>
                <a:cs typeface="Calibri"/>
                <a:sym typeface="Calibri"/>
              </a:rPr>
              <a:t>Justification: Appropriate since 'Outbreak Logistics Regression' is continuous.</a:t>
            </a:r>
            <a:endParaRPr>
              <a:solidFill>
                <a:schemeClr val="tx1"/>
              </a:solidFill>
            </a:endParaRPr>
          </a:p>
          <a:p>
            <a:pPr marL="257175" marR="0" lvl="0" indent="-133350" algn="l" rtl="0">
              <a:lnSpc>
                <a:spcPct val="80000"/>
              </a:lnSpc>
              <a:spcBef>
                <a:spcPts val="400"/>
              </a:spcBef>
              <a:spcAft>
                <a:spcPts val="0"/>
              </a:spcAft>
              <a:buClr>
                <a:srgbClr val="000000"/>
              </a:buClr>
              <a:buSzPts val="1950"/>
              <a:buFont typeface="Arial"/>
              <a:buNone/>
            </a:pPr>
            <a:endParaRPr sz="1950" b="0" i="0" u="none" strike="noStrike" cap="none" dirty="0">
              <a:solidFill>
                <a:schemeClr val="tx1"/>
              </a:solidFill>
              <a:latin typeface="Calibri"/>
              <a:ea typeface="Calibri"/>
              <a:cs typeface="Calibri"/>
            </a:endParaRPr>
          </a:p>
          <a:p>
            <a:pPr marL="247650" marR="0" lvl="0" indent="-247650" algn="l" rtl="0">
              <a:lnSpc>
                <a:spcPct val="80000"/>
              </a:lnSpc>
              <a:spcBef>
                <a:spcPts val="400"/>
              </a:spcBef>
              <a:spcAft>
                <a:spcPts val="0"/>
              </a:spcAft>
              <a:buClr>
                <a:srgbClr val="000000"/>
              </a:buClr>
              <a:buSzPts val="1950"/>
              <a:buFont typeface="Arial"/>
              <a:buChar char="•"/>
            </a:pPr>
            <a:r>
              <a:rPr lang="en-US" sz="1950" b="1" i="0" u="none" strike="noStrike" cap="none" dirty="0">
                <a:solidFill>
                  <a:schemeClr val="tx1"/>
                </a:solidFill>
                <a:latin typeface="Calibri"/>
                <a:ea typeface="Calibri"/>
                <a:cs typeface="Calibri"/>
                <a:sym typeface="Calibri"/>
              </a:rPr>
              <a:t>Logistic Regression:</a:t>
            </a:r>
            <a:endParaRPr>
              <a:solidFill>
                <a:schemeClr val="tx1"/>
              </a:solidFill>
            </a:endParaRPr>
          </a:p>
          <a:p>
            <a:pPr marL="247650" marR="0" lvl="0" indent="-247650" algn="l" rtl="0">
              <a:lnSpc>
                <a:spcPct val="80000"/>
              </a:lnSpc>
              <a:spcBef>
                <a:spcPts val="400"/>
              </a:spcBef>
              <a:spcAft>
                <a:spcPts val="0"/>
              </a:spcAft>
              <a:buClr>
                <a:srgbClr val="000000"/>
              </a:buClr>
              <a:buSzPts val="1950"/>
              <a:buFont typeface="Calibri"/>
              <a:buChar char="➢"/>
            </a:pPr>
            <a:r>
              <a:rPr lang="en-US" sz="1950" b="0" i="0" u="none" strike="noStrike" cap="none" dirty="0">
                <a:solidFill>
                  <a:schemeClr val="tx1"/>
                </a:solidFill>
                <a:latin typeface="Calibri"/>
                <a:ea typeface="Calibri"/>
                <a:cs typeface="Calibri"/>
                <a:sym typeface="Calibri"/>
              </a:rPr>
              <a:t>Purpose: Predicts binary outcomes (e.g., outbreak vs. no outbreak).</a:t>
            </a:r>
            <a:endParaRPr>
              <a:solidFill>
                <a:schemeClr val="tx1"/>
              </a:solidFill>
            </a:endParaRPr>
          </a:p>
          <a:p>
            <a:pPr marL="247650" marR="0" lvl="0" indent="-247650" algn="l" rtl="0">
              <a:lnSpc>
                <a:spcPct val="80000"/>
              </a:lnSpc>
              <a:spcBef>
                <a:spcPts val="400"/>
              </a:spcBef>
              <a:spcAft>
                <a:spcPts val="0"/>
              </a:spcAft>
              <a:buClr>
                <a:srgbClr val="000000"/>
              </a:buClr>
              <a:buSzPts val="1950"/>
              <a:buFont typeface="Calibri"/>
              <a:buChar char="➢"/>
            </a:pPr>
            <a:r>
              <a:rPr lang="en-US" sz="1950" b="0" i="0" u="none" strike="noStrike" cap="none" dirty="0">
                <a:solidFill>
                  <a:schemeClr val="tx1"/>
                </a:solidFill>
                <a:latin typeface="Calibri"/>
                <a:ea typeface="Calibri"/>
                <a:cs typeface="Calibri"/>
                <a:sym typeface="Calibri"/>
              </a:rPr>
              <a:t>Justification: Ideal for 'Cases' variable transformed into binary (0 = No Outbreak, 1 = Outbreak).</a:t>
            </a:r>
            <a:endParaRPr lang="en-US" sz="1950" b="0" i="0" u="none" strike="noStrike" cap="none" dirty="0">
              <a:solidFill>
                <a:schemeClr val="tx1"/>
              </a:solidFill>
              <a:latin typeface="Calibri"/>
              <a:ea typeface="Calibri"/>
              <a:cs typeface="Calibri"/>
            </a:endParaRPr>
          </a:p>
          <a:p>
            <a:pPr marR="0" lvl="0" algn="l" rtl="0">
              <a:lnSpc>
                <a:spcPct val="80000"/>
              </a:lnSpc>
              <a:spcBef>
                <a:spcPts val="400"/>
              </a:spcBef>
              <a:spcAft>
                <a:spcPts val="0"/>
              </a:spcAft>
              <a:buClr>
                <a:srgbClr val="000000"/>
              </a:buClr>
              <a:buSzPts val="1950"/>
            </a:pPr>
            <a:r>
              <a:rPr lang="en-US" sz="1950" dirty="0">
                <a:latin typeface="Calibri"/>
                <a:ea typeface="Calibri"/>
                <a:cs typeface="Calibri"/>
                <a:sym typeface="Calibri"/>
              </a:rPr>
              <a:t> 					</a:t>
            </a:r>
            <a:endParaRPr dirty="0"/>
          </a:p>
        </p:txBody>
      </p:sp>
      <p:graphicFrame>
        <p:nvGraphicFramePr>
          <p:cNvPr id="2" name="Table 1">
            <a:extLst>
              <a:ext uri="{FF2B5EF4-FFF2-40B4-BE49-F238E27FC236}">
                <a16:creationId xmlns:a16="http://schemas.microsoft.com/office/drawing/2014/main" id="{A75B3099-FC28-C603-9FB0-B04C4AEBA561}"/>
              </a:ext>
            </a:extLst>
          </p:cNvPr>
          <p:cNvGraphicFramePr>
            <a:graphicFrameLocks noGrp="1"/>
          </p:cNvGraphicFramePr>
          <p:nvPr>
            <p:extLst>
              <p:ext uri="{D42A27DB-BD31-4B8C-83A1-F6EECF244321}">
                <p14:modId xmlns:p14="http://schemas.microsoft.com/office/powerpoint/2010/main" val="1096032690"/>
              </p:ext>
            </p:extLst>
          </p:nvPr>
        </p:nvGraphicFramePr>
        <p:xfrm>
          <a:off x="1322832" y="4670552"/>
          <a:ext cx="3249168" cy="2026920"/>
        </p:xfrm>
        <a:graphic>
          <a:graphicData uri="http://schemas.openxmlformats.org/drawingml/2006/table">
            <a:tbl>
              <a:tblPr firstRow="1" bandRow="1">
                <a:tableStyleId>{FAD2F71C-7846-4C3E-9502-F6074BB4B6FC}</a:tableStyleId>
              </a:tblPr>
              <a:tblGrid>
                <a:gridCol w="1624584">
                  <a:extLst>
                    <a:ext uri="{9D8B030D-6E8A-4147-A177-3AD203B41FA5}">
                      <a16:colId xmlns:a16="http://schemas.microsoft.com/office/drawing/2014/main" val="3313613741"/>
                    </a:ext>
                  </a:extLst>
                </a:gridCol>
                <a:gridCol w="1624584">
                  <a:extLst>
                    <a:ext uri="{9D8B030D-6E8A-4147-A177-3AD203B41FA5}">
                      <a16:colId xmlns:a16="http://schemas.microsoft.com/office/drawing/2014/main" val="4035985062"/>
                    </a:ext>
                  </a:extLst>
                </a:gridCol>
              </a:tblGrid>
              <a:tr h="370840">
                <a:tc>
                  <a:txBody>
                    <a:bodyPr/>
                    <a:lstStyle/>
                    <a:p>
                      <a:r>
                        <a:rPr lang="en-US" dirty="0"/>
                        <a:t>TOTAL OBSERVATIONS</a:t>
                      </a:r>
                      <a:endParaRPr lang="en-AU" dirty="0"/>
                    </a:p>
                  </a:txBody>
                  <a:tcPr/>
                </a:tc>
                <a:tc>
                  <a:txBody>
                    <a:bodyPr/>
                    <a:lstStyle/>
                    <a:p>
                      <a:r>
                        <a:rPr lang="en-US" dirty="0"/>
                        <a:t>150</a:t>
                      </a:r>
                      <a:endParaRPr lang="en-AU" dirty="0"/>
                    </a:p>
                  </a:txBody>
                  <a:tcPr/>
                </a:tc>
                <a:extLst>
                  <a:ext uri="{0D108BD9-81ED-4DB2-BD59-A6C34878D82A}">
                    <a16:rowId xmlns:a16="http://schemas.microsoft.com/office/drawing/2014/main" val="2133031155"/>
                  </a:ext>
                </a:extLst>
              </a:tr>
              <a:tr h="370840">
                <a:tc>
                  <a:txBody>
                    <a:bodyPr/>
                    <a:lstStyle/>
                    <a:p>
                      <a:r>
                        <a:rPr lang="en-US" dirty="0"/>
                        <a:t>CASES =1</a:t>
                      </a:r>
                      <a:endParaRPr lang="en-AU" dirty="0"/>
                    </a:p>
                  </a:txBody>
                  <a:tcPr/>
                </a:tc>
                <a:tc>
                  <a:txBody>
                    <a:bodyPr/>
                    <a:lstStyle/>
                    <a:p>
                      <a:r>
                        <a:rPr lang="en-US" dirty="0"/>
                        <a:t>122</a:t>
                      </a:r>
                      <a:endParaRPr lang="en-AU" dirty="0"/>
                    </a:p>
                  </a:txBody>
                  <a:tcPr/>
                </a:tc>
                <a:extLst>
                  <a:ext uri="{0D108BD9-81ED-4DB2-BD59-A6C34878D82A}">
                    <a16:rowId xmlns:a16="http://schemas.microsoft.com/office/drawing/2014/main" val="3440087994"/>
                  </a:ext>
                </a:extLst>
              </a:tr>
              <a:tr h="370840">
                <a:tc>
                  <a:txBody>
                    <a:bodyPr/>
                    <a:lstStyle/>
                    <a:p>
                      <a:r>
                        <a:rPr lang="en-US" dirty="0"/>
                        <a:t>CASES=2</a:t>
                      </a:r>
                      <a:endParaRPr lang="en-AU" dirty="0"/>
                    </a:p>
                  </a:txBody>
                  <a:tcPr/>
                </a:tc>
                <a:tc>
                  <a:txBody>
                    <a:bodyPr/>
                    <a:lstStyle/>
                    <a:p>
                      <a:r>
                        <a:rPr lang="en-US" dirty="0"/>
                        <a:t>22</a:t>
                      </a:r>
                      <a:endParaRPr lang="en-AU" dirty="0"/>
                    </a:p>
                  </a:txBody>
                  <a:tcPr/>
                </a:tc>
                <a:extLst>
                  <a:ext uri="{0D108BD9-81ED-4DB2-BD59-A6C34878D82A}">
                    <a16:rowId xmlns:a16="http://schemas.microsoft.com/office/drawing/2014/main" val="1675655849"/>
                  </a:ext>
                </a:extLst>
              </a:tr>
              <a:tr h="370840">
                <a:tc>
                  <a:txBody>
                    <a:bodyPr/>
                    <a:lstStyle/>
                    <a:p>
                      <a:r>
                        <a:rPr lang="en-US" dirty="0"/>
                        <a:t>CASES&gt;2</a:t>
                      </a:r>
                      <a:endParaRPr lang="en-AU" dirty="0"/>
                    </a:p>
                  </a:txBody>
                  <a:tcPr/>
                </a:tc>
                <a:tc>
                  <a:txBody>
                    <a:bodyPr/>
                    <a:lstStyle/>
                    <a:p>
                      <a:r>
                        <a:rPr lang="en-US" dirty="0"/>
                        <a:t>6</a:t>
                      </a:r>
                      <a:endParaRPr lang="en-AU" dirty="0"/>
                    </a:p>
                  </a:txBody>
                  <a:tcPr/>
                </a:tc>
                <a:extLst>
                  <a:ext uri="{0D108BD9-81ED-4DB2-BD59-A6C34878D82A}">
                    <a16:rowId xmlns:a16="http://schemas.microsoft.com/office/drawing/2014/main" val="2552016198"/>
                  </a:ext>
                </a:extLst>
              </a:tr>
            </a:tbl>
          </a:graphicData>
        </a:graphic>
      </p:graphicFrame>
      <p:sp>
        <p:nvSpPr>
          <p:cNvPr id="3" name="TextBox 2">
            <a:extLst>
              <a:ext uri="{FF2B5EF4-FFF2-40B4-BE49-F238E27FC236}">
                <a16:creationId xmlns:a16="http://schemas.microsoft.com/office/drawing/2014/main" id="{9D4E33FF-63D0-ED5A-4A5D-51243928E9DA}"/>
              </a:ext>
            </a:extLst>
          </p:cNvPr>
          <p:cNvSpPr txBox="1"/>
          <p:nvPr/>
        </p:nvSpPr>
        <p:spPr>
          <a:xfrm>
            <a:off x="5591556" y="5208000"/>
            <a:ext cx="2606040" cy="738664"/>
          </a:xfrm>
          <a:prstGeom prst="rect">
            <a:avLst/>
          </a:prstGeom>
          <a:noFill/>
        </p:spPr>
        <p:txBody>
          <a:bodyPr wrap="square" rtlCol="0">
            <a:spAutoFit/>
          </a:bodyPr>
          <a:lstStyle/>
          <a:p>
            <a:r>
              <a:rPr lang="en-US" dirty="0"/>
              <a:t>Most observations are 1 case, with rare occurrences of more than 1 case</a:t>
            </a:r>
            <a:endParaRPr lang="en-AU" dirty="0"/>
          </a:p>
        </p:txBody>
      </p:sp>
      <p:cxnSp>
        <p:nvCxnSpPr>
          <p:cNvPr id="6" name="Straight Arrow Connector 5">
            <a:extLst>
              <a:ext uri="{FF2B5EF4-FFF2-40B4-BE49-F238E27FC236}">
                <a16:creationId xmlns:a16="http://schemas.microsoft.com/office/drawing/2014/main" id="{3E909B2F-E6FE-DB7E-839F-599C4C712E1F}"/>
              </a:ext>
            </a:extLst>
          </p:cNvPr>
          <p:cNvCxnSpPr/>
          <p:nvPr/>
        </p:nvCxnSpPr>
        <p:spPr>
          <a:xfrm>
            <a:off x="4864608" y="5577332"/>
            <a:ext cx="585216" cy="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2"/>
          <p:cNvSpPr txBox="1">
            <a:spLocks noGrp="1"/>
          </p:cNvSpPr>
          <p:nvPr>
            <p:ph type="title"/>
          </p:nvPr>
        </p:nvSpPr>
        <p:spPr>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740"/>
              <a:buFont typeface="Play"/>
              <a:buNone/>
            </a:pPr>
            <a:r>
              <a:rPr lang="en-US" sz="3740" b="1"/>
              <a:t>Linear Regression Implementation</a:t>
            </a:r>
            <a:endParaRPr/>
          </a:p>
        </p:txBody>
      </p:sp>
      <p:sp>
        <p:nvSpPr>
          <p:cNvPr id="180" name="Google Shape;180;p32"/>
          <p:cNvSpPr txBox="1">
            <a:spLocks noGrp="1"/>
          </p:cNvSpPr>
          <p:nvPr>
            <p:ph type="body" idx="1"/>
          </p:nvPr>
        </p:nvSpPr>
        <p:spPr>
          <a:xfrm>
            <a:off x="860257" y="2125266"/>
            <a:ext cx="4168943" cy="3394473"/>
          </a:xfrm>
          <a:prstGeom prst="rect">
            <a:avLst/>
          </a:prstGeom>
          <a:noFill/>
          <a:ln>
            <a:noFill/>
          </a:ln>
        </p:spPr>
        <p:txBody>
          <a:bodyPr spcFirstLastPara="1" wrap="square" lIns="34275" tIns="34275" rIns="34275" bIns="34275" anchor="t" anchorCtr="0">
            <a:normAutofit/>
          </a:bodyPr>
          <a:lstStyle/>
          <a:p>
            <a:pPr marL="185165" lvl="0" indent="-185165" algn="l" rtl="0">
              <a:lnSpc>
                <a:spcPct val="90000"/>
              </a:lnSpc>
              <a:spcBef>
                <a:spcPts val="0"/>
              </a:spcBef>
              <a:spcAft>
                <a:spcPts val="0"/>
              </a:spcAft>
              <a:buClr>
                <a:srgbClr val="000000"/>
              </a:buClr>
              <a:buSzPts val="2268"/>
              <a:buChar char="•"/>
            </a:pPr>
            <a:r>
              <a:rPr lang="en-US" sz="2268"/>
              <a:t>Target Variable: Outbreak Logistics Regression</a:t>
            </a:r>
            <a:endParaRPr/>
          </a:p>
          <a:p>
            <a:pPr marL="185165" lvl="0" indent="-185165" algn="l" rtl="0">
              <a:lnSpc>
                <a:spcPct val="90000"/>
              </a:lnSpc>
              <a:spcBef>
                <a:spcPts val="800"/>
              </a:spcBef>
              <a:spcAft>
                <a:spcPts val="0"/>
              </a:spcAft>
              <a:buClr>
                <a:srgbClr val="000000"/>
              </a:buClr>
              <a:buSzPts val="2268"/>
              <a:buChar char="•"/>
            </a:pPr>
            <a:r>
              <a:rPr lang="en-US" sz="2268"/>
              <a:t>Features: Temperature, Poultry Density</a:t>
            </a:r>
            <a:endParaRPr/>
          </a:p>
          <a:p>
            <a:pPr marL="185165" lvl="0" indent="-41147" algn="l" rtl="0">
              <a:lnSpc>
                <a:spcPct val="90000"/>
              </a:lnSpc>
              <a:spcBef>
                <a:spcPts val="800"/>
              </a:spcBef>
              <a:spcAft>
                <a:spcPts val="0"/>
              </a:spcAft>
              <a:buClr>
                <a:srgbClr val="000000"/>
              </a:buClr>
              <a:buSzPts val="2268"/>
              <a:buNone/>
            </a:pPr>
            <a:endParaRPr sz="2268"/>
          </a:p>
          <a:p>
            <a:pPr marL="0" lvl="0" indent="0" algn="l" rtl="0">
              <a:lnSpc>
                <a:spcPct val="90000"/>
              </a:lnSpc>
              <a:spcBef>
                <a:spcPts val="800"/>
              </a:spcBef>
              <a:spcAft>
                <a:spcPts val="0"/>
              </a:spcAft>
              <a:buClr>
                <a:srgbClr val="000000"/>
              </a:buClr>
              <a:buSzPts val="2268"/>
              <a:buNone/>
            </a:pPr>
            <a:r>
              <a:rPr lang="en-US" sz="2268" b="1"/>
              <a:t>Steps:</a:t>
            </a:r>
            <a:endParaRPr/>
          </a:p>
          <a:p>
            <a:pPr marL="185165" lvl="0" indent="-185165" algn="l" rtl="0">
              <a:lnSpc>
                <a:spcPct val="90000"/>
              </a:lnSpc>
              <a:spcBef>
                <a:spcPts val="800"/>
              </a:spcBef>
              <a:spcAft>
                <a:spcPts val="0"/>
              </a:spcAft>
              <a:buClr>
                <a:srgbClr val="000000"/>
              </a:buClr>
              <a:buSzPts val="2268"/>
              <a:buChar char="•"/>
            </a:pPr>
            <a:r>
              <a:rPr lang="en-US" sz="2268"/>
              <a:t>Fit the linear regression model.</a:t>
            </a:r>
            <a:endParaRPr/>
          </a:p>
          <a:p>
            <a:pPr marL="185165" lvl="0" indent="-185165" algn="l" rtl="0">
              <a:lnSpc>
                <a:spcPct val="90000"/>
              </a:lnSpc>
              <a:spcBef>
                <a:spcPts val="800"/>
              </a:spcBef>
              <a:spcAft>
                <a:spcPts val="0"/>
              </a:spcAft>
              <a:buClr>
                <a:srgbClr val="000000"/>
              </a:buClr>
              <a:buSzPts val="2268"/>
              <a:buChar char="•"/>
            </a:pPr>
            <a:r>
              <a:rPr lang="en-US" sz="2268"/>
              <a:t>Interpret the results.</a:t>
            </a:r>
            <a:endParaRPr/>
          </a:p>
        </p:txBody>
      </p:sp>
      <p:sp>
        <p:nvSpPr>
          <p:cNvPr id="181" name="Google Shape;181;p32"/>
          <p:cNvSpPr txBox="1"/>
          <p:nvPr/>
        </p:nvSpPr>
        <p:spPr>
          <a:xfrm>
            <a:off x="5609122" y="3082751"/>
            <a:ext cx="2674621" cy="932181"/>
          </a:xfrm>
          <a:prstGeom prst="rect">
            <a:avLst/>
          </a:prstGeom>
          <a:solidFill>
            <a:srgbClr val="FFFFFF"/>
          </a:solidFill>
          <a:ln w="25400" cap="flat" cmpd="sng">
            <a:solidFill>
              <a:srgbClr val="E97132"/>
            </a:solidFill>
            <a:prstDash val="solid"/>
            <a:miter lim="8000"/>
            <a:headEnd type="none" w="sm" len="sm"/>
            <a:tailEnd type="none" w="sm" len="sm"/>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Mean Squared Error (Linear Regression): 0.049478748058440665</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7" name="Google Shape;187;p33"/>
          <p:cNvSpPr txBox="1">
            <a:spLocks noGrp="1"/>
          </p:cNvSpPr>
          <p:nvPr>
            <p:ph type="title"/>
          </p:nvPr>
        </p:nvSpPr>
        <p:spPr>
          <a:xfrm>
            <a:off x="628650" y="481869"/>
            <a:ext cx="7886700" cy="994174"/>
          </a:xfrm>
          <a:prstGeom prst="rect">
            <a:avLst/>
          </a:prstGeom>
          <a:noFill/>
          <a:ln>
            <a:noFill/>
          </a:ln>
        </p:spPr>
        <p:txBody>
          <a:bodyPr spcFirstLastPara="1" wrap="square" lIns="34275" tIns="34275" rIns="34275" bIns="34275" anchor="ctr" anchorCtr="0">
            <a:normAutofit fontScale="90000"/>
          </a:bodyPr>
          <a:lstStyle/>
          <a:p>
            <a:pPr marL="0" marR="0" lvl="0" indent="0" algn="l" rtl="0">
              <a:lnSpc>
                <a:spcPct val="90000"/>
              </a:lnSpc>
              <a:spcBef>
                <a:spcPts val="0"/>
              </a:spcBef>
              <a:spcAft>
                <a:spcPts val="0"/>
              </a:spcAft>
              <a:buClr>
                <a:srgbClr val="000000"/>
              </a:buClr>
              <a:buSzPts val="3740"/>
              <a:buFont typeface="Play"/>
              <a:buNone/>
            </a:pPr>
            <a:r>
              <a:rPr lang="en-US" sz="3740" b="1" dirty="0"/>
              <a:t>Logistic Regression Implementation</a:t>
            </a:r>
            <a:endParaRPr dirty="0"/>
          </a:p>
        </p:txBody>
      </p:sp>
      <p:sp>
        <p:nvSpPr>
          <p:cNvPr id="186" name="Google Shape;186;p33"/>
          <p:cNvSpPr txBox="1">
            <a:spLocks noGrp="1"/>
          </p:cNvSpPr>
          <p:nvPr>
            <p:ph type="body" idx="1"/>
          </p:nvPr>
        </p:nvSpPr>
        <p:spPr>
          <a:xfrm>
            <a:off x="628650" y="1568100"/>
            <a:ext cx="4665726" cy="4969860"/>
          </a:xfrm>
          <a:prstGeom prst="rect">
            <a:avLst/>
          </a:prstGeom>
          <a:noFill/>
          <a:ln>
            <a:noFill/>
          </a:ln>
        </p:spPr>
        <p:txBody>
          <a:bodyPr spcFirstLastPara="1" wrap="square" lIns="34275" tIns="34275" rIns="34275" bIns="34275" anchor="t" anchorCtr="0">
            <a:normAutofit/>
          </a:bodyPr>
          <a:lstStyle/>
          <a:p>
            <a:pPr marL="342900" indent="-342900">
              <a:spcBef>
                <a:spcPts val="0"/>
              </a:spcBef>
              <a:buSzPts val="2212"/>
            </a:pPr>
            <a:r>
              <a:rPr lang="en-US" sz="2212" dirty="0"/>
              <a:t>Target Variable: Binary Cases (0 = No Outbreak, 1 = Outbreak)</a:t>
            </a:r>
            <a:br>
              <a:rPr lang="en-US" sz="2212" dirty="0"/>
            </a:br>
            <a:r>
              <a:rPr lang="en-US" sz="2212" dirty="0"/>
              <a:t>	</a:t>
            </a:r>
          </a:p>
          <a:p>
            <a:pPr marL="0" lvl="0" indent="0" algn="l" rtl="0">
              <a:lnSpc>
                <a:spcPct val="90000"/>
              </a:lnSpc>
              <a:spcBef>
                <a:spcPts val="0"/>
              </a:spcBef>
              <a:spcAft>
                <a:spcPts val="0"/>
              </a:spcAft>
              <a:buClr>
                <a:srgbClr val="000000"/>
              </a:buClr>
              <a:buSzPts val="2212"/>
              <a:buNone/>
            </a:pPr>
            <a:endParaRPr dirty="0"/>
          </a:p>
          <a:p>
            <a:pPr marL="0" lvl="0" indent="0" algn="l" rtl="0">
              <a:lnSpc>
                <a:spcPct val="90000"/>
              </a:lnSpc>
              <a:spcBef>
                <a:spcPts val="700"/>
              </a:spcBef>
              <a:spcAft>
                <a:spcPts val="0"/>
              </a:spcAft>
              <a:buClr>
                <a:srgbClr val="000000"/>
              </a:buClr>
              <a:buSzPts val="2212"/>
              <a:buNone/>
            </a:pPr>
            <a:endParaRPr sz="2212" dirty="0"/>
          </a:p>
          <a:p>
            <a:pPr marL="342900" indent="-342900">
              <a:spcBef>
                <a:spcPts val="700"/>
              </a:spcBef>
              <a:buSzPts val="2212"/>
            </a:pPr>
            <a:endParaRPr lang="en-US" sz="2212" dirty="0"/>
          </a:p>
          <a:p>
            <a:pPr marL="342900" indent="-342900">
              <a:spcBef>
                <a:spcPts val="700"/>
              </a:spcBef>
              <a:buSzPts val="2212"/>
            </a:pPr>
            <a:r>
              <a:rPr lang="en-US" sz="2212" dirty="0"/>
              <a:t>Features: Temperature, Poultry Density, Clinical Sign</a:t>
            </a:r>
            <a:endParaRPr lang="en-US" sz="2400" dirty="0"/>
          </a:p>
          <a:p>
            <a:pPr marL="0" lvl="0" indent="0" algn="l" rtl="0">
              <a:lnSpc>
                <a:spcPct val="90000"/>
              </a:lnSpc>
              <a:spcBef>
                <a:spcPts val="700"/>
              </a:spcBef>
              <a:spcAft>
                <a:spcPts val="0"/>
              </a:spcAft>
              <a:buClr>
                <a:srgbClr val="000000"/>
              </a:buClr>
              <a:buSzPts val="2212"/>
              <a:buNone/>
            </a:pPr>
            <a:endParaRPr lang="en-US" sz="2212" b="1" dirty="0"/>
          </a:p>
          <a:p>
            <a:pPr marL="0" lvl="0" indent="0" algn="l" rtl="0">
              <a:lnSpc>
                <a:spcPct val="90000"/>
              </a:lnSpc>
              <a:spcBef>
                <a:spcPts val="700"/>
              </a:spcBef>
              <a:spcAft>
                <a:spcPts val="0"/>
              </a:spcAft>
              <a:buClr>
                <a:srgbClr val="000000"/>
              </a:buClr>
              <a:buSzPts val="2212"/>
              <a:buNone/>
            </a:pPr>
            <a:endParaRPr lang="en-US" sz="2212" b="1" dirty="0"/>
          </a:p>
          <a:p>
            <a:pPr marL="0" lvl="0" indent="0" algn="l" rtl="0">
              <a:lnSpc>
                <a:spcPct val="90000"/>
              </a:lnSpc>
              <a:spcBef>
                <a:spcPts val="700"/>
              </a:spcBef>
              <a:spcAft>
                <a:spcPts val="0"/>
              </a:spcAft>
              <a:buClr>
                <a:srgbClr val="000000"/>
              </a:buClr>
              <a:buSzPts val="2212"/>
              <a:buNone/>
            </a:pPr>
            <a:r>
              <a:rPr lang="en-US" sz="2212" b="1" dirty="0"/>
              <a:t>Steps:</a:t>
            </a:r>
            <a:endParaRPr dirty="0"/>
          </a:p>
          <a:p>
            <a:pPr marL="180594" lvl="0" indent="-180594" algn="l" rtl="0">
              <a:lnSpc>
                <a:spcPct val="90000"/>
              </a:lnSpc>
              <a:spcBef>
                <a:spcPts val="700"/>
              </a:spcBef>
              <a:spcAft>
                <a:spcPts val="0"/>
              </a:spcAft>
              <a:buClr>
                <a:srgbClr val="000000"/>
              </a:buClr>
              <a:buSzPts val="2212"/>
              <a:buChar char="•"/>
            </a:pPr>
            <a:r>
              <a:rPr lang="en-US" sz="2212" dirty="0"/>
              <a:t>Convert 'Cases' to binary.</a:t>
            </a:r>
            <a:endParaRPr dirty="0"/>
          </a:p>
          <a:p>
            <a:pPr marL="180594" lvl="0" indent="-180594" algn="l" rtl="0">
              <a:lnSpc>
                <a:spcPct val="90000"/>
              </a:lnSpc>
              <a:spcBef>
                <a:spcPts val="700"/>
              </a:spcBef>
              <a:spcAft>
                <a:spcPts val="0"/>
              </a:spcAft>
              <a:buClr>
                <a:srgbClr val="000000"/>
              </a:buClr>
              <a:buSzPts val="2212"/>
              <a:buChar char="•"/>
            </a:pPr>
            <a:r>
              <a:rPr lang="en-US" sz="2212" dirty="0"/>
              <a:t>Fit the logistic regression model.</a:t>
            </a:r>
            <a:endParaRPr dirty="0"/>
          </a:p>
        </p:txBody>
      </p:sp>
      <p:sp>
        <p:nvSpPr>
          <p:cNvPr id="188" name="Google Shape;188;p33"/>
          <p:cNvSpPr txBox="1"/>
          <p:nvPr/>
        </p:nvSpPr>
        <p:spPr>
          <a:xfrm>
            <a:off x="5519366" y="3186625"/>
            <a:ext cx="2774242" cy="900216"/>
          </a:xfrm>
          <a:prstGeom prst="rect">
            <a:avLst/>
          </a:prstGeom>
          <a:solidFill>
            <a:srgbClr val="FFFFFF"/>
          </a:solidFill>
          <a:ln w="38100" cap="flat" cmpd="sng">
            <a:solidFill>
              <a:srgbClr val="E97132"/>
            </a:solidFill>
            <a:prstDash val="solid"/>
            <a:miter lim="8000"/>
            <a:headEnd type="none" w="sm" len="sm"/>
            <a:tailEnd type="none" w="sm" len="sm"/>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Accuracy of Logistic Regression: </a:t>
            </a:r>
            <a:r>
              <a:rPr lang="en-US" sz="1800" b="0" i="0" u="none" strike="noStrike" cap="none" dirty="0">
                <a:solidFill>
                  <a:srgbClr val="000000"/>
                </a:solidFill>
                <a:latin typeface="Arial"/>
                <a:ea typeface="Arial"/>
                <a:cs typeface="Arial"/>
                <a:sym typeface="Arial"/>
              </a:rPr>
              <a:t>0.6551724137931034</a:t>
            </a:r>
            <a:endParaRPr dirty="0"/>
          </a:p>
        </p:txBody>
      </p:sp>
      <p:graphicFrame>
        <p:nvGraphicFramePr>
          <p:cNvPr id="3" name="Table 2">
            <a:extLst>
              <a:ext uri="{FF2B5EF4-FFF2-40B4-BE49-F238E27FC236}">
                <a16:creationId xmlns:a16="http://schemas.microsoft.com/office/drawing/2014/main" id="{A16862E0-D845-692E-0CE9-23CB91556E44}"/>
              </a:ext>
            </a:extLst>
          </p:cNvPr>
          <p:cNvGraphicFramePr>
            <a:graphicFrameLocks noGrp="1"/>
          </p:cNvGraphicFramePr>
          <p:nvPr>
            <p:extLst>
              <p:ext uri="{D42A27DB-BD31-4B8C-83A1-F6EECF244321}">
                <p14:modId xmlns:p14="http://schemas.microsoft.com/office/powerpoint/2010/main" val="731075182"/>
              </p:ext>
            </p:extLst>
          </p:nvPr>
        </p:nvGraphicFramePr>
        <p:xfrm>
          <a:off x="963830" y="2390081"/>
          <a:ext cx="3995366" cy="1112520"/>
        </p:xfrm>
        <a:graphic>
          <a:graphicData uri="http://schemas.openxmlformats.org/drawingml/2006/table">
            <a:tbl>
              <a:tblPr firstRow="1" bandRow="1">
                <a:tableStyleId>{FAD2F71C-7846-4C3E-9502-F6074BB4B6FC}</a:tableStyleId>
              </a:tblPr>
              <a:tblGrid>
                <a:gridCol w="1997683">
                  <a:extLst>
                    <a:ext uri="{9D8B030D-6E8A-4147-A177-3AD203B41FA5}">
                      <a16:colId xmlns:a16="http://schemas.microsoft.com/office/drawing/2014/main" val="2432362711"/>
                    </a:ext>
                  </a:extLst>
                </a:gridCol>
                <a:gridCol w="1997683">
                  <a:extLst>
                    <a:ext uri="{9D8B030D-6E8A-4147-A177-3AD203B41FA5}">
                      <a16:colId xmlns:a16="http://schemas.microsoft.com/office/drawing/2014/main" val="3695257009"/>
                    </a:ext>
                  </a:extLst>
                </a:gridCol>
              </a:tblGrid>
              <a:tr h="370840">
                <a:tc>
                  <a:txBody>
                    <a:bodyPr/>
                    <a:lstStyle/>
                    <a:p>
                      <a:pPr algn="ctr"/>
                      <a:r>
                        <a:rPr lang="en-US" dirty="0"/>
                        <a:t>Remarks</a:t>
                      </a:r>
                      <a:endParaRPr lang="en-AU" dirty="0"/>
                    </a:p>
                  </a:txBody>
                  <a:tcPr/>
                </a:tc>
                <a:tc>
                  <a:txBody>
                    <a:bodyPr/>
                    <a:lstStyle/>
                    <a:p>
                      <a:pPr algn="ctr"/>
                      <a:r>
                        <a:rPr lang="en-US" dirty="0"/>
                        <a:t>Outcome</a:t>
                      </a:r>
                      <a:endParaRPr lang="en-AU" dirty="0"/>
                    </a:p>
                  </a:txBody>
                  <a:tcPr/>
                </a:tc>
                <a:extLst>
                  <a:ext uri="{0D108BD9-81ED-4DB2-BD59-A6C34878D82A}">
                    <a16:rowId xmlns:a16="http://schemas.microsoft.com/office/drawing/2014/main" val="3488140711"/>
                  </a:ext>
                </a:extLst>
              </a:tr>
              <a:tr h="370840">
                <a:tc>
                  <a:txBody>
                    <a:bodyPr/>
                    <a:lstStyle/>
                    <a:p>
                      <a:pPr algn="ctr"/>
                      <a:r>
                        <a:rPr lang="en-AU" dirty="0"/>
                        <a:t>if Cases &gt; 1</a:t>
                      </a:r>
                    </a:p>
                  </a:txBody>
                  <a:tcPr/>
                </a:tc>
                <a:tc>
                  <a:txBody>
                    <a:bodyPr/>
                    <a:lstStyle/>
                    <a:p>
                      <a:pPr algn="ctr"/>
                      <a:r>
                        <a:rPr lang="en-US" dirty="0"/>
                        <a:t>Outbreak</a:t>
                      </a:r>
                      <a:endParaRPr lang="en-AU" dirty="0"/>
                    </a:p>
                  </a:txBody>
                  <a:tcPr/>
                </a:tc>
                <a:extLst>
                  <a:ext uri="{0D108BD9-81ED-4DB2-BD59-A6C34878D82A}">
                    <a16:rowId xmlns:a16="http://schemas.microsoft.com/office/drawing/2014/main" val="4208311783"/>
                  </a:ext>
                </a:extLst>
              </a:tr>
              <a:tr h="370840">
                <a:tc>
                  <a:txBody>
                    <a:bodyPr/>
                    <a:lstStyle/>
                    <a:p>
                      <a:pPr algn="ctr"/>
                      <a:r>
                        <a:rPr lang="en-US" dirty="0"/>
                        <a:t>else 0 </a:t>
                      </a:r>
                      <a:endParaRPr lang="en-AU" dirty="0"/>
                    </a:p>
                  </a:txBody>
                  <a:tcPr/>
                </a:tc>
                <a:tc>
                  <a:txBody>
                    <a:bodyPr/>
                    <a:lstStyle/>
                    <a:p>
                      <a:pPr algn="ctr"/>
                      <a:r>
                        <a:rPr lang="en-US" dirty="0"/>
                        <a:t>No Outbreak</a:t>
                      </a:r>
                      <a:endParaRPr lang="en-AU" dirty="0"/>
                    </a:p>
                  </a:txBody>
                  <a:tcPr/>
                </a:tc>
                <a:extLst>
                  <a:ext uri="{0D108BD9-81ED-4DB2-BD59-A6C34878D82A}">
                    <a16:rowId xmlns:a16="http://schemas.microsoft.com/office/drawing/2014/main" val="189805394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4"/>
          <p:cNvSpPr txBox="1">
            <a:spLocks noGrp="1"/>
          </p:cNvSpPr>
          <p:nvPr>
            <p:ph type="title"/>
          </p:nvPr>
        </p:nvSpPr>
        <p:spPr>
          <a:prstGeom prst="rect">
            <a:avLst/>
          </a:prstGeom>
          <a:noFill/>
          <a:ln>
            <a:noFill/>
          </a:ln>
        </p:spPr>
        <p:txBody>
          <a:bodyPr spcFirstLastPara="1" wrap="square" lIns="34275" tIns="34275" rIns="34275" bIns="34275" anchor="ctr" anchorCtr="0">
            <a:normAutofit/>
          </a:bodyPr>
          <a:lstStyle/>
          <a:p>
            <a:pPr marL="0" marR="0" lvl="0" indent="0" algn="ctr" rtl="0">
              <a:lnSpc>
                <a:spcPct val="90000"/>
              </a:lnSpc>
              <a:spcBef>
                <a:spcPts val="0"/>
              </a:spcBef>
              <a:spcAft>
                <a:spcPts val="0"/>
              </a:spcAft>
              <a:buClr>
                <a:srgbClr val="000000"/>
              </a:buClr>
              <a:buSzPts val="4400"/>
              <a:buFont typeface="Play"/>
              <a:buNone/>
            </a:pPr>
            <a:r>
              <a:rPr lang="en-US" b="1"/>
              <a:t>Model Evaluation</a:t>
            </a:r>
            <a:endParaRPr/>
          </a:p>
        </p:txBody>
      </p:sp>
      <p:sp>
        <p:nvSpPr>
          <p:cNvPr id="194" name="Google Shape;194;p34"/>
          <p:cNvSpPr txBox="1">
            <a:spLocks noGrp="1"/>
          </p:cNvSpPr>
          <p:nvPr>
            <p:ph type="body" idx="1"/>
          </p:nvPr>
        </p:nvSpPr>
        <p:spPr>
          <a:prstGeom prst="rect">
            <a:avLst/>
          </a:prstGeom>
          <a:noFill/>
          <a:ln>
            <a:noFill/>
          </a:ln>
        </p:spPr>
        <p:txBody>
          <a:bodyPr spcFirstLastPara="1" wrap="square" lIns="34275" tIns="34275" rIns="34275" bIns="34275" anchor="t" anchorCtr="0">
            <a:normAutofit/>
          </a:bodyPr>
          <a:lstStyle/>
          <a:p>
            <a:pPr marL="205739" lvl="0" indent="-205739" algn="l" rtl="0">
              <a:lnSpc>
                <a:spcPct val="90000"/>
              </a:lnSpc>
              <a:spcBef>
                <a:spcPts val="0"/>
              </a:spcBef>
              <a:spcAft>
                <a:spcPts val="0"/>
              </a:spcAft>
              <a:buClr>
                <a:srgbClr val="000000"/>
              </a:buClr>
              <a:buSzPts val="2520"/>
              <a:buChar char="•"/>
            </a:pPr>
            <a:r>
              <a:rPr lang="en-US" sz="2520" b="1"/>
              <a:t>Linear Regression:</a:t>
            </a:r>
            <a:endParaRPr/>
          </a:p>
          <a:p>
            <a:pPr marL="205739" lvl="0" indent="-205739" algn="l" rtl="0">
              <a:lnSpc>
                <a:spcPct val="90000"/>
              </a:lnSpc>
              <a:spcBef>
                <a:spcPts val="900"/>
              </a:spcBef>
              <a:spcAft>
                <a:spcPts val="0"/>
              </a:spcAft>
              <a:buClr>
                <a:srgbClr val="000000"/>
              </a:buClr>
              <a:buSzPts val="2520"/>
              <a:buChar char="•"/>
            </a:pPr>
            <a:r>
              <a:rPr lang="en-US" sz="2520"/>
              <a:t>Mean Squared Error (MSE): 0.0471</a:t>
            </a:r>
            <a:endParaRPr/>
          </a:p>
          <a:p>
            <a:pPr marL="205739" lvl="0" indent="-205739" algn="l" rtl="0">
              <a:lnSpc>
                <a:spcPct val="90000"/>
              </a:lnSpc>
              <a:spcBef>
                <a:spcPts val="900"/>
              </a:spcBef>
              <a:spcAft>
                <a:spcPts val="0"/>
              </a:spcAft>
              <a:buClr>
                <a:srgbClr val="000000"/>
              </a:buClr>
              <a:buSzPts val="2520"/>
              <a:buChar char="•"/>
            </a:pPr>
            <a:r>
              <a:rPr lang="en-US" sz="2520"/>
              <a:t>Indicates low prediction error.</a:t>
            </a:r>
            <a:endParaRPr/>
          </a:p>
          <a:p>
            <a:pPr marL="205739" lvl="0" indent="-45718" algn="l" rtl="0">
              <a:lnSpc>
                <a:spcPct val="90000"/>
              </a:lnSpc>
              <a:spcBef>
                <a:spcPts val="900"/>
              </a:spcBef>
              <a:spcAft>
                <a:spcPts val="0"/>
              </a:spcAft>
              <a:buClr>
                <a:srgbClr val="000000"/>
              </a:buClr>
              <a:buSzPts val="2520"/>
              <a:buNone/>
            </a:pPr>
            <a:endParaRPr sz="2520"/>
          </a:p>
          <a:p>
            <a:pPr marL="205739" lvl="0" indent="-205739" algn="l" rtl="0">
              <a:lnSpc>
                <a:spcPct val="90000"/>
              </a:lnSpc>
              <a:spcBef>
                <a:spcPts val="900"/>
              </a:spcBef>
              <a:spcAft>
                <a:spcPts val="0"/>
              </a:spcAft>
              <a:buClr>
                <a:srgbClr val="000000"/>
              </a:buClr>
              <a:buSzPts val="2520"/>
              <a:buChar char="•"/>
            </a:pPr>
            <a:r>
              <a:rPr lang="en-US" sz="2520" b="1"/>
              <a:t>Logistic Regression:</a:t>
            </a:r>
            <a:endParaRPr/>
          </a:p>
          <a:p>
            <a:pPr marL="205739" lvl="0" indent="-205739" algn="l" rtl="0">
              <a:lnSpc>
                <a:spcPct val="90000"/>
              </a:lnSpc>
              <a:spcBef>
                <a:spcPts val="900"/>
              </a:spcBef>
              <a:spcAft>
                <a:spcPts val="0"/>
              </a:spcAft>
              <a:buClr>
                <a:srgbClr val="000000"/>
              </a:buClr>
              <a:buSzPts val="2520"/>
              <a:buChar char="•"/>
            </a:pPr>
            <a:r>
              <a:rPr lang="en-US" sz="2520"/>
              <a:t>Accuracy: 76.71%</a:t>
            </a:r>
            <a:endParaRPr/>
          </a:p>
          <a:p>
            <a:pPr marL="205739" lvl="0" indent="-205739" algn="l" rtl="0">
              <a:lnSpc>
                <a:spcPct val="90000"/>
              </a:lnSpc>
              <a:spcBef>
                <a:spcPts val="900"/>
              </a:spcBef>
              <a:spcAft>
                <a:spcPts val="0"/>
              </a:spcAft>
              <a:buClr>
                <a:srgbClr val="000000"/>
              </a:buClr>
              <a:buSzPts val="2520"/>
              <a:buChar char="•"/>
            </a:pPr>
            <a:r>
              <a:rPr lang="en-US" sz="2520"/>
              <a:t>Effectively classifies outbreak occurrences.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5"/>
          <p:cNvSpPr txBox="1">
            <a:spLocks noGrp="1"/>
          </p:cNvSpPr>
          <p:nvPr>
            <p:ph type="title"/>
          </p:nvPr>
        </p:nvSpPr>
        <p:spPr>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256"/>
              <a:buFont typeface="Play"/>
              <a:buNone/>
            </a:pPr>
            <a:r>
              <a:rPr lang="en-US" sz="3250">
                <a:latin typeface="Times New Roman"/>
              </a:rPr>
              <a:t>Why Logistic Regression for Avian Disease Data?</a:t>
            </a:r>
            <a:endParaRPr sz="3250">
              <a:latin typeface="Times New Roman"/>
            </a:endParaRPr>
          </a:p>
        </p:txBody>
      </p:sp>
      <p:sp>
        <p:nvSpPr>
          <p:cNvPr id="200" name="Google Shape;200;p35"/>
          <p:cNvSpPr txBox="1">
            <a:spLocks noGrp="1"/>
          </p:cNvSpPr>
          <p:nvPr>
            <p:ph type="body" idx="1"/>
          </p:nvPr>
        </p:nvSpPr>
        <p:spPr>
          <a:prstGeom prst="rect">
            <a:avLst/>
          </a:prstGeom>
          <a:noFill/>
          <a:ln>
            <a:noFill/>
          </a:ln>
        </p:spPr>
        <p:txBody>
          <a:bodyPr spcFirstLastPara="1" wrap="square" lIns="34275" tIns="34275" rIns="34275" bIns="34275" anchor="t" anchorCtr="0">
            <a:normAutofit lnSpcReduction="10000"/>
          </a:bodyPr>
          <a:lstStyle/>
          <a:p>
            <a:pPr marL="180594" lvl="0" indent="-180594" algn="l" rtl="0">
              <a:lnSpc>
                <a:spcPct val="150000"/>
              </a:lnSpc>
              <a:spcBef>
                <a:spcPts val="0"/>
              </a:spcBef>
              <a:spcAft>
                <a:spcPts val="0"/>
              </a:spcAft>
              <a:buClr>
                <a:srgbClr val="000000"/>
              </a:buClr>
              <a:buSzPts val="2212"/>
              <a:buChar char="•"/>
            </a:pPr>
            <a:r>
              <a:rPr lang="en-US" sz="2212"/>
              <a:t>To predict the probability of an avian disease outbreak (Yes/No) by the help of binary outcomes.</a:t>
            </a:r>
            <a:endParaRPr/>
          </a:p>
          <a:p>
            <a:pPr marL="180594" lvl="0" indent="-180594" algn="l" rtl="0">
              <a:lnSpc>
                <a:spcPct val="150000"/>
              </a:lnSpc>
              <a:spcBef>
                <a:spcPts val="700"/>
              </a:spcBef>
              <a:spcAft>
                <a:spcPts val="0"/>
              </a:spcAft>
              <a:buClr>
                <a:srgbClr val="000000"/>
              </a:buClr>
              <a:buSzPts val="2212"/>
              <a:buChar char="•"/>
            </a:pPr>
            <a:r>
              <a:rPr lang="en-US" sz="2212"/>
              <a:t>To identify factors (e.g., temperature, poultry density, region) that increase or decrease the risk of an outbreak.</a:t>
            </a:r>
            <a:endParaRPr/>
          </a:p>
          <a:p>
            <a:pPr marL="180594" lvl="0" indent="-180594" algn="l" rtl="0">
              <a:lnSpc>
                <a:spcPct val="150000"/>
              </a:lnSpc>
              <a:spcBef>
                <a:spcPts val="700"/>
              </a:spcBef>
              <a:spcAft>
                <a:spcPts val="0"/>
              </a:spcAft>
              <a:buClr>
                <a:srgbClr val="000000"/>
              </a:buClr>
              <a:buSzPts val="2212"/>
              <a:buChar char="•"/>
            </a:pPr>
            <a:r>
              <a:rPr lang="en-US" sz="2212"/>
              <a:t>Provides coefficients that indicate the direction and strength of the relationship between each factor and the outbreak risk.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6"/>
          <p:cNvSpPr txBox="1">
            <a:spLocks noGrp="1"/>
          </p:cNvSpPr>
          <p:nvPr>
            <p:ph type="title"/>
          </p:nvPr>
        </p:nvSpPr>
        <p:spPr>
          <a:prstGeom prst="rect">
            <a:avLst/>
          </a:prstGeom>
          <a:noFill/>
          <a:ln>
            <a:noFill/>
          </a:ln>
        </p:spPr>
        <p:txBody>
          <a:bodyPr spcFirstLastPara="1" wrap="square" lIns="34275" tIns="34275" rIns="34275" bIns="34275"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latin typeface="Play"/>
                <a:ea typeface="Play"/>
                <a:cs typeface="Play"/>
                <a:sym typeface="Play"/>
              </a:rPr>
              <a:t>Why Not Linear Regression?</a:t>
            </a:r>
            <a:endParaRPr/>
          </a:p>
        </p:txBody>
      </p:sp>
      <p:sp>
        <p:nvSpPr>
          <p:cNvPr id="206" name="Google Shape;206;p36"/>
          <p:cNvSpPr txBox="1">
            <a:spLocks noGrp="1"/>
          </p:cNvSpPr>
          <p:nvPr>
            <p:ph type="body" idx="1"/>
          </p:nvPr>
        </p:nvSpPr>
        <p:spPr>
          <a:prstGeom prst="rect">
            <a:avLst/>
          </a:prstGeom>
          <a:noFill/>
          <a:ln>
            <a:noFill/>
          </a:ln>
        </p:spPr>
        <p:txBody>
          <a:bodyPr spcFirstLastPara="1" wrap="square" lIns="34275" tIns="34275" rIns="34275" bIns="34275" anchor="t" anchorCtr="0">
            <a:normAutofit/>
          </a:bodyPr>
          <a:lstStyle/>
          <a:p>
            <a:pPr marL="228600" marR="0" lvl="0" indent="-228600" algn="l" rtl="0">
              <a:lnSpc>
                <a:spcPct val="150000"/>
              </a:lnSpc>
              <a:spcBef>
                <a:spcPts val="0"/>
              </a:spcBef>
              <a:spcAft>
                <a:spcPts val="0"/>
              </a:spcAft>
              <a:buClr>
                <a:srgbClr val="000000"/>
              </a:buClr>
              <a:buSzPts val="2800"/>
              <a:buFont typeface="Arial"/>
              <a:buChar char="•"/>
            </a:pPr>
            <a:r>
              <a:rPr lang="en-US" sz="2800">
                <a:latin typeface="Arial"/>
                <a:ea typeface="Arial"/>
                <a:cs typeface="Arial"/>
                <a:sym typeface="Arial"/>
              </a:rPr>
              <a:t>Linear regression treats all values of the outcome variable equally, but in our case, predicting 'Found Dead' (a rare but important event) might require a different approach.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7"/>
          <p:cNvSpPr txBox="1">
            <a:spLocks noGrp="1"/>
          </p:cNvSpPr>
          <p:nvPr>
            <p:ph type="title"/>
          </p:nvPr>
        </p:nvSpPr>
        <p:spPr>
          <a:prstGeom prst="rect">
            <a:avLst/>
          </a:prstGeom>
          <a:noFill/>
          <a:ln>
            <a:noFill/>
          </a:ln>
        </p:spPr>
        <p:txBody>
          <a:bodyPr spcFirstLastPara="1" wrap="square" lIns="34275" tIns="34275" rIns="34275" bIns="34275"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latin typeface="Play"/>
                <a:ea typeface="Play"/>
                <a:cs typeface="Play"/>
                <a:sym typeface="Play"/>
              </a:rPr>
              <a:t>Statistical Test Results</a:t>
            </a:r>
            <a:endParaRPr/>
          </a:p>
        </p:txBody>
      </p:sp>
      <p:sp>
        <p:nvSpPr>
          <p:cNvPr id="213" name="Google Shape;213;p37"/>
          <p:cNvSpPr txBox="1">
            <a:spLocks noGrp="1"/>
          </p:cNvSpPr>
          <p:nvPr>
            <p:ph type="body" idx="1"/>
          </p:nvPr>
        </p:nvSpPr>
        <p:spPr>
          <a:prstGeom prst="rect">
            <a:avLst/>
          </a:prstGeom>
          <a:noFill/>
          <a:ln>
            <a:noFill/>
          </a:ln>
        </p:spPr>
        <p:txBody>
          <a:bodyPr spcFirstLastPara="1" wrap="square" lIns="34275" tIns="34275" rIns="34275" bIns="34275" anchor="t" anchorCtr="0">
            <a:normAutofit lnSpcReduction="10000"/>
          </a:bodyPr>
          <a:lstStyle/>
          <a:p>
            <a:pPr marL="0" lvl="0" indent="0" algn="l" rtl="0">
              <a:lnSpc>
                <a:spcPct val="90000"/>
              </a:lnSpc>
              <a:spcBef>
                <a:spcPts val="0"/>
              </a:spcBef>
              <a:spcAft>
                <a:spcPts val="0"/>
              </a:spcAft>
              <a:buClr>
                <a:srgbClr val="000000"/>
              </a:buClr>
              <a:buSzPts val="2256"/>
              <a:buNone/>
            </a:pPr>
            <a:r>
              <a:rPr lang="en-US" sz="2256" dirty="0">
                <a:latin typeface="Times New Roman"/>
                <a:ea typeface="Times New Roman"/>
                <a:cs typeface="Times New Roman"/>
                <a:sym typeface="Times New Roman"/>
              </a:rPr>
              <a:t>Following results from the analysis are obtained ;</a:t>
            </a:r>
            <a:endParaRPr dirty="0"/>
          </a:p>
          <a:p>
            <a:pPr marL="0" lvl="0" indent="0" algn="l" rtl="0">
              <a:lnSpc>
                <a:spcPct val="90000"/>
              </a:lnSpc>
              <a:spcBef>
                <a:spcPts val="900"/>
              </a:spcBef>
              <a:spcAft>
                <a:spcPts val="0"/>
              </a:spcAft>
              <a:buClr>
                <a:srgbClr val="000000"/>
              </a:buClr>
              <a:buSzPts val="2256"/>
              <a:buNone/>
            </a:pPr>
            <a:endParaRPr sz="2256" dirty="0">
              <a:latin typeface="Times New Roman"/>
              <a:ea typeface="Times New Roman"/>
              <a:cs typeface="Times New Roman"/>
              <a:sym typeface="Times New Roman"/>
            </a:endParaRPr>
          </a:p>
          <a:p>
            <a:pPr marL="0" lvl="0" indent="0" algn="l" rtl="0">
              <a:lnSpc>
                <a:spcPct val="90000"/>
              </a:lnSpc>
              <a:spcBef>
                <a:spcPts val="900"/>
              </a:spcBef>
              <a:spcAft>
                <a:spcPts val="0"/>
              </a:spcAft>
              <a:buClr>
                <a:srgbClr val="000000"/>
              </a:buClr>
              <a:buSzPts val="2256"/>
              <a:buNone/>
            </a:pPr>
            <a:r>
              <a:rPr lang="en-US" sz="2256" b="1" dirty="0">
                <a:latin typeface="Times New Roman"/>
                <a:ea typeface="Times New Roman"/>
                <a:cs typeface="Times New Roman"/>
                <a:sym typeface="Times New Roman"/>
              </a:rPr>
              <a:t>t-statistic: -5.025</a:t>
            </a:r>
            <a:br>
              <a:rPr lang="en-US" sz="2256" b="1" dirty="0">
                <a:latin typeface="Times New Roman"/>
                <a:ea typeface="Times New Roman"/>
                <a:cs typeface="Times New Roman"/>
                <a:sym typeface="Times New Roman"/>
              </a:rPr>
            </a:br>
            <a:r>
              <a:rPr lang="en-US" sz="2256" b="1" dirty="0">
                <a:latin typeface="Times New Roman"/>
                <a:ea typeface="Times New Roman"/>
                <a:cs typeface="Times New Roman"/>
                <a:sym typeface="Times New Roman"/>
              </a:rPr>
              <a:t>p-value: 3.54 × 10⁻⁶</a:t>
            </a:r>
          </a:p>
          <a:p>
            <a:pPr marL="0" lvl="0" indent="0" algn="l" rtl="0">
              <a:lnSpc>
                <a:spcPct val="90000"/>
              </a:lnSpc>
              <a:spcBef>
                <a:spcPts val="900"/>
              </a:spcBef>
              <a:spcAft>
                <a:spcPts val="0"/>
              </a:spcAft>
              <a:buClr>
                <a:srgbClr val="000000"/>
              </a:buClr>
              <a:buSzPts val="2256"/>
              <a:buNone/>
            </a:pPr>
            <a:endParaRPr lang="en-US" sz="2256" b="1" dirty="0">
              <a:latin typeface="Times New Roman"/>
              <a:ea typeface="Times New Roman"/>
              <a:cs typeface="Times New Roman"/>
              <a:sym typeface="Times New Roman"/>
            </a:endParaRPr>
          </a:p>
          <a:p>
            <a:pPr marL="0" lvl="0" indent="0" algn="l" rtl="0">
              <a:lnSpc>
                <a:spcPct val="90000"/>
              </a:lnSpc>
              <a:spcBef>
                <a:spcPts val="900"/>
              </a:spcBef>
              <a:spcAft>
                <a:spcPts val="0"/>
              </a:spcAft>
              <a:buClr>
                <a:srgbClr val="000000"/>
              </a:buClr>
              <a:buSzPts val="2256"/>
              <a:buNone/>
            </a:pPr>
            <a:r>
              <a:rPr lang="en-US" sz="2256" dirty="0">
                <a:latin typeface="Times New Roman"/>
                <a:ea typeface="Times New Roman"/>
                <a:cs typeface="Times New Roman"/>
                <a:sym typeface="Times New Roman"/>
              </a:rPr>
              <a:t>Since the p-value is much smaller than the typical significance level of 0.05, we can reject the null hypothesis and conclude that there is a statistically significant difference between the performance of the Linear Regression and Logistic Regression models.</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8"/>
          <p:cNvSpPr txBox="1">
            <a:spLocks noGrp="1"/>
          </p:cNvSpPr>
          <p:nvPr>
            <p:ph type="title"/>
          </p:nvPr>
        </p:nvSpPr>
        <p:spPr>
          <a:prstGeom prst="rect">
            <a:avLst/>
          </a:prstGeom>
          <a:noFill/>
          <a:ln>
            <a:noFill/>
          </a:ln>
        </p:spPr>
        <p:txBody>
          <a:bodyPr spcFirstLastPara="1" wrap="square" lIns="34275" tIns="34275" rIns="34275" bIns="34275" anchor="ctr" anchorCtr="0">
            <a:normAutofit/>
          </a:bodyPr>
          <a:lstStyle/>
          <a:p>
            <a:pPr marL="0" lvl="0" indent="0" algn="l" rtl="0">
              <a:lnSpc>
                <a:spcPct val="90000"/>
              </a:lnSpc>
              <a:spcBef>
                <a:spcPts val="0"/>
              </a:spcBef>
              <a:spcAft>
                <a:spcPts val="0"/>
              </a:spcAft>
              <a:buClr>
                <a:srgbClr val="000000"/>
              </a:buClr>
              <a:buSzPts val="4400"/>
              <a:buFont typeface="Play"/>
              <a:buNone/>
            </a:pPr>
            <a:r>
              <a:rPr lang="en-US">
                <a:latin typeface="Play"/>
                <a:ea typeface="Play"/>
                <a:cs typeface="Play"/>
                <a:sym typeface="Play"/>
              </a:rPr>
              <a:t>Statistical Test Results</a:t>
            </a:r>
            <a:endParaRPr/>
          </a:p>
        </p:txBody>
      </p:sp>
      <p:sp>
        <p:nvSpPr>
          <p:cNvPr id="219" name="Google Shape;219;p38"/>
          <p:cNvSpPr txBox="1">
            <a:spLocks noGrp="1"/>
          </p:cNvSpPr>
          <p:nvPr>
            <p:ph type="body" idx="1"/>
          </p:nvPr>
        </p:nvSpPr>
        <p:spPr>
          <a:prstGeom prst="rect">
            <a:avLst/>
          </a:prstGeom>
          <a:noFill/>
          <a:ln>
            <a:noFill/>
          </a:ln>
        </p:spPr>
        <p:txBody>
          <a:bodyPr spcFirstLastPara="1" wrap="square" lIns="34275" tIns="34275" rIns="34275" bIns="34275" anchor="t" anchorCtr="0">
            <a:normAutofit/>
          </a:bodyPr>
          <a:lstStyle/>
          <a:p>
            <a:pPr marL="0" lvl="0" indent="0" algn="l" rtl="0">
              <a:lnSpc>
                <a:spcPct val="90000"/>
              </a:lnSpc>
              <a:spcBef>
                <a:spcPts val="0"/>
              </a:spcBef>
              <a:spcAft>
                <a:spcPts val="0"/>
              </a:spcAft>
              <a:buClr>
                <a:srgbClr val="000000"/>
              </a:buClr>
              <a:buSzPts val="2400"/>
              <a:buNone/>
            </a:pPr>
            <a:r>
              <a:rPr lang="en-US" sz="2400" b="1">
                <a:latin typeface="Times New Roman"/>
                <a:ea typeface="Times New Roman"/>
                <a:cs typeface="Times New Roman"/>
                <a:sym typeface="Times New Roman"/>
              </a:rPr>
              <a:t>Regression Statistics Data in Excel: </a:t>
            </a:r>
            <a:endParaRPr/>
          </a:p>
          <a:p>
            <a:pPr marL="0" lvl="0" indent="0" algn="l" rtl="0">
              <a:lnSpc>
                <a:spcPct val="90000"/>
              </a:lnSpc>
              <a:spcBef>
                <a:spcPts val="1000"/>
              </a:spcBef>
              <a:spcAft>
                <a:spcPts val="0"/>
              </a:spcAft>
              <a:buClr>
                <a:srgbClr val="000000"/>
              </a:buClr>
              <a:buSzPts val="1800"/>
              <a:buNone/>
            </a:pPr>
            <a:r>
              <a:rPr lang="en-US" sz="1800">
                <a:latin typeface="Times New Roman"/>
                <a:ea typeface="Times New Roman"/>
                <a:cs typeface="Times New Roman"/>
                <a:sym typeface="Times New Roman"/>
              </a:rPr>
              <a:t>To confirm further performed regression analysis with the help of MS Excel descriptive analytical tools and found the following result;</a:t>
            </a:r>
            <a:endParaRPr/>
          </a:p>
        </p:txBody>
      </p:sp>
      <p:pic>
        <p:nvPicPr>
          <p:cNvPr id="220" name="Google Shape;220;p38" descr="Picture 4"/>
          <p:cNvPicPr preferRelativeResize="0"/>
          <p:nvPr/>
        </p:nvPicPr>
        <p:blipFill rotWithShape="1">
          <a:blip r:embed="rId3">
            <a:alphaModFix/>
          </a:blip>
          <a:srcRect/>
          <a:stretch/>
        </p:blipFill>
        <p:spPr>
          <a:xfrm>
            <a:off x="628650" y="3429000"/>
            <a:ext cx="7720782" cy="2797748"/>
          </a:xfrm>
          <a:prstGeom prst="rect">
            <a:avLst/>
          </a:prstGeom>
          <a:noFill/>
          <a:ln>
            <a:noFill/>
          </a:ln>
        </p:spPr>
      </p:pic>
      <p:sp>
        <p:nvSpPr>
          <p:cNvPr id="221" name="Google Shape;221;p38"/>
          <p:cNvSpPr txBox="1"/>
          <p:nvPr/>
        </p:nvSpPr>
        <p:spPr>
          <a:xfrm>
            <a:off x="6710515" y="1595407"/>
            <a:ext cx="1725563" cy="909956"/>
          </a:xfrm>
          <a:prstGeom prst="rect">
            <a:avLst/>
          </a:prstGeom>
          <a:noFill/>
          <a:ln w="9525" cap="flat" cmpd="sng">
            <a:solidFill>
              <a:srgbClr val="000000"/>
            </a:solidFill>
            <a:prstDash val="solid"/>
            <a:round/>
            <a:headEnd type="none" w="sm" len="sm"/>
            <a:tailEnd type="none" w="sm" len="sm"/>
          </a:ln>
        </p:spPr>
        <p:txBody>
          <a:bodyPr spcFirstLastPara="1" wrap="square" lIns="34275" tIns="34275" rIns="34275" bIns="3427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P-Value less than significant value(0.005)</a:t>
            </a:r>
            <a:endParaRPr/>
          </a:p>
        </p:txBody>
      </p:sp>
      <p:cxnSp>
        <p:nvCxnSpPr>
          <p:cNvPr id="222" name="Google Shape;222;p38"/>
          <p:cNvCxnSpPr/>
          <p:nvPr/>
        </p:nvCxnSpPr>
        <p:spPr>
          <a:xfrm flipH="1">
            <a:off x="6555657" y="2420579"/>
            <a:ext cx="988144" cy="1703439"/>
          </a:xfrm>
          <a:prstGeom prst="straightConnector1">
            <a:avLst/>
          </a:prstGeom>
          <a:noFill/>
          <a:ln w="12700" cap="flat" cmpd="sng">
            <a:solidFill>
              <a:srgbClr val="156082"/>
            </a:solidFill>
            <a:prstDash val="solid"/>
            <a:miter lim="8000"/>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9"/>
          <p:cNvSpPr txBox="1">
            <a:spLocks noGrp="1"/>
          </p:cNvSpPr>
          <p:nvPr>
            <p:ph type="title"/>
          </p:nvPr>
        </p:nvSpPr>
        <p:spPr>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256"/>
              <a:buFont typeface="Play"/>
              <a:buNone/>
            </a:pPr>
            <a:r>
              <a:rPr lang="en-US" sz="3256"/>
              <a:t>Differences in Two models based on Result</a:t>
            </a:r>
            <a:endParaRPr/>
          </a:p>
        </p:txBody>
      </p:sp>
      <p:sp>
        <p:nvSpPr>
          <p:cNvPr id="228" name="Google Shape;228;p39"/>
          <p:cNvSpPr txBox="1">
            <a:spLocks noGrp="1"/>
          </p:cNvSpPr>
          <p:nvPr>
            <p:ph type="body" idx="1"/>
          </p:nvPr>
        </p:nvSpPr>
        <p:spPr>
          <a:prstGeom prst="rect">
            <a:avLst/>
          </a:prstGeom>
          <a:noFill/>
          <a:ln>
            <a:noFill/>
          </a:ln>
        </p:spPr>
        <p:txBody>
          <a:bodyPr spcFirstLastPara="1" wrap="square" lIns="34275" tIns="34275" rIns="34275" bIns="34275" anchor="t" anchorCtr="0">
            <a:normAutofit/>
          </a:bodyPr>
          <a:lstStyle/>
          <a:p>
            <a:pPr marL="0" lvl="0" indent="0" algn="l" rtl="0">
              <a:lnSpc>
                <a:spcPct val="90000"/>
              </a:lnSpc>
              <a:spcBef>
                <a:spcPts val="0"/>
              </a:spcBef>
              <a:spcAft>
                <a:spcPts val="0"/>
              </a:spcAft>
              <a:buClr>
                <a:srgbClr val="000000"/>
              </a:buClr>
              <a:buSzPts val="2000"/>
              <a:buNone/>
            </a:pPr>
            <a:r>
              <a:rPr lang="en-US" sz="2000" dirty="0">
                <a:latin typeface="Times New Roman"/>
                <a:ea typeface="Times New Roman"/>
                <a:cs typeface="Times New Roman"/>
                <a:sym typeface="Times New Roman"/>
              </a:rPr>
              <a:t>Based on the test, we can conclude that [Conclusion about which model performed better and if the difference is statistically significant].</a:t>
            </a:r>
            <a:endParaRPr dirty="0"/>
          </a:p>
          <a:p>
            <a:pPr marL="0" lvl="0" indent="0" algn="l" rtl="0">
              <a:lnSpc>
                <a:spcPct val="90000"/>
              </a:lnSpc>
              <a:spcBef>
                <a:spcPts val="1000"/>
              </a:spcBef>
              <a:spcAft>
                <a:spcPts val="0"/>
              </a:spcAft>
              <a:buClr>
                <a:srgbClr val="000000"/>
              </a:buClr>
              <a:buSzPts val="2000"/>
              <a:buNone/>
            </a:pPr>
            <a:endParaRPr sz="2000" dirty="0">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000000"/>
              </a:buClr>
              <a:buSzPts val="2000"/>
              <a:buNone/>
            </a:pPr>
            <a:r>
              <a:rPr lang="en-US" sz="2000" dirty="0">
                <a:latin typeface="Times New Roman"/>
                <a:ea typeface="Times New Roman"/>
                <a:cs typeface="Times New Roman"/>
                <a:sym typeface="Times New Roman"/>
              </a:rPr>
              <a:t>SO, differences in two models can be stated as below;</a:t>
            </a:r>
            <a:endParaRPr dirty="0"/>
          </a:p>
        </p:txBody>
      </p:sp>
      <p:graphicFrame>
        <p:nvGraphicFramePr>
          <p:cNvPr id="3" name="Google Shape;229;p39">
            <a:extLst>
              <a:ext uri="{FF2B5EF4-FFF2-40B4-BE49-F238E27FC236}">
                <a16:creationId xmlns:a16="http://schemas.microsoft.com/office/drawing/2014/main" id="{F222DB5C-8847-50C4-01D3-003173346374}"/>
              </a:ext>
            </a:extLst>
          </p:cNvPr>
          <p:cNvGraphicFramePr/>
          <p:nvPr>
            <p:extLst>
              <p:ext uri="{D42A27DB-BD31-4B8C-83A1-F6EECF244321}">
                <p14:modId xmlns:p14="http://schemas.microsoft.com/office/powerpoint/2010/main" val="2462273877"/>
              </p:ext>
            </p:extLst>
          </p:nvPr>
        </p:nvGraphicFramePr>
        <p:xfrm>
          <a:off x="628650" y="3974076"/>
          <a:ext cx="7533250" cy="2167250"/>
        </p:xfrm>
        <a:graphic>
          <a:graphicData uri="http://schemas.openxmlformats.org/drawingml/2006/table">
            <a:tbl>
              <a:tblPr firstRow="1" bandRow="1">
                <a:noFill/>
                <a:tableStyleId>{FAD2F71C-7846-4C3E-9502-F6074BB4B6FC}</a:tableStyleId>
              </a:tblPr>
              <a:tblGrid>
                <a:gridCol w="3766625">
                  <a:extLst>
                    <a:ext uri="{9D8B030D-6E8A-4147-A177-3AD203B41FA5}">
                      <a16:colId xmlns:a16="http://schemas.microsoft.com/office/drawing/2014/main" val="20000"/>
                    </a:ext>
                  </a:extLst>
                </a:gridCol>
                <a:gridCol w="3766625">
                  <a:extLst>
                    <a:ext uri="{9D8B030D-6E8A-4147-A177-3AD203B41FA5}">
                      <a16:colId xmlns:a16="http://schemas.microsoft.com/office/drawing/2014/main" val="20001"/>
                    </a:ext>
                  </a:extLst>
                </a:gridCol>
              </a:tblGrid>
              <a:tr h="385125">
                <a:tc>
                  <a:txBody>
                    <a:bodyPr/>
                    <a:lstStyle/>
                    <a:p>
                      <a:pPr marL="0" marR="0" lvl="0" indent="0" algn="ctr" rtl="0">
                        <a:lnSpc>
                          <a:spcPct val="100000"/>
                        </a:lnSpc>
                        <a:spcBef>
                          <a:spcPts val="0"/>
                        </a:spcBef>
                        <a:spcAft>
                          <a:spcPts val="0"/>
                        </a:spcAft>
                        <a:buClr>
                          <a:srgbClr val="FFFFFF"/>
                        </a:buClr>
                        <a:buSzPts val="1800"/>
                        <a:buFont typeface="Arial"/>
                        <a:buNone/>
                      </a:pPr>
                      <a:r>
                        <a:rPr lang="en-US" sz="1800" b="1" u="none" strike="noStrike" cap="none" dirty="0">
                          <a:solidFill>
                            <a:srgbClr val="FFFFFF"/>
                          </a:solidFill>
                          <a:latin typeface="Arial"/>
                          <a:ea typeface="Arial"/>
                          <a:cs typeface="Arial"/>
                          <a:sym typeface="Arial"/>
                        </a:rPr>
                        <a:t>Linear Regression</a:t>
                      </a:r>
                      <a:endParaRPr dirty="0"/>
                    </a:p>
                  </a:txBody>
                  <a:tcPr marL="45725" marR="45725"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156082"/>
                    </a:solidFill>
                  </a:tcPr>
                </a:tc>
                <a:tc>
                  <a:txBody>
                    <a:bodyPr/>
                    <a:lstStyle/>
                    <a:p>
                      <a:pPr marL="0" marR="0" lvl="0" indent="0" algn="ctr" rtl="0">
                        <a:lnSpc>
                          <a:spcPct val="100000"/>
                        </a:lnSpc>
                        <a:spcBef>
                          <a:spcPts val="0"/>
                        </a:spcBef>
                        <a:spcAft>
                          <a:spcPts val="0"/>
                        </a:spcAft>
                        <a:buClr>
                          <a:srgbClr val="FFFFFF"/>
                        </a:buClr>
                        <a:buSzPts val="1800"/>
                        <a:buFont typeface="Arial"/>
                        <a:buNone/>
                      </a:pPr>
                      <a:r>
                        <a:rPr lang="en-US" sz="1800" b="1" u="none" strike="noStrike" cap="none">
                          <a:solidFill>
                            <a:srgbClr val="FFFFFF"/>
                          </a:solidFill>
                          <a:latin typeface="Arial"/>
                          <a:ea typeface="Arial"/>
                          <a:cs typeface="Arial"/>
                          <a:sym typeface="Arial"/>
                        </a:rPr>
                        <a:t>Logistic Regression</a:t>
                      </a:r>
                      <a:endParaRPr/>
                    </a:p>
                  </a:txBody>
                  <a:tcPr marL="45725" marR="45725"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25400" cap="flat" cmpd="sng">
                      <a:solidFill>
                        <a:srgbClr val="FFFFFF"/>
                      </a:solidFill>
                      <a:prstDash val="solid"/>
                      <a:round/>
                      <a:headEnd type="none" w="sm" len="sm"/>
                      <a:tailEnd type="none" w="sm" len="sm"/>
                    </a:lnB>
                    <a:solidFill>
                      <a:srgbClr val="156082"/>
                    </a:solidFill>
                  </a:tcPr>
                </a:tc>
                <a:extLst>
                  <a:ext uri="{0D108BD9-81ED-4DB2-BD59-A6C34878D82A}">
                    <a16:rowId xmlns:a16="http://schemas.microsoft.com/office/drawing/2014/main" val="10000"/>
                  </a:ext>
                </a:extLst>
              </a:tr>
              <a:tr h="1782125">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a:latin typeface="Arial"/>
                          <a:ea typeface="Arial"/>
                          <a:cs typeface="Arial"/>
                          <a:sym typeface="Arial"/>
                        </a:rPr>
                        <a:t>The model suggests that temperature and density alone might not fully explain the outbreaks, meaning there are likely other factors to consider.</a:t>
                      </a:r>
                      <a:endParaRPr/>
                    </a:p>
                  </a:txBody>
                  <a:tcPr marL="45725" marR="45725"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AD1D8"/>
                    </a:solidFill>
                  </a:tcPr>
                </a:tc>
                <a:tc>
                  <a:txBody>
                    <a:bodyPr/>
                    <a:lstStyle/>
                    <a:p>
                      <a:pPr marL="0" marR="0" lvl="0" indent="0" algn="l" rtl="0">
                        <a:lnSpc>
                          <a:spcPct val="100000"/>
                        </a:lnSpc>
                        <a:spcBef>
                          <a:spcPts val="0"/>
                        </a:spcBef>
                        <a:spcAft>
                          <a:spcPts val="0"/>
                        </a:spcAft>
                        <a:buClr>
                          <a:schemeClr val="dk1"/>
                        </a:buClr>
                        <a:buSzPts val="1800"/>
                        <a:buFont typeface="Arial"/>
                        <a:buNone/>
                      </a:pPr>
                      <a:r>
                        <a:rPr lang="en-US" sz="1800" u="none" strike="noStrike" cap="none" dirty="0">
                          <a:latin typeface="Arial"/>
                          <a:ea typeface="Arial"/>
                          <a:cs typeface="Arial"/>
                          <a:sym typeface="Arial"/>
                        </a:rPr>
                        <a:t>This model achieved good accuracy and can be used to help decision-makers identify regions at risk for outbreaks, enabling proactive measures like vaccination or quarantine.</a:t>
                      </a:r>
                      <a:endParaRPr dirty="0"/>
                    </a:p>
                  </a:txBody>
                  <a:tcPr marL="45725" marR="45725" marT="45725" marB="457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25400"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AD1D8"/>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0"/>
          <p:cNvSpPr txBox="1">
            <a:spLocks noGrp="1"/>
          </p:cNvSpPr>
          <p:nvPr>
            <p:ph type="title"/>
          </p:nvPr>
        </p:nvSpPr>
        <p:spPr>
          <a:xfrm>
            <a:off x="549377" y="843212"/>
            <a:ext cx="7886700" cy="994174"/>
          </a:xfrm>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200"/>
              <a:buFont typeface="Play"/>
              <a:buNone/>
            </a:pPr>
            <a:r>
              <a:rPr lang="en-US" sz="2800" dirty="0">
                <a:latin typeface="Times New Roman" panose="02020603050405020304" pitchFamily="18" charset="0"/>
                <a:cs typeface="Times New Roman" panose="02020603050405020304" pitchFamily="18" charset="0"/>
              </a:rPr>
              <a:t>Measuring the ROC Curve and Regression Justification</a:t>
            </a:r>
            <a:endParaRPr sz="4000" dirty="0">
              <a:latin typeface="Times New Roman" panose="02020603050405020304" pitchFamily="18" charset="0"/>
              <a:cs typeface="Times New Roman" panose="02020603050405020304" pitchFamily="18" charset="0"/>
            </a:endParaRPr>
          </a:p>
        </p:txBody>
      </p:sp>
      <p:sp>
        <p:nvSpPr>
          <p:cNvPr id="235" name="Google Shape;235;p40"/>
          <p:cNvSpPr txBox="1">
            <a:spLocks noGrp="1"/>
          </p:cNvSpPr>
          <p:nvPr>
            <p:ph type="body" idx="1"/>
          </p:nvPr>
        </p:nvSpPr>
        <p:spPr>
          <a:xfrm>
            <a:off x="628650" y="2000250"/>
            <a:ext cx="7886700" cy="3489723"/>
          </a:xfrm>
          <a:prstGeom prst="rect">
            <a:avLst/>
          </a:prstGeom>
          <a:noFill/>
          <a:ln>
            <a:noFill/>
          </a:ln>
        </p:spPr>
        <p:txBody>
          <a:bodyPr spcFirstLastPara="1" wrap="square" lIns="34275" tIns="34275" rIns="34275" bIns="34275" anchor="t" anchorCtr="0">
            <a:normAutofit/>
          </a:bodyPr>
          <a:lstStyle/>
          <a:p>
            <a:pPr marL="0" lvl="0" indent="0" algn="l" rtl="0">
              <a:lnSpc>
                <a:spcPct val="90000"/>
              </a:lnSpc>
              <a:spcBef>
                <a:spcPts val="0"/>
              </a:spcBef>
              <a:spcAft>
                <a:spcPts val="0"/>
              </a:spcAft>
              <a:buClr>
                <a:srgbClr val="000000"/>
              </a:buClr>
              <a:buSzPts val="2000"/>
              <a:buNone/>
            </a:pPr>
            <a:r>
              <a:rPr lang="en-US" sz="2000" dirty="0">
                <a:latin typeface="Times New Roman" panose="02020603050405020304" pitchFamily="18" charset="0"/>
                <a:cs typeface="Times New Roman" panose="02020603050405020304" pitchFamily="18" charset="0"/>
              </a:rPr>
              <a:t>ROC (Receiver Operating Characteristic) curve visually summarizes the performance of our logistic regression model across various classification thresholds.</a:t>
            </a:r>
            <a:endParaRPr sz="2000" dirty="0">
              <a:latin typeface="Times New Roman" panose="02020603050405020304" pitchFamily="18" charset="0"/>
              <a:cs typeface="Times New Roman" panose="02020603050405020304" pitchFamily="18" charset="0"/>
            </a:endParaRPr>
          </a:p>
          <a:p>
            <a:pPr marL="0" lvl="0" indent="0" algn="l" rtl="0">
              <a:lnSpc>
                <a:spcPct val="90000"/>
              </a:lnSpc>
              <a:spcBef>
                <a:spcPts val="1000"/>
              </a:spcBef>
              <a:spcAft>
                <a:spcPts val="0"/>
              </a:spcAft>
              <a:buClr>
                <a:srgbClr val="000000"/>
              </a:buClr>
              <a:buSzPts val="2000"/>
              <a:buNone/>
            </a:pPr>
            <a:r>
              <a:rPr lang="en-US" sz="2000" b="1" dirty="0"/>
              <a:t>Visualization of ROC Curve: </a:t>
            </a:r>
            <a:endParaRPr dirty="0"/>
          </a:p>
        </p:txBody>
      </p:sp>
      <p:pic>
        <p:nvPicPr>
          <p:cNvPr id="236" name="Google Shape;236;p40" descr="Picture 5"/>
          <p:cNvPicPr preferRelativeResize="0"/>
          <p:nvPr/>
        </p:nvPicPr>
        <p:blipFill rotWithShape="1">
          <a:blip r:embed="rId3">
            <a:alphaModFix/>
          </a:blip>
          <a:srcRect/>
          <a:stretch/>
        </p:blipFill>
        <p:spPr>
          <a:xfrm>
            <a:off x="540159" y="3315543"/>
            <a:ext cx="7886700" cy="283438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1"/>
          <p:cNvSpPr txBox="1">
            <a:spLocks noGrp="1"/>
          </p:cNvSpPr>
          <p:nvPr>
            <p:ph type="title"/>
          </p:nvPr>
        </p:nvSpPr>
        <p:spPr>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200"/>
              <a:buFont typeface="Play"/>
              <a:buNone/>
            </a:pPr>
            <a:r>
              <a:rPr lang="en-US" sz="2800" dirty="0">
                <a:latin typeface="Times New Roman" panose="02020603050405020304" pitchFamily="18" charset="0"/>
                <a:cs typeface="Times New Roman" panose="02020603050405020304" pitchFamily="18" charset="0"/>
              </a:rPr>
              <a:t>Measuring the ROC Curve and Regression Justification</a:t>
            </a:r>
            <a:endParaRPr sz="2800" dirty="0">
              <a:latin typeface="Times New Roman" panose="02020603050405020304" pitchFamily="18" charset="0"/>
              <a:cs typeface="Times New Roman" panose="02020603050405020304" pitchFamily="18" charset="0"/>
            </a:endParaRPr>
          </a:p>
        </p:txBody>
      </p:sp>
      <p:sp>
        <p:nvSpPr>
          <p:cNvPr id="242" name="Google Shape;242;p41"/>
          <p:cNvSpPr txBox="1">
            <a:spLocks noGrp="1"/>
          </p:cNvSpPr>
          <p:nvPr>
            <p:ph type="body" idx="1"/>
          </p:nvPr>
        </p:nvSpPr>
        <p:spPr>
          <a:xfrm>
            <a:off x="628650" y="1978125"/>
            <a:ext cx="7886700" cy="4157203"/>
          </a:xfrm>
          <a:prstGeom prst="rect">
            <a:avLst/>
          </a:prstGeom>
          <a:noFill/>
          <a:ln>
            <a:noFill/>
          </a:ln>
        </p:spPr>
        <p:txBody>
          <a:bodyPr spcFirstLastPara="1" wrap="square" lIns="34275" tIns="34275" rIns="34275" bIns="34275" anchor="t" anchorCtr="0">
            <a:normAutofit lnSpcReduction="10000"/>
          </a:bodyPr>
          <a:lstStyle/>
          <a:p>
            <a:pPr marL="0" lvl="0" indent="0" algn="l" rtl="0">
              <a:lnSpc>
                <a:spcPct val="90000"/>
              </a:lnSpc>
              <a:spcBef>
                <a:spcPts val="0"/>
              </a:spcBef>
              <a:spcAft>
                <a:spcPts val="0"/>
              </a:spcAft>
              <a:buClr>
                <a:srgbClr val="000000"/>
              </a:buClr>
              <a:buSzPts val="1560"/>
              <a:buNone/>
            </a:pPr>
            <a:r>
              <a:rPr lang="en-US" sz="1560" b="1" dirty="0"/>
              <a:t>Observations from ROC Curve Trend Line: </a:t>
            </a:r>
            <a:endParaRPr dirty="0"/>
          </a:p>
          <a:p>
            <a:pPr marL="0" lvl="0" indent="0" algn="l" rtl="0">
              <a:lnSpc>
                <a:spcPct val="90000"/>
              </a:lnSpc>
              <a:spcBef>
                <a:spcPts val="700"/>
              </a:spcBef>
              <a:spcAft>
                <a:spcPts val="0"/>
              </a:spcAft>
              <a:buClr>
                <a:srgbClr val="000000"/>
              </a:buClr>
              <a:buSzPts val="1560"/>
              <a:buNone/>
            </a:pPr>
            <a:endParaRPr sz="1560" b="1" dirty="0"/>
          </a:p>
          <a:p>
            <a:pPr marL="0" lvl="0" indent="0" algn="l" rtl="0">
              <a:lnSpc>
                <a:spcPct val="90000"/>
              </a:lnSpc>
              <a:spcBef>
                <a:spcPts val="700"/>
              </a:spcBef>
              <a:spcAft>
                <a:spcPts val="0"/>
              </a:spcAft>
              <a:buClr>
                <a:srgbClr val="000000"/>
              </a:buClr>
              <a:buSzPts val="1560"/>
              <a:buNone/>
            </a:pPr>
            <a:endParaRPr sz="1560" b="1" dirty="0"/>
          </a:p>
          <a:p>
            <a:pPr marL="0" lvl="0" indent="0" algn="l" rtl="0">
              <a:lnSpc>
                <a:spcPct val="90000"/>
              </a:lnSpc>
              <a:spcBef>
                <a:spcPts val="700"/>
              </a:spcBef>
              <a:spcAft>
                <a:spcPts val="0"/>
              </a:spcAft>
              <a:buClr>
                <a:srgbClr val="000000"/>
              </a:buClr>
              <a:buSzPts val="1560"/>
              <a:buNone/>
            </a:pPr>
            <a:r>
              <a:rPr lang="en-US" sz="1560" b="1" dirty="0">
                <a:solidFill>
                  <a:srgbClr val="0070C0"/>
                </a:solidFill>
              </a:rPr>
              <a:t>Y Axis= TPR(Total Pos Rate)</a:t>
            </a:r>
            <a:br>
              <a:rPr lang="en-US" sz="1560" b="1" dirty="0">
                <a:solidFill>
                  <a:srgbClr val="0070C0"/>
                </a:solidFill>
              </a:rPr>
            </a:br>
            <a:r>
              <a:rPr lang="en-US" sz="1560" b="1" dirty="0">
                <a:solidFill>
                  <a:srgbClr val="0070C0"/>
                </a:solidFill>
              </a:rPr>
              <a:t>X Axis= FPR(False Pos Rate)</a:t>
            </a:r>
            <a:endParaRPr sz="1560" b="1" dirty="0">
              <a:solidFill>
                <a:srgbClr val="0070C0"/>
              </a:solidFill>
            </a:endParaRPr>
          </a:p>
          <a:p>
            <a:pPr marL="178307" lvl="0" indent="-79246" algn="l" rtl="0">
              <a:lnSpc>
                <a:spcPct val="90000"/>
              </a:lnSpc>
              <a:spcBef>
                <a:spcPts val="700"/>
              </a:spcBef>
              <a:spcAft>
                <a:spcPts val="0"/>
              </a:spcAft>
              <a:buClr>
                <a:srgbClr val="000000"/>
              </a:buClr>
              <a:buSzPts val="1560"/>
              <a:buNone/>
            </a:pPr>
            <a:endParaRPr sz="1560" b="1" dirty="0"/>
          </a:p>
          <a:p>
            <a:pPr marL="178307" lvl="0" indent="-79246" algn="l" rtl="0">
              <a:lnSpc>
                <a:spcPct val="90000"/>
              </a:lnSpc>
              <a:spcBef>
                <a:spcPts val="700"/>
              </a:spcBef>
              <a:spcAft>
                <a:spcPts val="0"/>
              </a:spcAft>
              <a:buClr>
                <a:srgbClr val="000000"/>
              </a:buClr>
              <a:buSzPts val="1560"/>
              <a:buNone/>
            </a:pPr>
            <a:endParaRPr sz="1560" b="1" dirty="0"/>
          </a:p>
          <a:p>
            <a:pPr marL="178307" lvl="0" indent="-79246" algn="l" rtl="0">
              <a:lnSpc>
                <a:spcPct val="90000"/>
              </a:lnSpc>
              <a:spcBef>
                <a:spcPts val="700"/>
              </a:spcBef>
              <a:spcAft>
                <a:spcPts val="0"/>
              </a:spcAft>
              <a:buClr>
                <a:srgbClr val="000000"/>
              </a:buClr>
              <a:buSzPts val="1560"/>
              <a:buNone/>
            </a:pPr>
            <a:endParaRPr sz="1560" b="1" dirty="0"/>
          </a:p>
          <a:p>
            <a:pPr marL="178307" lvl="0" indent="-178307" algn="l" rtl="0">
              <a:lnSpc>
                <a:spcPct val="90000"/>
              </a:lnSpc>
              <a:spcBef>
                <a:spcPts val="700"/>
              </a:spcBef>
              <a:spcAft>
                <a:spcPts val="0"/>
              </a:spcAft>
              <a:buClr>
                <a:srgbClr val="000000"/>
              </a:buClr>
              <a:buSzPts val="1092"/>
              <a:buChar char="•"/>
            </a:pPr>
            <a:endParaRPr lang="en-US" sz="1092" dirty="0"/>
          </a:p>
          <a:p>
            <a:pPr marL="178307" lvl="0" indent="-178307" algn="l" rtl="0">
              <a:lnSpc>
                <a:spcPct val="90000"/>
              </a:lnSpc>
              <a:spcBef>
                <a:spcPts val="700"/>
              </a:spcBef>
              <a:spcAft>
                <a:spcPts val="0"/>
              </a:spcAft>
              <a:buClr>
                <a:srgbClr val="000000"/>
              </a:buClr>
              <a:buSzPts val="1092"/>
              <a:buChar char="•"/>
            </a:pPr>
            <a:r>
              <a:rPr lang="en-US" sz="1600" dirty="0">
                <a:latin typeface="Times New Roman" panose="02020603050405020304" pitchFamily="18" charset="0"/>
                <a:cs typeface="Times New Roman" panose="02020603050405020304" pitchFamily="18" charset="0"/>
              </a:rPr>
              <a:t>On the y-axis, we see the TPR. The solid blue line starts at a TPR of 1.00 when the False Positive Rate is 0.00. This indicates that at this threshold, all actual positive cases were correctly identified. As the False Positive Rate increases, the True Positive Rate decreases. </a:t>
            </a:r>
          </a:p>
          <a:p>
            <a:pPr marL="178307" lvl="0" indent="-178307" algn="l" rtl="0">
              <a:lnSpc>
                <a:spcPct val="90000"/>
              </a:lnSpc>
              <a:spcBef>
                <a:spcPts val="700"/>
              </a:spcBef>
              <a:spcAft>
                <a:spcPts val="0"/>
              </a:spcAft>
              <a:buClr>
                <a:srgbClr val="000000"/>
              </a:buClr>
              <a:buSzPts val="1092"/>
              <a:buChar char="•"/>
            </a:pPr>
            <a:r>
              <a:rPr lang="en-US" sz="1600" dirty="0">
                <a:latin typeface="Times New Roman" panose="02020603050405020304" pitchFamily="18" charset="0"/>
                <a:cs typeface="Times New Roman" panose="02020603050405020304" pitchFamily="18" charset="0"/>
              </a:rPr>
              <a:t>Specifically, the initial steep rise on the left suggests that the model can achieve a relatively good TPR with a low FPR at certain thresholds. As we move along the curve to the right, aiming for an even higher TPR comes at the cost of a proportionally larger increase in the FPR.</a:t>
            </a:r>
            <a:endParaRPr sz="1600" dirty="0">
              <a:latin typeface="Times New Roman" panose="02020603050405020304" pitchFamily="18" charset="0"/>
              <a:cs typeface="Times New Roman" panose="02020603050405020304" pitchFamily="18" charset="0"/>
            </a:endParaRPr>
          </a:p>
          <a:p>
            <a:pPr marL="0" lvl="0" indent="0" algn="l" rtl="0">
              <a:lnSpc>
                <a:spcPct val="90000"/>
              </a:lnSpc>
              <a:spcBef>
                <a:spcPts val="700"/>
              </a:spcBef>
              <a:spcAft>
                <a:spcPts val="0"/>
              </a:spcAft>
              <a:buClr>
                <a:srgbClr val="000000"/>
              </a:buClr>
              <a:buSzPts val="1092"/>
              <a:buNone/>
            </a:pPr>
            <a:endParaRPr sz="1200" dirty="0">
              <a:latin typeface="Times New Roman" panose="02020603050405020304" pitchFamily="18" charset="0"/>
              <a:cs typeface="Times New Roman" panose="02020603050405020304" pitchFamily="18" charset="0"/>
            </a:endParaRPr>
          </a:p>
        </p:txBody>
      </p:sp>
      <p:pic>
        <p:nvPicPr>
          <p:cNvPr id="243" name="Google Shape;243;p41"/>
          <p:cNvPicPr preferRelativeResize="0"/>
          <p:nvPr/>
        </p:nvPicPr>
        <p:blipFill rotWithShape="1">
          <a:blip r:embed="rId3">
            <a:alphaModFix/>
          </a:blip>
          <a:srcRect/>
          <a:stretch/>
        </p:blipFill>
        <p:spPr>
          <a:xfrm>
            <a:off x="3795252" y="2777613"/>
            <a:ext cx="2556387" cy="135268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720751E6-E4B6-FCEE-90E0-DBB7C1B13F99}"/>
            </a:ext>
          </a:extLst>
        </p:cNvPr>
        <p:cNvGrpSpPr/>
        <p:nvPr/>
      </p:nvGrpSpPr>
      <p:grpSpPr>
        <a:xfrm>
          <a:off x="0" y="0"/>
          <a:ext cx="0" cy="0"/>
          <a:chOff x="0" y="0"/>
          <a:chExt cx="0" cy="0"/>
        </a:xfrm>
      </p:grpSpPr>
      <p:sp>
        <p:nvSpPr>
          <p:cNvPr id="241" name="Google Shape;241;p41">
            <a:extLst>
              <a:ext uri="{FF2B5EF4-FFF2-40B4-BE49-F238E27FC236}">
                <a16:creationId xmlns:a16="http://schemas.microsoft.com/office/drawing/2014/main" id="{54C95201-44D2-B230-C65F-8A205AF0855A}"/>
              </a:ext>
            </a:extLst>
          </p:cNvPr>
          <p:cNvSpPr txBox="1">
            <a:spLocks noGrp="1"/>
          </p:cNvSpPr>
          <p:nvPr>
            <p:ph type="title"/>
          </p:nvPr>
        </p:nvSpPr>
        <p:spPr>
          <a:prstGeom prst="rect">
            <a:avLst/>
          </a:prstGeom>
          <a:noFill/>
          <a:ln>
            <a:noFill/>
          </a:ln>
        </p:spPr>
        <p:txBody>
          <a:bodyPr spcFirstLastPara="1" wrap="square" lIns="34275" tIns="34275" rIns="34275" bIns="34275" anchor="ctr" anchorCtr="0">
            <a:normAutofit/>
          </a:bodyPr>
          <a:lstStyle/>
          <a:p>
            <a:pPr marL="0" marR="0" lvl="0" indent="0" algn="l" rtl="0">
              <a:lnSpc>
                <a:spcPct val="90000"/>
              </a:lnSpc>
              <a:spcBef>
                <a:spcPts val="0"/>
              </a:spcBef>
              <a:spcAft>
                <a:spcPts val="0"/>
              </a:spcAft>
              <a:buClr>
                <a:srgbClr val="000000"/>
              </a:buClr>
              <a:buSzPts val="3200"/>
              <a:buFont typeface="Play"/>
              <a:buNone/>
            </a:pPr>
            <a:r>
              <a:rPr lang="en-US" sz="2800" dirty="0">
                <a:latin typeface="Times New Roman" panose="02020603050405020304" pitchFamily="18" charset="0"/>
                <a:cs typeface="Times New Roman" panose="02020603050405020304" pitchFamily="18" charset="0"/>
              </a:rPr>
              <a:t>Future Aspects of Our Analysis</a:t>
            </a:r>
            <a:endParaRPr sz="2800" dirty="0">
              <a:latin typeface="Times New Roman" panose="02020603050405020304" pitchFamily="18" charset="0"/>
              <a:cs typeface="Times New Roman" panose="02020603050405020304" pitchFamily="18" charset="0"/>
            </a:endParaRPr>
          </a:p>
        </p:txBody>
      </p:sp>
      <p:sp>
        <p:nvSpPr>
          <p:cNvPr id="242" name="Google Shape;242;p41">
            <a:extLst>
              <a:ext uri="{FF2B5EF4-FFF2-40B4-BE49-F238E27FC236}">
                <a16:creationId xmlns:a16="http://schemas.microsoft.com/office/drawing/2014/main" id="{2557A86D-D60A-F3DE-1D43-0D7DA93545A3}"/>
              </a:ext>
            </a:extLst>
          </p:cNvPr>
          <p:cNvSpPr txBox="1">
            <a:spLocks noGrp="1"/>
          </p:cNvSpPr>
          <p:nvPr>
            <p:ph type="body" idx="1"/>
          </p:nvPr>
        </p:nvSpPr>
        <p:spPr>
          <a:xfrm>
            <a:off x="628650" y="1978125"/>
            <a:ext cx="7886700" cy="4009719"/>
          </a:xfrm>
          <a:prstGeom prst="rect">
            <a:avLst/>
          </a:prstGeom>
          <a:noFill/>
          <a:ln>
            <a:noFill/>
          </a:ln>
        </p:spPr>
        <p:txBody>
          <a:bodyPr spcFirstLastPara="1" wrap="square" lIns="34275" tIns="34275" rIns="34275" bIns="34275" anchor="t" anchorCtr="0">
            <a:normAutofit/>
          </a:bodyPr>
          <a:lstStyle/>
          <a:p>
            <a:pPr marL="342900" lvl="0" indent="-342900" algn="l" rtl="0">
              <a:lnSpc>
                <a:spcPct val="90000"/>
              </a:lnSpc>
              <a:spcBef>
                <a:spcPts val="700"/>
              </a:spcBef>
              <a:spcAft>
                <a:spcPts val="0"/>
              </a:spcAft>
              <a:buClr>
                <a:srgbClr val="000000"/>
              </a:buClr>
              <a:buSzPts val="1092"/>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To Utilize environmental surveillance methods, including wastewater testing on farms.</a:t>
            </a:r>
          </a:p>
          <a:p>
            <a:pPr marL="0" lvl="0" indent="0" algn="l" rtl="0">
              <a:lnSpc>
                <a:spcPct val="90000"/>
              </a:lnSpc>
              <a:spcBef>
                <a:spcPts val="700"/>
              </a:spcBef>
              <a:spcAft>
                <a:spcPts val="0"/>
              </a:spcAft>
              <a:buClr>
                <a:srgbClr val="000000"/>
              </a:buClr>
              <a:buSzPts val="1092"/>
              <a:buNone/>
            </a:pPr>
            <a:endParaRPr lang="en-US" sz="2000" dirty="0">
              <a:latin typeface="Times New Roman" panose="02020603050405020304" pitchFamily="18" charset="0"/>
              <a:cs typeface="Times New Roman" panose="02020603050405020304" pitchFamily="18" charset="0"/>
            </a:endParaRPr>
          </a:p>
          <a:p>
            <a:pPr marL="342900" indent="-342900">
              <a:spcBef>
                <a:spcPts val="700"/>
              </a:spcBef>
              <a:buSzPts val="1092"/>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Evaluate and enhance current biosecurity measures and vaccination programs to mitigate the spread of highly pathogenic avian influenza viruses, considering the economic and public health implications.</a:t>
            </a:r>
          </a:p>
          <a:p>
            <a:pPr marL="178307" lvl="0" indent="-178307" algn="l" rtl="0">
              <a:lnSpc>
                <a:spcPct val="90000"/>
              </a:lnSpc>
              <a:spcBef>
                <a:spcPts val="700"/>
              </a:spcBef>
              <a:spcAft>
                <a:spcPts val="0"/>
              </a:spcAft>
              <a:buClr>
                <a:srgbClr val="000000"/>
              </a:buClr>
              <a:buSzPts val="1092"/>
              <a:buChar char="•"/>
            </a:pPr>
            <a:endParaRPr lang="en-US" sz="2000" dirty="0">
              <a:latin typeface="Times New Roman" panose="02020603050405020304" pitchFamily="18" charset="0"/>
              <a:cs typeface="Times New Roman" panose="02020603050405020304" pitchFamily="18" charset="0"/>
            </a:endParaRPr>
          </a:p>
          <a:p>
            <a:pPr marL="342900" lvl="0" indent="-342900" algn="l" rtl="0">
              <a:lnSpc>
                <a:spcPct val="90000"/>
              </a:lnSpc>
              <a:spcBef>
                <a:spcPts val="700"/>
              </a:spcBef>
              <a:spcAft>
                <a:spcPts val="0"/>
              </a:spcAft>
              <a:buClr>
                <a:srgbClr val="000000"/>
              </a:buClr>
              <a:buSzPts val="1092"/>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Develop an immuno-epidemiological framework that considers the interplay between avian influenza infections in birds, humans, and other animals to predict pandemic conditions and inform control strategies.</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41520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CF175-CAFE-4E3D-5C34-FEDF7B51C3D1}"/>
              </a:ext>
            </a:extLst>
          </p:cNvPr>
          <p:cNvSpPr>
            <a:spLocks noGrp="1"/>
          </p:cNvSpPr>
          <p:nvPr>
            <p:ph type="title"/>
          </p:nvPr>
        </p:nvSpPr>
        <p:spPr>
          <a:xfrm>
            <a:off x="1271751" y="542514"/>
            <a:ext cx="7149005" cy="994174"/>
          </a:xfrm>
        </p:spPr>
        <p:txBody>
          <a:bodyPr/>
          <a:lstStyle/>
          <a:p>
            <a:r>
              <a:rPr lang="en-US" dirty="0">
                <a:latin typeface="Times New Roman" panose="02020603050405020304" pitchFamily="18" charset="0"/>
                <a:cs typeface="Times New Roman" panose="02020603050405020304" pitchFamily="18" charset="0"/>
              </a:rPr>
              <a:t>AI Contribution Declaration</a:t>
            </a:r>
          </a:p>
        </p:txBody>
      </p:sp>
      <p:sp>
        <p:nvSpPr>
          <p:cNvPr id="3" name="Text Placeholder 2">
            <a:extLst>
              <a:ext uri="{FF2B5EF4-FFF2-40B4-BE49-F238E27FC236}">
                <a16:creationId xmlns:a16="http://schemas.microsoft.com/office/drawing/2014/main" id="{DD843210-8073-3BC4-27E2-EC6082E16A3A}"/>
              </a:ext>
            </a:extLst>
          </p:cNvPr>
          <p:cNvSpPr>
            <a:spLocks noGrp="1"/>
          </p:cNvSpPr>
          <p:nvPr>
            <p:ph type="body" idx="1"/>
          </p:nvPr>
        </p:nvSpPr>
        <p:spPr>
          <a:xfrm>
            <a:off x="628650" y="1921668"/>
            <a:ext cx="7886700" cy="3263505"/>
          </a:xfrm>
        </p:spPr>
        <p:txBody>
          <a:bodyPr>
            <a:normAutofit fontScale="47500" lnSpcReduction="20000"/>
          </a:bodyPr>
          <a:lstStyle/>
          <a:p>
            <a:pPr>
              <a:buFont typeface="Wingdings" pitchFamily="2" charset="2"/>
              <a:buChar char="Ø"/>
            </a:pPr>
            <a:r>
              <a:rPr lang="en-US" sz="3300" dirty="0"/>
              <a:t>We used AI tools like ChatGPT, </a:t>
            </a:r>
            <a:r>
              <a:rPr lang="en-US" sz="3300" dirty="0" err="1"/>
              <a:t>Deepseek</a:t>
            </a:r>
            <a:r>
              <a:rPr lang="en-US" sz="3300" dirty="0"/>
              <a:t> and simple google search results to </a:t>
            </a:r>
            <a:r>
              <a:rPr lang="en-US" sz="3300" b="1" dirty="0"/>
              <a:t>refine our research direction</a:t>
            </a:r>
            <a:r>
              <a:rPr lang="en-US" sz="3300" dirty="0"/>
              <a:t> and </a:t>
            </a:r>
            <a:r>
              <a:rPr lang="en-US" sz="3300" b="1" dirty="0"/>
              <a:t>develop the project structure</a:t>
            </a:r>
            <a:r>
              <a:rPr lang="en-US" sz="3300" dirty="0"/>
              <a:t>.</a:t>
            </a:r>
          </a:p>
          <a:p>
            <a:pPr>
              <a:buFont typeface="Wingdings" pitchFamily="2" charset="2"/>
              <a:buChar char="Ø"/>
            </a:pPr>
            <a:r>
              <a:rPr lang="en-US" sz="3300" dirty="0"/>
              <a:t>AI helped us </a:t>
            </a:r>
            <a:r>
              <a:rPr lang="en-US" sz="3300" b="1" dirty="0"/>
              <a:t>analyze patterns</a:t>
            </a:r>
            <a:r>
              <a:rPr lang="en-US" sz="3300" dirty="0"/>
              <a:t> in data and </a:t>
            </a:r>
            <a:r>
              <a:rPr lang="en-US" sz="3300" b="1" dirty="0"/>
              <a:t>choose appropriate regression models</a:t>
            </a:r>
            <a:r>
              <a:rPr lang="en-US" sz="3300" dirty="0"/>
              <a:t>.</a:t>
            </a:r>
          </a:p>
          <a:p>
            <a:pPr>
              <a:buFont typeface="Wingdings" pitchFamily="2" charset="2"/>
              <a:buChar char="Ø"/>
            </a:pPr>
            <a:r>
              <a:rPr lang="en-US" sz="3300" dirty="0"/>
              <a:t>Visuals like </a:t>
            </a:r>
            <a:r>
              <a:rPr lang="en-US" sz="3300" b="1" dirty="0"/>
              <a:t>scatterplots and heatmaps</a:t>
            </a:r>
            <a:r>
              <a:rPr lang="en-US" sz="3300" dirty="0"/>
              <a:t> were inspired or reviewed with AI support.</a:t>
            </a:r>
          </a:p>
          <a:p>
            <a:pPr>
              <a:buFont typeface="Wingdings" pitchFamily="2" charset="2"/>
              <a:buChar char="Ø"/>
            </a:pPr>
            <a:r>
              <a:rPr lang="en-US" sz="3300" dirty="0"/>
              <a:t>Drafting parts of the report and </a:t>
            </a:r>
            <a:r>
              <a:rPr lang="en-US" sz="3300" b="1" dirty="0"/>
              <a:t>summarizing results</a:t>
            </a:r>
            <a:r>
              <a:rPr lang="en-US" sz="3300" dirty="0"/>
              <a:t> was done with AI assistance.</a:t>
            </a:r>
          </a:p>
          <a:p>
            <a:pPr>
              <a:buFont typeface="Wingdings" pitchFamily="2" charset="2"/>
              <a:buChar char="Ø"/>
            </a:pPr>
            <a:r>
              <a:rPr lang="en-US" sz="3300" dirty="0"/>
              <a:t>All final analysis and decisions were </a:t>
            </a:r>
            <a:r>
              <a:rPr lang="en-US" sz="3300" b="1" dirty="0"/>
              <a:t>critically reviewed and implemented</a:t>
            </a:r>
            <a:r>
              <a:rPr lang="en-US" sz="3300" dirty="0"/>
              <a:t> by us.</a:t>
            </a:r>
          </a:p>
          <a:p>
            <a:pPr>
              <a:buFont typeface="Wingdings" pitchFamily="2" charset="2"/>
              <a:buChar char="Ø"/>
            </a:pPr>
            <a:r>
              <a:rPr lang="en-US" sz="3300" dirty="0"/>
              <a:t>AI was a </a:t>
            </a:r>
            <a:r>
              <a:rPr lang="en-US" sz="3300" b="1" dirty="0"/>
              <a:t>support tool</a:t>
            </a:r>
            <a:r>
              <a:rPr lang="en-US" sz="3300" dirty="0"/>
              <a:t>, not the decision-maker — ensuring academic integrity</a:t>
            </a:r>
          </a:p>
          <a:p>
            <a:endParaRPr lang="en-US" dirty="0"/>
          </a:p>
        </p:txBody>
      </p:sp>
    </p:spTree>
    <p:extLst>
      <p:ext uri="{BB962C8B-B14F-4D97-AF65-F5344CB8AC3E}">
        <p14:creationId xmlns:p14="http://schemas.microsoft.com/office/powerpoint/2010/main" val="2363615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42"/>
          <p:cNvSpPr txBox="1">
            <a:spLocks noGrp="1"/>
          </p:cNvSpPr>
          <p:nvPr>
            <p:ph type="title"/>
          </p:nvPr>
        </p:nvSpPr>
        <p:spPr>
          <a:xfrm>
            <a:off x="2694039" y="2931913"/>
            <a:ext cx="5034116" cy="994173"/>
          </a:xfrm>
          <a:prstGeom prst="rect">
            <a:avLst/>
          </a:prstGeom>
          <a:noFill/>
          <a:ln>
            <a:noFill/>
          </a:ln>
        </p:spPr>
        <p:txBody>
          <a:bodyPr spcFirstLastPara="1" wrap="square" lIns="34275" tIns="34275" rIns="34275" bIns="34275" anchor="ctr" anchorCtr="0">
            <a:normAutofit fontScale="90000"/>
          </a:bodyPr>
          <a:lstStyle/>
          <a:p>
            <a:pPr marL="0" lvl="0" indent="0" algn="l" rtl="0">
              <a:lnSpc>
                <a:spcPct val="90000"/>
              </a:lnSpc>
              <a:spcBef>
                <a:spcPts val="0"/>
              </a:spcBef>
              <a:spcAft>
                <a:spcPts val="0"/>
              </a:spcAft>
              <a:buClr>
                <a:srgbClr val="000000"/>
              </a:buClr>
              <a:buSzPts val="3239"/>
              <a:buFont typeface="Play"/>
              <a:buNone/>
            </a:pPr>
            <a:r>
              <a:rPr lang="en-US" sz="6700" dirty="0"/>
              <a:t>Thank You</a:t>
            </a:r>
            <a:br>
              <a:rPr lang="en-US" sz="3239" dirty="0"/>
            </a:b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tint val="100000"/>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TotalTime>
  <Words>1278</Words>
  <Application>Microsoft Macintosh PowerPoint</Application>
  <PresentationFormat>On-screen Show (4:3)</PresentationFormat>
  <Paragraphs>173</Paragraphs>
  <Slides>30</Slides>
  <Notes>29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Times New Roman</vt:lpstr>
      <vt:lpstr>Century Gothic</vt:lpstr>
      <vt:lpstr>Calibri</vt:lpstr>
      <vt:lpstr>Wingdings 3</vt:lpstr>
      <vt:lpstr>Wingdings</vt:lpstr>
      <vt:lpstr>Play</vt:lpstr>
      <vt:lpstr>Ion</vt:lpstr>
      <vt:lpstr>Data Analytics and Visualization On Avian Disease </vt:lpstr>
      <vt:lpstr>Avian Dashboard Interface &amp; Manual Data Collection</vt:lpstr>
      <vt:lpstr>Dataset Creation and Preprocessing</vt:lpstr>
      <vt:lpstr>Supplementary Data Integration (Temperature &amp; Poultry Density)</vt:lpstr>
      <vt:lpstr>Raw Dataset and Sampling Strategy</vt:lpstr>
      <vt:lpstr>Exploratory Data Analysis</vt:lpstr>
      <vt:lpstr>Dataset Overview</vt:lpstr>
      <vt:lpstr>Histogram of Cases</vt:lpstr>
      <vt:lpstr>Countplot of Clinical Signs</vt:lpstr>
      <vt:lpstr>Clinical Signs Distribution</vt:lpstr>
      <vt:lpstr>Scatterplot: Temperature vs Cases</vt:lpstr>
      <vt:lpstr>Boxplot (Clinical Sign vs Cases)</vt:lpstr>
      <vt:lpstr>Heatmap: Correlation Matrix      </vt:lpstr>
      <vt:lpstr>Heatmap</vt:lpstr>
      <vt:lpstr>Insights</vt:lpstr>
      <vt:lpstr>Implementation of Regression Model</vt:lpstr>
      <vt:lpstr>Justifications for Chosen Models</vt:lpstr>
      <vt:lpstr>Linear Regression Implementation</vt:lpstr>
      <vt:lpstr>Logistic Regression Implementation</vt:lpstr>
      <vt:lpstr>Model Evaluation</vt:lpstr>
      <vt:lpstr>Why Logistic Regression for Avian Disease Data?</vt:lpstr>
      <vt:lpstr>Why Not Linear Regression?</vt:lpstr>
      <vt:lpstr>Statistical Test Results</vt:lpstr>
      <vt:lpstr>Statistical Test Results</vt:lpstr>
      <vt:lpstr>Differences in Two models based on Result</vt:lpstr>
      <vt:lpstr>Measuring the ROC Curve and Regression Justification</vt:lpstr>
      <vt:lpstr>Measuring the ROC Curve and Regression Justification</vt:lpstr>
      <vt:lpstr>Future Aspects of Our Analysis</vt:lpstr>
      <vt:lpstr>AI Contribution Declaration</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Waheed</cp:lastModifiedBy>
  <cp:revision>79</cp:revision>
  <dcterms:modified xsi:type="dcterms:W3CDTF">2025-04-23T13:54:31Z</dcterms:modified>
</cp:coreProperties>
</file>