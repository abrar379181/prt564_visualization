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5" r:id="rId2"/>
    <p:sldId id="266" r:id="rId3"/>
    <p:sldId id="276" r:id="rId4"/>
    <p:sldId id="277" r:id="rId5"/>
    <p:sldId id="278" r:id="rId6"/>
    <p:sldId id="267" r:id="rId7"/>
    <p:sldId id="272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FE645-1F96-4DE0-AC02-A7CC2F79DE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AB3461-D434-EF7D-9112-D9F3CEA093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2582C-D789-B77F-663D-913B7CF84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71C8C-6E65-42F0-9DD8-C9AA6CFEB73F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B301C7-EB05-1E10-4146-7B7BA4555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F3586F-A61F-181B-B0F7-132CA3288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3D0D6-C453-441A-9664-E9D039729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028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3D3FA-8678-9AFB-65A9-BEB41A521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23670-8EA3-F5C1-04C4-5AD1431DB4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9B7C4-6925-4BBE-A4D4-41BB30770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71C8C-6E65-42F0-9DD8-C9AA6CFEB73F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625607-ED1E-1EEA-A23F-8B9230873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1D6F40-0D33-884A-0D2D-E08DAB0E9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3D0D6-C453-441A-9664-E9D039729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929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0D72B-F17A-4C1D-5DDB-3B9B33FA2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388C94-6BFE-8582-9D19-660A13D189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C625F6-247A-DA3E-BEE4-F9AE11F54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71C8C-6E65-42F0-9DD8-C9AA6CFEB73F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3ED9C-1C2A-A184-EC79-CB1602C95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B8499-3DBF-4513-455D-2C47C5D9A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3D0D6-C453-441A-9664-E9D039729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165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9362A-8E98-920E-BAD4-3FA631DC7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810DF-5225-70D7-FF8C-718CD60E1B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C2E69C-6A88-DCAD-2C5D-0B830845CC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5990C2-9F0A-4CDB-F355-50B449B0A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71C8C-6E65-42F0-9DD8-C9AA6CFEB73F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F58D98-688E-5E09-0103-6AB2BCC3B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5EF809-7308-FAD1-46E9-C385CF6B8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3D0D6-C453-441A-9664-E9D039729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567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951A5-DFD5-36CB-126A-F3561A80A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E092B2-3AD9-3EC2-A702-94D7CF1E05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11DBE5-481E-D8E2-7300-B32C357236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7664A4-0F2C-3305-87B2-B5AC0D3FA4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5B8581-9BF0-652D-730D-2B4BBE0DB8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A216AD-26B0-C69A-0897-30EF16A26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71C8C-6E65-42F0-9DD8-C9AA6CFEB73F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65A53C-1F56-9611-16C1-B0CAFB786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A07773-8992-3BC9-7708-EB861FC04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3D0D6-C453-441A-9664-E9D039729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309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0082E-488E-30EC-14FF-19FFF9F0C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BF4AFF-182A-28CF-0FE8-624FE7106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71C8C-6E65-42F0-9DD8-C9AA6CFEB73F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C2539D-1AF2-6FC3-2085-19ADD57C2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2A308E-DBB3-29BB-F186-5D2CA2E0F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3D0D6-C453-441A-9664-E9D039729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621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A7AC13-624E-6937-9122-09F42E846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71C8C-6E65-42F0-9DD8-C9AA6CFEB73F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B1E155-ECAC-211D-1918-804C6FDEF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0E126A-69DF-715B-22A0-EE04CBD89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3D0D6-C453-441A-9664-E9D039729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184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37190-0AC5-7624-33F0-EF743B666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901F6-DA61-007C-C98A-B64C311CD8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EAA048-6C20-3B8F-EE5B-4C77806953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1BF141-596F-4E9E-407E-10E23E83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71C8C-6E65-42F0-9DD8-C9AA6CFEB73F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EF017B-7F5E-EE70-1B1D-9219832F2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6A9721-D545-9A9E-4CC0-52D93A084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3D0D6-C453-441A-9664-E9D039729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354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39FCB-F82C-2B60-E04B-B9B353DD1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EFA425-9CC7-FB4A-FD66-E3A7ADCC34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A40ACB-1551-2F32-AD00-FEBA406122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C9D2AE-F8CF-CD05-5690-1F28F4FFD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71C8C-6E65-42F0-9DD8-C9AA6CFEB73F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68DCC4-C9D0-7C18-4E84-2BF99038E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7711D1-BA79-7C66-182B-888AED279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3D0D6-C453-441A-9664-E9D039729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070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D51E3-060D-B206-284B-BD15EDA65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3EFC0D-BE3B-1855-9676-545B7E021B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AC561-0CBD-F4CD-DEB8-382447F5C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71C8C-6E65-42F0-9DD8-C9AA6CFEB73F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457543-D2C9-484E-CF83-6A5E8A0FC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6146B-275F-7E31-A90B-B8280FF0C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3D0D6-C453-441A-9664-E9D039729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466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4B4E62-A874-049F-35AE-CDDC78218F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3900C6-5EF1-DB06-89F9-B429C2DBA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C37FD-D66C-69DC-03F9-43E86D3ED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71C8C-6E65-42F0-9DD8-C9AA6CFEB73F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D4CCCD-C7AE-B60F-3B25-C019FD23C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D9CD4-FF7F-6973-608B-11EA2E7A3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3D0D6-C453-441A-9664-E9D039729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092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4DCC69-D3A3-A31D-FE94-23C596BF8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1AF908-043E-58D8-8FCD-4146614982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DCD583-7856-B7B0-F6D7-7B4ABB6405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C71C8C-6E65-42F0-9DD8-C9AA6CFEB73F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072EC-F909-69EB-EB49-94AF7C31F4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E49A6-FDFE-F511-BFDC-4BB524FED1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93D0D6-C453-441A-9664-E9D039729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157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36370-BA08-7526-3242-EBF67D7B4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Implementation of Regression Model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1E2FDFB-04B5-EC17-5D17-25845EB98C07}"/>
              </a:ext>
            </a:extLst>
          </p:cNvPr>
          <p:cNvSpPr>
            <a:spLocks noGrp="1"/>
          </p:cNvSpPr>
          <p:nvPr/>
        </p:nvSpPr>
        <p:spPr>
          <a:xfrm>
            <a:off x="838200" y="1690688"/>
            <a:ext cx="10515600" cy="82792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3600" dirty="0"/>
              <a:t>Linear and Logistic Regression Analysis on Avian Dataset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45BDBE6-5DA4-FDE0-77DB-2AA5A1E777DF}"/>
              </a:ext>
            </a:extLst>
          </p:cNvPr>
          <p:cNvSpPr txBox="1">
            <a:spLocks/>
          </p:cNvSpPr>
          <p:nvPr/>
        </p:nvSpPr>
        <p:spPr>
          <a:xfrm>
            <a:off x="1215887" y="3016251"/>
            <a:ext cx="6079435" cy="30392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AU" sz="4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Split the data: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kumimoji="0" lang="en-AU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80% for training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kumimoji="0" lang="en-AU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20% for testing</a:t>
            </a:r>
          </a:p>
        </p:txBody>
      </p:sp>
    </p:spTree>
    <p:extLst>
      <p:ext uri="{BB962C8B-B14F-4D97-AF65-F5344CB8AC3E}">
        <p14:creationId xmlns:p14="http://schemas.microsoft.com/office/powerpoint/2010/main" val="4276587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A463-5A32-3842-B0DA-F2AEC7BF3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1611"/>
          </a:xfrm>
        </p:spPr>
        <p:txBody>
          <a:bodyPr/>
          <a:lstStyle/>
          <a:p>
            <a:r>
              <a:rPr lang="en-AU" b="1" dirty="0"/>
              <a:t>Justifications for Chosen Models</a:t>
            </a:r>
            <a:endParaRPr lang="en-US" b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215AB40-6046-1560-F7DA-E15A5E10E59D}"/>
              </a:ext>
            </a:extLst>
          </p:cNvPr>
          <p:cNvSpPr txBox="1">
            <a:spLocks/>
          </p:cNvSpPr>
          <p:nvPr/>
        </p:nvSpPr>
        <p:spPr>
          <a:xfrm>
            <a:off x="838200" y="1316736"/>
            <a:ext cx="10515600" cy="9516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800" b="1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33A38B2-38A0-CAE0-6938-4D306367E2C9}"/>
              </a:ext>
            </a:extLst>
          </p:cNvPr>
          <p:cNvSpPr txBox="1">
            <a:spLocks/>
          </p:cNvSpPr>
          <p:nvPr/>
        </p:nvSpPr>
        <p:spPr>
          <a:xfrm>
            <a:off x="954506" y="1552074"/>
            <a:ext cx="9570238" cy="434966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AU" sz="3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Linear Regression: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AU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Purpose: Predicts a continuous dependent variable using features like Temperature, Poultry Density.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AU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Justification: Appropriate since 'Outbreak Logistics Regression' is continuous.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AU" sz="3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AU" sz="3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Logistic Regression: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AU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Purpose: Predicts binary outcomes (e.g., outbreak vs. no outbreak).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AU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Justification: Ideal for 'Cases' variable transformed into binary (0 = No Outbreak, 1 = Outbreak).</a:t>
            </a:r>
          </a:p>
        </p:txBody>
      </p:sp>
    </p:spTree>
    <p:extLst>
      <p:ext uri="{BB962C8B-B14F-4D97-AF65-F5344CB8AC3E}">
        <p14:creationId xmlns:p14="http://schemas.microsoft.com/office/powerpoint/2010/main" val="2240107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7E560-BB01-B8B7-4930-046324835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Linear Regression Implementation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911636D-31EF-3A4B-B2A0-3019B2D6A0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010" y="1690688"/>
            <a:ext cx="5558590" cy="4525963"/>
          </a:xfrm>
        </p:spPr>
        <p:txBody>
          <a:bodyPr/>
          <a:lstStyle/>
          <a:p>
            <a:r>
              <a:rPr dirty="0"/>
              <a:t>Target Variable: Outbreak Logistics Regression</a:t>
            </a:r>
          </a:p>
          <a:p>
            <a:r>
              <a:rPr dirty="0"/>
              <a:t>Features: Temperature, Poultry Density</a:t>
            </a:r>
          </a:p>
          <a:p>
            <a:endParaRPr lang="en-US" dirty="0"/>
          </a:p>
          <a:p>
            <a:pPr marL="0" indent="0">
              <a:buNone/>
            </a:pPr>
            <a:r>
              <a:rPr b="1" dirty="0"/>
              <a:t>Steps:</a:t>
            </a:r>
          </a:p>
          <a:p>
            <a:r>
              <a:rPr dirty="0"/>
              <a:t>Fit the linear regression model.</a:t>
            </a:r>
          </a:p>
          <a:p>
            <a:r>
              <a:rPr dirty="0"/>
              <a:t>Interpret the results.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DE1F15-032F-71B5-C78A-2CA5F942E2CD}"/>
              </a:ext>
            </a:extLst>
          </p:cNvPr>
          <p:cNvSpPr txBox="1"/>
          <p:nvPr/>
        </p:nvSpPr>
        <p:spPr>
          <a:xfrm>
            <a:off x="7478830" y="2967335"/>
            <a:ext cx="3566160" cy="923330"/>
          </a:xfrm>
          <a:prstGeom prst="rect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Mean Squared Error (Linear Regression): 0.049478748058440665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50928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99E15-DD9A-3DE5-5B9F-834388DE08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71147" cy="4351338"/>
          </a:xfrm>
        </p:spPr>
        <p:txBody>
          <a:bodyPr/>
          <a:lstStyle/>
          <a:p>
            <a:r>
              <a:rPr lang="en-US" dirty="0"/>
              <a:t>Target Variable: Binary Cases (0 = No Outbreak, 1 = Outbreak)</a:t>
            </a:r>
          </a:p>
          <a:p>
            <a:r>
              <a:rPr lang="en-US" dirty="0"/>
              <a:t>Features: Temperature, Poultry Density, Clinical Sign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Steps:</a:t>
            </a:r>
          </a:p>
          <a:p>
            <a:r>
              <a:rPr lang="en-US" dirty="0"/>
              <a:t>Convert 'Cases' to binary.</a:t>
            </a:r>
          </a:p>
          <a:p>
            <a:r>
              <a:rPr lang="en-US" dirty="0"/>
              <a:t>Fit the logistic regression model.</a:t>
            </a:r>
          </a:p>
          <a:p>
            <a:endParaRPr lang="en-AU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4B254B9-E8DE-54F2-D146-3B51560D0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AU" b="1" dirty="0"/>
              <a:t>Linear Regression Implementation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BDB2BE-60D6-DDCE-0A86-5EC9BD40AB40}"/>
              </a:ext>
            </a:extLst>
          </p:cNvPr>
          <p:cNvSpPr txBox="1"/>
          <p:nvPr/>
        </p:nvSpPr>
        <p:spPr>
          <a:xfrm>
            <a:off x="7359155" y="3105834"/>
            <a:ext cx="3604501" cy="646331"/>
          </a:xfrm>
          <a:prstGeom prst="rect">
            <a:avLst/>
          </a:prstGeom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Accuracy of Logistic Regression: 0.6551724137931034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27933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D3BB9-B058-98D7-AC28-5D38E87E7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b="1" dirty="0"/>
              <a:t>Model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71021-AB5D-CE43-2E8F-766104268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Linear Regression:</a:t>
            </a:r>
          </a:p>
          <a:p>
            <a:r>
              <a:rPr lang="en-US" dirty="0"/>
              <a:t>Mean Squared Error (MSE): 0.0471</a:t>
            </a:r>
          </a:p>
          <a:p>
            <a:r>
              <a:rPr lang="en-US" dirty="0"/>
              <a:t>Indicates low prediction error.</a:t>
            </a:r>
          </a:p>
          <a:p>
            <a:endParaRPr lang="en-US" dirty="0"/>
          </a:p>
          <a:p>
            <a:r>
              <a:rPr lang="en-US" b="1" dirty="0"/>
              <a:t>Logistic Regression:</a:t>
            </a:r>
          </a:p>
          <a:p>
            <a:r>
              <a:rPr lang="en-US" dirty="0"/>
              <a:t>Accuracy: 76.71%</a:t>
            </a:r>
          </a:p>
          <a:p>
            <a:r>
              <a:rPr lang="en-US" dirty="0"/>
              <a:t>Effectively classifies outbreak occurrences.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61173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19575-18A1-4EF0-E813-1FAA79026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Logistic Regression for Avian Disease Data?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86617-B142-4FEE-F957-971B69CA00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To predict the probability of an avian disease outbreak (Yes/No) by the help of binary outcomes.</a:t>
            </a:r>
          </a:p>
          <a:p>
            <a:pPr>
              <a:lnSpc>
                <a:spcPct val="150000"/>
              </a:lnSpc>
            </a:pPr>
            <a:r>
              <a:rPr lang="en-US" dirty="0"/>
              <a:t>To identify factors (e.g., temperature, poultry density, region) that increase or decrease the risk of an outbreak.</a:t>
            </a:r>
          </a:p>
          <a:p>
            <a:pPr>
              <a:lnSpc>
                <a:spcPct val="150000"/>
              </a:lnSpc>
            </a:pPr>
            <a:r>
              <a:rPr lang="en-US" dirty="0"/>
              <a:t>Provides coefficients that indicate the direction and strength of the relationship between each factor and the outbreak risk.</a:t>
            </a:r>
          </a:p>
        </p:txBody>
      </p:sp>
    </p:spTree>
    <p:extLst>
      <p:ext uri="{BB962C8B-B14F-4D97-AF65-F5344CB8AC3E}">
        <p14:creationId xmlns:p14="http://schemas.microsoft.com/office/powerpoint/2010/main" val="503566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9A14C-080C-1ABB-888D-FA60AA92B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E76C7-61CE-2CC7-A56E-B1B1B5478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Not Linear Regression?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3263C-AEC9-90ED-0895-38F8389BAB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Linear regression treats all values of the outcome variable equally, but in our case, predicting 'Found Dead' (a rare but important event) might require a different approach. 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426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59DAC-88E8-14BD-E294-FFA6D272D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6282" y="2766218"/>
            <a:ext cx="3959436" cy="1325563"/>
          </a:xfrm>
        </p:spPr>
        <p:txBody>
          <a:bodyPr>
            <a:normAutofit fontScale="90000"/>
          </a:bodyPr>
          <a:lstStyle/>
          <a:p>
            <a:r>
              <a:rPr lang="en-US" sz="8000" dirty="0"/>
              <a:t>Thank You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0849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515</TotalTime>
  <Words>321</Words>
  <Application>Microsoft Office PowerPoint</Application>
  <PresentationFormat>Widescreen</PresentationFormat>
  <Paragraphs>44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Wingdings</vt:lpstr>
      <vt:lpstr>Office Theme</vt:lpstr>
      <vt:lpstr>Implementation of Regression Model</vt:lpstr>
      <vt:lpstr>Justifications for Chosen Models</vt:lpstr>
      <vt:lpstr>Linear Regression Implementation</vt:lpstr>
      <vt:lpstr>Linear Regression Implementation</vt:lpstr>
      <vt:lpstr>Model Evaluation</vt:lpstr>
      <vt:lpstr>Why Logistic Regression for Avian Disease Data?</vt:lpstr>
      <vt:lpstr>Why Not Linear Regression?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Iftekhar Alam Ishti</dc:creator>
  <cp:lastModifiedBy>Mehruz Saif</cp:lastModifiedBy>
  <cp:revision>21</cp:revision>
  <dcterms:created xsi:type="dcterms:W3CDTF">2024-09-12T07:35:08Z</dcterms:created>
  <dcterms:modified xsi:type="dcterms:W3CDTF">2025-04-22T15:52:19Z</dcterms:modified>
</cp:coreProperties>
</file>